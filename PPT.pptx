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Calibri" pitchFamily="34" charset="0"/>
      <p:regular r:id="rId15"/>
      <p:bold r:id="rId16"/>
      <p:italic r:id="rId17"/>
      <p:boldItalic r:id="rId18"/>
    </p:embeddedFont>
    <p:embeddedFont>
      <p:font typeface="Calibri (MS) Italics" charset="0"/>
      <p:regular r:id="rId19"/>
    </p:embeddedFont>
    <p:embeddedFont>
      <p:font typeface="Archivo Black" charset="0"/>
      <p:regular r:id="rId20"/>
    </p:embeddedFont>
    <p:embeddedFont>
      <p:font typeface="Calibri (MS)" charset="0"/>
      <p:regular r:id="rId21"/>
    </p:embeddedFont>
    <p:embeddedFont>
      <p:font typeface="League Spartan" charset="0"/>
      <p:regular r:id="rId22"/>
    </p:embeddedFont>
    <p:embeddedFont>
      <p:font typeface="Calibri (MS) Bold" charset="0"/>
      <p:regular r:id="rId23"/>
    </p:embeddedFont>
    <p:embeddedFont>
      <p:font typeface="Georgia Bold" pitchFamily="18" charset="0"/>
      <p:bold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5" d="100"/>
          <a:sy n="45" d="100"/>
        </p:scale>
        <p:origin x="-816" y="-1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11.05.2026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874503" y="-2207257"/>
            <a:ext cx="10998203" cy="10998203"/>
            <a:chOff x="0" y="0"/>
            <a:chExt cx="14664271" cy="14664271"/>
          </a:xfrm>
        </p:grpSpPr>
        <p:sp>
          <p:nvSpPr>
            <p:cNvPr id="3" name="Freeform 3"/>
            <p:cNvSpPr/>
            <p:nvPr/>
          </p:nvSpPr>
          <p:spPr>
            <a:xfrm>
              <a:off x="16891" y="16891"/>
              <a:ext cx="14630399" cy="14630401"/>
            </a:xfrm>
            <a:custGeom>
              <a:avLst/>
              <a:gdLst/>
              <a:ahLst/>
              <a:cxnLst/>
              <a:rect l="l" t="t" r="r" b="b"/>
              <a:pathLst>
                <a:path w="14630399" h="14630401">
                  <a:moveTo>
                    <a:pt x="0" y="7315200"/>
                  </a:moveTo>
                  <a:cubicBezTo>
                    <a:pt x="0" y="3275076"/>
                    <a:pt x="3275076" y="0"/>
                    <a:pt x="7315200" y="0"/>
                  </a:cubicBezTo>
                  <a:cubicBezTo>
                    <a:pt x="11355324" y="0"/>
                    <a:pt x="14630399" y="3275076"/>
                    <a:pt x="14630399" y="7315200"/>
                  </a:cubicBezTo>
                  <a:cubicBezTo>
                    <a:pt x="14630399" y="11355324"/>
                    <a:pt x="11355324" y="14630401"/>
                    <a:pt x="7315200" y="14630401"/>
                  </a:cubicBezTo>
                  <a:cubicBezTo>
                    <a:pt x="3275076" y="14630401"/>
                    <a:pt x="0" y="11355324"/>
                    <a:pt x="0" y="7315200"/>
                  </a:cubicBezTo>
                  <a:close/>
                </a:path>
              </a:pathLst>
            </a:custGeom>
            <a:solidFill>
              <a:srgbClr val="5A0D1E">
                <a:alpha val="5882"/>
              </a:srgbClr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14664182" cy="14664182"/>
            </a:xfrm>
            <a:custGeom>
              <a:avLst/>
              <a:gdLst/>
              <a:ahLst/>
              <a:cxnLst/>
              <a:rect l="l" t="t" r="r" b="b"/>
              <a:pathLst>
                <a:path w="14664182" h="14664182">
                  <a:moveTo>
                    <a:pt x="0" y="7332091"/>
                  </a:moveTo>
                  <a:cubicBezTo>
                    <a:pt x="0" y="3282696"/>
                    <a:pt x="3282696" y="0"/>
                    <a:pt x="7332091" y="0"/>
                  </a:cubicBezTo>
                  <a:lnTo>
                    <a:pt x="7332091" y="16891"/>
                  </a:lnTo>
                  <a:lnTo>
                    <a:pt x="7332091" y="0"/>
                  </a:lnTo>
                  <a:cubicBezTo>
                    <a:pt x="11381487" y="0"/>
                    <a:pt x="14664182" y="3282696"/>
                    <a:pt x="14664182" y="7332091"/>
                  </a:cubicBezTo>
                  <a:lnTo>
                    <a:pt x="14647292" y="7332091"/>
                  </a:lnTo>
                  <a:lnTo>
                    <a:pt x="14664182" y="7332091"/>
                  </a:lnTo>
                  <a:cubicBezTo>
                    <a:pt x="14664182" y="11381487"/>
                    <a:pt x="11381487" y="14664182"/>
                    <a:pt x="7332091" y="14664182"/>
                  </a:cubicBezTo>
                  <a:lnTo>
                    <a:pt x="7332091" y="14647292"/>
                  </a:lnTo>
                  <a:lnTo>
                    <a:pt x="7332091" y="14664182"/>
                  </a:lnTo>
                  <a:cubicBezTo>
                    <a:pt x="3282696" y="14664310"/>
                    <a:pt x="0" y="11381613"/>
                    <a:pt x="0" y="7332091"/>
                  </a:cubicBezTo>
                  <a:lnTo>
                    <a:pt x="16891" y="7332091"/>
                  </a:lnTo>
                  <a:lnTo>
                    <a:pt x="31115" y="7341235"/>
                  </a:lnTo>
                  <a:cubicBezTo>
                    <a:pt x="27051" y="7347585"/>
                    <a:pt x="19304" y="7350379"/>
                    <a:pt x="12065" y="7348348"/>
                  </a:cubicBezTo>
                  <a:cubicBezTo>
                    <a:pt x="4826" y="7346315"/>
                    <a:pt x="0" y="7339584"/>
                    <a:pt x="0" y="7332091"/>
                  </a:cubicBezTo>
                  <a:moveTo>
                    <a:pt x="33909" y="7332091"/>
                  </a:moveTo>
                  <a:lnTo>
                    <a:pt x="16891" y="7332091"/>
                  </a:lnTo>
                  <a:lnTo>
                    <a:pt x="2667" y="7322948"/>
                  </a:lnTo>
                  <a:cubicBezTo>
                    <a:pt x="6731" y="7316598"/>
                    <a:pt x="14478" y="7313803"/>
                    <a:pt x="21717" y="7315835"/>
                  </a:cubicBezTo>
                  <a:cubicBezTo>
                    <a:pt x="28956" y="7317867"/>
                    <a:pt x="33909" y="7324598"/>
                    <a:pt x="33909" y="7332091"/>
                  </a:cubicBezTo>
                  <a:cubicBezTo>
                    <a:pt x="33909" y="11362817"/>
                    <a:pt x="3301365" y="14630400"/>
                    <a:pt x="7332091" y="14630400"/>
                  </a:cubicBezTo>
                  <a:cubicBezTo>
                    <a:pt x="11362817" y="14630400"/>
                    <a:pt x="14630400" y="11362817"/>
                    <a:pt x="14630400" y="7332091"/>
                  </a:cubicBezTo>
                  <a:cubicBezTo>
                    <a:pt x="14630400" y="3301365"/>
                    <a:pt x="11362817" y="33909"/>
                    <a:pt x="7332091" y="33909"/>
                  </a:cubicBezTo>
                  <a:lnTo>
                    <a:pt x="7332091" y="16891"/>
                  </a:lnTo>
                  <a:lnTo>
                    <a:pt x="7332091" y="33909"/>
                  </a:lnTo>
                  <a:cubicBezTo>
                    <a:pt x="3301365" y="33909"/>
                    <a:pt x="33909" y="3301365"/>
                    <a:pt x="33909" y="7332091"/>
                  </a:cubicBezTo>
                  <a:close/>
                </a:path>
              </a:pathLst>
            </a:custGeom>
            <a:solidFill>
              <a:srgbClr val="5A0D1E">
                <a:alpha val="5882"/>
              </a:srgbClr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-226157" y="8478387"/>
            <a:ext cx="18740314" cy="3617225"/>
            <a:chOff x="0" y="0"/>
            <a:chExt cx="4935720" cy="95268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935720" cy="952685"/>
            </a:xfrm>
            <a:custGeom>
              <a:avLst/>
              <a:gdLst/>
              <a:ahLst/>
              <a:cxnLst/>
              <a:rect l="l" t="t" r="r" b="b"/>
              <a:pathLst>
                <a:path w="4935720" h="952685">
                  <a:moveTo>
                    <a:pt x="0" y="0"/>
                  </a:moveTo>
                  <a:lnTo>
                    <a:pt x="4935720" y="0"/>
                  </a:lnTo>
                  <a:lnTo>
                    <a:pt x="4935720" y="952685"/>
                  </a:lnTo>
                  <a:lnTo>
                    <a:pt x="0" y="952685"/>
                  </a:lnTo>
                  <a:close/>
                </a:path>
              </a:pathLst>
            </a:custGeom>
            <a:solidFill>
              <a:srgbClr val="5A0D1E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66675"/>
              <a:ext cx="4935720" cy="10193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83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2755897" y="5473703"/>
            <a:ext cx="7340603" cy="7340603"/>
            <a:chOff x="0" y="0"/>
            <a:chExt cx="9787471" cy="9787471"/>
          </a:xfrm>
        </p:grpSpPr>
        <p:sp>
          <p:nvSpPr>
            <p:cNvPr id="9" name="Freeform 9"/>
            <p:cNvSpPr/>
            <p:nvPr/>
          </p:nvSpPr>
          <p:spPr>
            <a:xfrm>
              <a:off x="16891" y="16891"/>
              <a:ext cx="9753600" cy="9753600"/>
            </a:xfrm>
            <a:custGeom>
              <a:avLst/>
              <a:gdLst/>
              <a:ahLst/>
              <a:cxnLst/>
              <a:rect l="l" t="t" r="r" b="b"/>
              <a:pathLst>
                <a:path w="9753600" h="9753600">
                  <a:moveTo>
                    <a:pt x="0" y="4876800"/>
                  </a:moveTo>
                  <a:cubicBezTo>
                    <a:pt x="0" y="2183384"/>
                    <a:pt x="2183384" y="0"/>
                    <a:pt x="4876800" y="0"/>
                  </a:cubicBezTo>
                  <a:cubicBezTo>
                    <a:pt x="7570216" y="0"/>
                    <a:pt x="9753600" y="2183384"/>
                    <a:pt x="9753600" y="4876800"/>
                  </a:cubicBezTo>
                  <a:cubicBezTo>
                    <a:pt x="9753600" y="7570216"/>
                    <a:pt x="7570216" y="9753600"/>
                    <a:pt x="4876800" y="9753600"/>
                  </a:cubicBezTo>
                  <a:cubicBezTo>
                    <a:pt x="2183384" y="9753600"/>
                    <a:pt x="0" y="7570216"/>
                    <a:pt x="0" y="4876800"/>
                  </a:cubicBezTo>
                  <a:close/>
                </a:path>
              </a:pathLst>
            </a:custGeom>
            <a:solidFill>
              <a:srgbClr val="7B1C2E">
                <a:alpha val="3922"/>
              </a:srgbClr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9787509" cy="9787382"/>
            </a:xfrm>
            <a:custGeom>
              <a:avLst/>
              <a:gdLst/>
              <a:ahLst/>
              <a:cxnLst/>
              <a:rect l="l" t="t" r="r" b="b"/>
              <a:pathLst>
                <a:path w="9787509" h="9787382">
                  <a:moveTo>
                    <a:pt x="0" y="4893691"/>
                  </a:moveTo>
                  <a:cubicBezTo>
                    <a:pt x="0" y="2191004"/>
                    <a:pt x="2191004" y="0"/>
                    <a:pt x="4893691" y="0"/>
                  </a:cubicBezTo>
                  <a:lnTo>
                    <a:pt x="4893691" y="16891"/>
                  </a:lnTo>
                  <a:lnTo>
                    <a:pt x="4893691" y="0"/>
                  </a:lnTo>
                  <a:cubicBezTo>
                    <a:pt x="7596505" y="0"/>
                    <a:pt x="9787509" y="2191004"/>
                    <a:pt x="9787509" y="4893691"/>
                  </a:cubicBezTo>
                  <a:lnTo>
                    <a:pt x="9770618" y="4893691"/>
                  </a:lnTo>
                  <a:lnTo>
                    <a:pt x="9787509" y="4893691"/>
                  </a:lnTo>
                  <a:cubicBezTo>
                    <a:pt x="9787509" y="7596378"/>
                    <a:pt x="7596505" y="9787382"/>
                    <a:pt x="4893818" y="9787382"/>
                  </a:cubicBezTo>
                  <a:lnTo>
                    <a:pt x="4893818" y="9770490"/>
                  </a:lnTo>
                  <a:lnTo>
                    <a:pt x="4893818" y="9787382"/>
                  </a:lnTo>
                  <a:cubicBezTo>
                    <a:pt x="2191004" y="9787509"/>
                    <a:pt x="0" y="7596505"/>
                    <a:pt x="0" y="4893691"/>
                  </a:cubicBezTo>
                  <a:lnTo>
                    <a:pt x="16891" y="4893691"/>
                  </a:lnTo>
                  <a:lnTo>
                    <a:pt x="33909" y="4893691"/>
                  </a:lnTo>
                  <a:lnTo>
                    <a:pt x="16891" y="4893691"/>
                  </a:lnTo>
                  <a:lnTo>
                    <a:pt x="0" y="4893691"/>
                  </a:lnTo>
                  <a:moveTo>
                    <a:pt x="33909" y="4893691"/>
                  </a:moveTo>
                  <a:cubicBezTo>
                    <a:pt x="33909" y="4903089"/>
                    <a:pt x="26289" y="4910582"/>
                    <a:pt x="17018" y="4910582"/>
                  </a:cubicBezTo>
                  <a:cubicBezTo>
                    <a:pt x="7747" y="4910582"/>
                    <a:pt x="0" y="4903089"/>
                    <a:pt x="0" y="4893691"/>
                  </a:cubicBezTo>
                  <a:cubicBezTo>
                    <a:pt x="0" y="4884293"/>
                    <a:pt x="7620" y="4876800"/>
                    <a:pt x="16891" y="4876800"/>
                  </a:cubicBezTo>
                  <a:cubicBezTo>
                    <a:pt x="26162" y="4876800"/>
                    <a:pt x="33782" y="4884420"/>
                    <a:pt x="33782" y="4893691"/>
                  </a:cubicBezTo>
                  <a:cubicBezTo>
                    <a:pt x="33909" y="7577709"/>
                    <a:pt x="2209673" y="9753600"/>
                    <a:pt x="4893691" y="9753600"/>
                  </a:cubicBezTo>
                  <a:cubicBezTo>
                    <a:pt x="7577709" y="9753600"/>
                    <a:pt x="9753600" y="7577709"/>
                    <a:pt x="9753600" y="4893691"/>
                  </a:cubicBezTo>
                  <a:cubicBezTo>
                    <a:pt x="9753600" y="2209673"/>
                    <a:pt x="7577709" y="33909"/>
                    <a:pt x="4893691" y="33909"/>
                  </a:cubicBezTo>
                  <a:lnTo>
                    <a:pt x="4893691" y="16891"/>
                  </a:lnTo>
                  <a:lnTo>
                    <a:pt x="4893691" y="33909"/>
                  </a:lnTo>
                  <a:cubicBezTo>
                    <a:pt x="2209673" y="33909"/>
                    <a:pt x="33909" y="2209673"/>
                    <a:pt x="33909" y="4893691"/>
                  </a:cubicBezTo>
                  <a:close/>
                </a:path>
              </a:pathLst>
            </a:custGeom>
            <a:solidFill>
              <a:srgbClr val="7B1C2E">
                <a:alpha val="3922"/>
              </a:srgbClr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901703" y="1998983"/>
            <a:ext cx="153419" cy="5877563"/>
            <a:chOff x="0" y="0"/>
            <a:chExt cx="204559" cy="7836751"/>
          </a:xfrm>
        </p:grpSpPr>
        <p:sp>
          <p:nvSpPr>
            <p:cNvPr id="12" name="Freeform 12"/>
            <p:cNvSpPr/>
            <p:nvPr/>
          </p:nvSpPr>
          <p:spPr>
            <a:xfrm>
              <a:off x="16891" y="16891"/>
              <a:ext cx="170688" cy="7802881"/>
            </a:xfrm>
            <a:custGeom>
              <a:avLst/>
              <a:gdLst/>
              <a:ahLst/>
              <a:cxnLst/>
              <a:rect l="l" t="t" r="r" b="b"/>
              <a:pathLst>
                <a:path w="170688" h="7802881">
                  <a:moveTo>
                    <a:pt x="0" y="0"/>
                  </a:moveTo>
                  <a:lnTo>
                    <a:pt x="170688" y="0"/>
                  </a:lnTo>
                  <a:lnTo>
                    <a:pt x="170688" y="7802881"/>
                  </a:lnTo>
                  <a:lnTo>
                    <a:pt x="0" y="7802881"/>
                  </a:lnTo>
                  <a:close/>
                </a:path>
              </a:pathLst>
            </a:custGeom>
            <a:solidFill>
              <a:srgbClr val="C9A96E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0" y="0"/>
              <a:ext cx="204470" cy="7836662"/>
            </a:xfrm>
            <a:custGeom>
              <a:avLst/>
              <a:gdLst/>
              <a:ahLst/>
              <a:cxnLst/>
              <a:rect l="l" t="t" r="r" b="b"/>
              <a:pathLst>
                <a:path w="204470" h="7836662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7819772"/>
                  </a:lnTo>
                  <a:cubicBezTo>
                    <a:pt x="204470" y="7829169"/>
                    <a:pt x="196850" y="7836662"/>
                    <a:pt x="187579" y="7836662"/>
                  </a:cubicBezTo>
                  <a:lnTo>
                    <a:pt x="16891" y="7836662"/>
                  </a:lnTo>
                  <a:cubicBezTo>
                    <a:pt x="7493" y="7836662"/>
                    <a:pt x="0" y="7829042"/>
                    <a:pt x="0" y="7819772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819772"/>
                  </a:lnTo>
                  <a:lnTo>
                    <a:pt x="16891" y="7819772"/>
                  </a:lnTo>
                  <a:lnTo>
                    <a:pt x="16891" y="7802880"/>
                  </a:lnTo>
                  <a:lnTo>
                    <a:pt x="187579" y="7802880"/>
                  </a:lnTo>
                  <a:lnTo>
                    <a:pt x="187579" y="7819772"/>
                  </a:lnTo>
                  <a:lnTo>
                    <a:pt x="170688" y="7819772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9A96E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1280160" y="1920240"/>
            <a:ext cx="14630400" cy="640080"/>
            <a:chOff x="0" y="0"/>
            <a:chExt cx="19507200" cy="8534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9507200" cy="853440"/>
            </a:xfrm>
            <a:custGeom>
              <a:avLst/>
              <a:gdLst/>
              <a:ahLst/>
              <a:cxnLst/>
              <a:rect l="l" t="t" r="r" b="b"/>
              <a:pathLst>
                <a:path w="19507200" h="853440">
                  <a:moveTo>
                    <a:pt x="0" y="0"/>
                  </a:moveTo>
                  <a:lnTo>
                    <a:pt x="19507200" y="0"/>
                  </a:lnTo>
                  <a:lnTo>
                    <a:pt x="195072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95372" b="-395372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19507200" cy="9010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39"/>
                </a:lnSpc>
              </a:pPr>
              <a:r>
                <a:rPr lang="en-US" sz="2199" b="1" spc="733">
                  <a:solidFill>
                    <a:srgbClr val="C9A96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DEEP LEARNING  +  NLP  PROJECT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280160" y="2651760"/>
            <a:ext cx="14996160" cy="4572000"/>
            <a:chOff x="0" y="0"/>
            <a:chExt cx="19994880" cy="60960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9994880" cy="6096000"/>
            </a:xfrm>
            <a:custGeom>
              <a:avLst/>
              <a:gdLst/>
              <a:ahLst/>
              <a:cxnLst/>
              <a:rect l="l" t="t" r="r" b="b"/>
              <a:pathLst>
                <a:path w="19994880" h="6096000">
                  <a:moveTo>
                    <a:pt x="0" y="0"/>
                  </a:moveTo>
                  <a:lnTo>
                    <a:pt x="19994880" y="0"/>
                  </a:lnTo>
                  <a:lnTo>
                    <a:pt x="19994880" y="6096000"/>
                  </a:lnTo>
                  <a:lnTo>
                    <a:pt x="0" y="609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910" b="-13910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142875"/>
              <a:ext cx="19994880" cy="62388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8640"/>
                </a:lnSpc>
              </a:pPr>
              <a:r>
                <a:rPr lang="en-US" sz="6000" b="1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Detection of Manipulative</a:t>
              </a:r>
            </a:p>
            <a:p>
              <a:pPr algn="l">
                <a:lnSpc>
                  <a:spcPts val="8640"/>
                </a:lnSpc>
              </a:pPr>
              <a:r>
                <a:rPr lang="en-US" sz="6000" b="1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Behavior in Text-Based</a:t>
              </a:r>
            </a:p>
            <a:p>
              <a:pPr algn="l">
                <a:lnSpc>
                  <a:spcPts val="8640"/>
                </a:lnSpc>
              </a:pPr>
              <a:r>
                <a:rPr lang="en-US" sz="6000" b="1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Conversations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4947020" y="8886196"/>
            <a:ext cx="7662441" cy="1314826"/>
            <a:chOff x="0" y="0"/>
            <a:chExt cx="10216587" cy="1753101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0216587" cy="1753101"/>
            </a:xfrm>
            <a:custGeom>
              <a:avLst/>
              <a:gdLst/>
              <a:ahLst/>
              <a:cxnLst/>
              <a:rect l="l" t="t" r="r" b="b"/>
              <a:pathLst>
                <a:path w="10216587" h="1753101">
                  <a:moveTo>
                    <a:pt x="0" y="0"/>
                  </a:moveTo>
                  <a:lnTo>
                    <a:pt x="10216587" y="0"/>
                  </a:lnTo>
                  <a:lnTo>
                    <a:pt x="10216587" y="1753101"/>
                  </a:lnTo>
                  <a:lnTo>
                    <a:pt x="0" y="175310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4213" r="-19335" b="-66804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0"/>
              <a:ext cx="10216587" cy="175310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199"/>
                </a:lnSpc>
              </a:pPr>
              <a:r>
                <a:rPr lang="en-US" sz="5999">
                  <a:solidFill>
                    <a:srgbClr val="FF6666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RESHMA S NATH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18313403" cy="1854203"/>
            <a:chOff x="0" y="0"/>
            <a:chExt cx="24417871" cy="2472271"/>
          </a:xfrm>
        </p:grpSpPr>
        <p:sp>
          <p:nvSpPr>
            <p:cNvPr id="3" name="Freeform 3"/>
            <p:cNvSpPr/>
            <p:nvPr/>
          </p:nvSpPr>
          <p:spPr>
            <a:xfrm>
              <a:off x="16891" y="16891"/>
              <a:ext cx="24383999" cy="2438400"/>
            </a:xfrm>
            <a:custGeom>
              <a:avLst/>
              <a:gdLst/>
              <a:ahLst/>
              <a:cxnLst/>
              <a:rect l="l" t="t" r="r" b="b"/>
              <a:pathLst>
                <a:path w="24383999" h="2438400">
                  <a:moveTo>
                    <a:pt x="0" y="0"/>
                  </a:moveTo>
                  <a:lnTo>
                    <a:pt x="24383999" y="0"/>
                  </a:lnTo>
                  <a:lnTo>
                    <a:pt x="24383999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5A0D1E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24417782" cy="2472182"/>
            </a:xfrm>
            <a:custGeom>
              <a:avLst/>
              <a:gdLst/>
              <a:ahLst/>
              <a:cxnLst/>
              <a:rect l="l" t="t" r="r" b="b"/>
              <a:pathLst>
                <a:path w="24417782" h="24721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455291"/>
                  </a:lnTo>
                  <a:cubicBezTo>
                    <a:pt x="24417782" y="2464689"/>
                    <a:pt x="24410163" y="2472182"/>
                    <a:pt x="24400890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24400890" y="2438400"/>
                  </a:lnTo>
                  <a:lnTo>
                    <a:pt x="24400890" y="2455291"/>
                  </a:lnTo>
                  <a:lnTo>
                    <a:pt x="24384000" y="245529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5A0D1E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731520" y="146304"/>
            <a:ext cx="16459200" cy="1097280"/>
            <a:chOff x="0" y="0"/>
            <a:chExt cx="21945600" cy="146304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945600" cy="1463040"/>
            </a:xfrm>
            <a:custGeom>
              <a:avLst/>
              <a:gdLst/>
              <a:ahLst/>
              <a:cxnLst/>
              <a:rect l="l" t="t" r="r" b="b"/>
              <a:pathLst>
                <a:path w="21945600" h="146304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2275" b="-242275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21945600" cy="14725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240"/>
                </a:lnSpc>
              </a:pPr>
              <a:r>
                <a:rPr lang="en-US" sz="5200" b="1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Introduction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6093440" y="146304"/>
            <a:ext cx="1463040" cy="1097280"/>
            <a:chOff x="0" y="0"/>
            <a:chExt cx="1950720" cy="14630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950720" cy="1463040"/>
            </a:xfrm>
            <a:custGeom>
              <a:avLst/>
              <a:gdLst/>
              <a:ahLst/>
              <a:cxnLst/>
              <a:rect l="l" t="t" r="r" b="b"/>
              <a:pathLst>
                <a:path w="1950720" h="1463040">
                  <a:moveTo>
                    <a:pt x="0" y="0"/>
                  </a:moveTo>
                  <a:lnTo>
                    <a:pt x="1950720" y="0"/>
                  </a:lnTo>
                  <a:lnTo>
                    <a:pt x="19507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r="-46227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1950720" cy="14820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4800"/>
                </a:lnSpc>
              </a:pPr>
              <a:r>
                <a:rPr lang="en-US" sz="4000" b="1">
                  <a:solidFill>
                    <a:srgbClr val="C9A96E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01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16280" y="2270760"/>
            <a:ext cx="8260080" cy="3230880"/>
            <a:chOff x="0" y="0"/>
            <a:chExt cx="11013440" cy="4307840"/>
          </a:xfrm>
        </p:grpSpPr>
        <p:sp>
          <p:nvSpPr>
            <p:cNvPr id="12" name="Freeform 12"/>
            <p:cNvSpPr/>
            <p:nvPr/>
          </p:nvSpPr>
          <p:spPr>
            <a:xfrm>
              <a:off x="20320" y="20320"/>
              <a:ext cx="10972800" cy="4267200"/>
            </a:xfrm>
            <a:custGeom>
              <a:avLst/>
              <a:gdLst/>
              <a:ahLst/>
              <a:cxnLst/>
              <a:rect l="l" t="t" r="r" b="b"/>
              <a:pathLst>
                <a:path w="10972800" h="4267200">
                  <a:moveTo>
                    <a:pt x="0" y="0"/>
                  </a:moveTo>
                  <a:lnTo>
                    <a:pt x="10972800" y="0"/>
                  </a:lnTo>
                  <a:lnTo>
                    <a:pt x="10972800" y="4267200"/>
                  </a:lnTo>
                  <a:lnTo>
                    <a:pt x="0" y="4267200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0" y="0"/>
              <a:ext cx="11013440" cy="4307840"/>
            </a:xfrm>
            <a:custGeom>
              <a:avLst/>
              <a:gdLst/>
              <a:ahLst/>
              <a:cxnLst/>
              <a:rect l="l" t="t" r="r" b="b"/>
              <a:pathLst>
                <a:path w="11013440" h="4307840">
                  <a:moveTo>
                    <a:pt x="20320" y="0"/>
                  </a:moveTo>
                  <a:lnTo>
                    <a:pt x="10993120" y="0"/>
                  </a:lnTo>
                  <a:cubicBezTo>
                    <a:pt x="11004296" y="0"/>
                    <a:pt x="11013440" y="9144"/>
                    <a:pt x="11013440" y="20320"/>
                  </a:cubicBezTo>
                  <a:lnTo>
                    <a:pt x="11013440" y="4287520"/>
                  </a:lnTo>
                  <a:cubicBezTo>
                    <a:pt x="11013440" y="4298696"/>
                    <a:pt x="11004296" y="4307840"/>
                    <a:pt x="10993120" y="4307840"/>
                  </a:cubicBezTo>
                  <a:lnTo>
                    <a:pt x="20320" y="4307840"/>
                  </a:lnTo>
                  <a:cubicBezTo>
                    <a:pt x="9144" y="4307840"/>
                    <a:pt x="0" y="4298696"/>
                    <a:pt x="0" y="4287520"/>
                  </a:cubicBezTo>
                  <a:lnTo>
                    <a:pt x="0" y="20320"/>
                  </a:lnTo>
                  <a:cubicBezTo>
                    <a:pt x="0" y="9144"/>
                    <a:pt x="9144" y="0"/>
                    <a:pt x="20320" y="0"/>
                  </a:cubicBezTo>
                  <a:moveTo>
                    <a:pt x="20320" y="40640"/>
                  </a:moveTo>
                  <a:lnTo>
                    <a:pt x="20320" y="20320"/>
                  </a:lnTo>
                  <a:lnTo>
                    <a:pt x="40640" y="20320"/>
                  </a:lnTo>
                  <a:lnTo>
                    <a:pt x="40640" y="4287520"/>
                  </a:lnTo>
                  <a:lnTo>
                    <a:pt x="20320" y="4287520"/>
                  </a:lnTo>
                  <a:lnTo>
                    <a:pt x="20320" y="4267200"/>
                  </a:lnTo>
                  <a:lnTo>
                    <a:pt x="10993120" y="4267200"/>
                  </a:lnTo>
                  <a:lnTo>
                    <a:pt x="10993120" y="4287520"/>
                  </a:lnTo>
                  <a:lnTo>
                    <a:pt x="10972800" y="4287520"/>
                  </a:lnTo>
                  <a:lnTo>
                    <a:pt x="10972800" y="20320"/>
                  </a:lnTo>
                  <a:lnTo>
                    <a:pt x="10993120" y="20320"/>
                  </a:lnTo>
                  <a:lnTo>
                    <a:pt x="10993120" y="40640"/>
                  </a:lnTo>
                  <a:lnTo>
                    <a:pt x="20320" y="40640"/>
                  </a:lnTo>
                  <a:close/>
                </a:path>
              </a:pathLst>
            </a:custGeom>
            <a:solidFill>
              <a:srgbClr val="7B1C2E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718823" y="2273303"/>
            <a:ext cx="153419" cy="3225803"/>
            <a:chOff x="0" y="0"/>
            <a:chExt cx="204559" cy="4301071"/>
          </a:xfrm>
        </p:grpSpPr>
        <p:sp>
          <p:nvSpPr>
            <p:cNvPr id="15" name="Freeform 15"/>
            <p:cNvSpPr/>
            <p:nvPr/>
          </p:nvSpPr>
          <p:spPr>
            <a:xfrm>
              <a:off x="16891" y="16891"/>
              <a:ext cx="170688" cy="4267200"/>
            </a:xfrm>
            <a:custGeom>
              <a:avLst/>
              <a:gdLst/>
              <a:ahLst/>
              <a:cxnLst/>
              <a:rect l="l" t="t" r="r" b="b"/>
              <a:pathLst>
                <a:path w="170688" h="4267200">
                  <a:moveTo>
                    <a:pt x="0" y="0"/>
                  </a:moveTo>
                  <a:lnTo>
                    <a:pt x="170688" y="0"/>
                  </a:lnTo>
                  <a:lnTo>
                    <a:pt x="170688" y="4267200"/>
                  </a:lnTo>
                  <a:lnTo>
                    <a:pt x="0" y="4267200"/>
                  </a:lnTo>
                  <a:close/>
                </a:path>
              </a:pathLst>
            </a:custGeom>
            <a:solidFill>
              <a:srgbClr val="C9A96E"/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0" y="0"/>
              <a:ext cx="204470" cy="4300982"/>
            </a:xfrm>
            <a:custGeom>
              <a:avLst/>
              <a:gdLst/>
              <a:ahLst/>
              <a:cxnLst/>
              <a:rect l="l" t="t" r="r" b="b"/>
              <a:pathLst>
                <a:path w="204470" h="4300982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4284091"/>
                  </a:lnTo>
                  <a:cubicBezTo>
                    <a:pt x="204470" y="4293489"/>
                    <a:pt x="196850" y="4300982"/>
                    <a:pt x="187579" y="4300982"/>
                  </a:cubicBezTo>
                  <a:lnTo>
                    <a:pt x="16891" y="4300982"/>
                  </a:lnTo>
                  <a:cubicBezTo>
                    <a:pt x="7493" y="4300982"/>
                    <a:pt x="0" y="4293362"/>
                    <a:pt x="0" y="4284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284091"/>
                  </a:lnTo>
                  <a:lnTo>
                    <a:pt x="16891" y="4284091"/>
                  </a:lnTo>
                  <a:lnTo>
                    <a:pt x="16891" y="4267200"/>
                  </a:lnTo>
                  <a:lnTo>
                    <a:pt x="187579" y="4267200"/>
                  </a:lnTo>
                  <a:lnTo>
                    <a:pt x="187579" y="4284091"/>
                  </a:lnTo>
                  <a:lnTo>
                    <a:pt x="170688" y="428409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9A96E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1060704" y="2505456"/>
            <a:ext cx="7498080" cy="694944"/>
            <a:chOff x="0" y="0"/>
            <a:chExt cx="9997440" cy="92659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9997440" cy="926592"/>
            </a:xfrm>
            <a:custGeom>
              <a:avLst/>
              <a:gdLst/>
              <a:ahLst/>
              <a:cxnLst/>
              <a:rect l="l" t="t" r="r" b="b"/>
              <a:pathLst>
                <a:path w="9997440" h="926592">
                  <a:moveTo>
                    <a:pt x="0" y="0"/>
                  </a:moveTo>
                  <a:lnTo>
                    <a:pt x="9997440" y="0"/>
                  </a:lnTo>
                  <a:lnTo>
                    <a:pt x="99974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0233" b="-160233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57150"/>
              <a:ext cx="9997440" cy="9837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99"/>
                </a:lnSpc>
              </a:pPr>
              <a:r>
                <a:rPr lang="en-US" sz="2999" b="1">
                  <a:solidFill>
                    <a:srgbClr val="C9A96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🌐  Context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060704" y="3236976"/>
            <a:ext cx="7498080" cy="2011680"/>
            <a:chOff x="0" y="0"/>
            <a:chExt cx="9997440" cy="268224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9997440" cy="2682240"/>
            </a:xfrm>
            <a:custGeom>
              <a:avLst/>
              <a:gdLst/>
              <a:ahLst/>
              <a:cxnLst/>
              <a:rect l="l" t="t" r="r" b="b"/>
              <a:pathLst>
                <a:path w="9997440" h="2682240">
                  <a:moveTo>
                    <a:pt x="0" y="0"/>
                  </a:moveTo>
                  <a:lnTo>
                    <a:pt x="9997440" y="0"/>
                  </a:lnTo>
                  <a:lnTo>
                    <a:pt x="999744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626" b="-22626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-114300"/>
              <a:ext cx="9997440" cy="27965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743"/>
                </a:lnSpc>
              </a:pPr>
              <a:r>
                <a:rPr lang="en-US" sz="2599">
                  <a:solidFill>
                    <a:srgbClr val="B0B0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Psychological manipulation in digital conversations is rising rapidly with social media, messaging apps, and online relationships.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677400" y="2270760"/>
            <a:ext cx="8260080" cy="3230880"/>
            <a:chOff x="0" y="0"/>
            <a:chExt cx="11013440" cy="4307840"/>
          </a:xfrm>
        </p:grpSpPr>
        <p:sp>
          <p:nvSpPr>
            <p:cNvPr id="24" name="Freeform 24"/>
            <p:cNvSpPr/>
            <p:nvPr/>
          </p:nvSpPr>
          <p:spPr>
            <a:xfrm>
              <a:off x="20320" y="20320"/>
              <a:ext cx="10972800" cy="4267200"/>
            </a:xfrm>
            <a:custGeom>
              <a:avLst/>
              <a:gdLst/>
              <a:ahLst/>
              <a:cxnLst/>
              <a:rect l="l" t="t" r="r" b="b"/>
              <a:pathLst>
                <a:path w="10972800" h="4267200">
                  <a:moveTo>
                    <a:pt x="0" y="0"/>
                  </a:moveTo>
                  <a:lnTo>
                    <a:pt x="10972800" y="0"/>
                  </a:lnTo>
                  <a:lnTo>
                    <a:pt x="10972800" y="4267200"/>
                  </a:lnTo>
                  <a:lnTo>
                    <a:pt x="0" y="4267200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id="25" name="Freeform 25"/>
            <p:cNvSpPr/>
            <p:nvPr/>
          </p:nvSpPr>
          <p:spPr>
            <a:xfrm>
              <a:off x="0" y="0"/>
              <a:ext cx="11013440" cy="4307840"/>
            </a:xfrm>
            <a:custGeom>
              <a:avLst/>
              <a:gdLst/>
              <a:ahLst/>
              <a:cxnLst/>
              <a:rect l="l" t="t" r="r" b="b"/>
              <a:pathLst>
                <a:path w="11013440" h="4307840">
                  <a:moveTo>
                    <a:pt x="20320" y="0"/>
                  </a:moveTo>
                  <a:lnTo>
                    <a:pt x="10993120" y="0"/>
                  </a:lnTo>
                  <a:cubicBezTo>
                    <a:pt x="11004296" y="0"/>
                    <a:pt x="11013440" y="9144"/>
                    <a:pt x="11013440" y="20320"/>
                  </a:cubicBezTo>
                  <a:lnTo>
                    <a:pt x="11013440" y="4287520"/>
                  </a:lnTo>
                  <a:cubicBezTo>
                    <a:pt x="11013440" y="4298696"/>
                    <a:pt x="11004296" y="4307840"/>
                    <a:pt x="10993120" y="4307840"/>
                  </a:cubicBezTo>
                  <a:lnTo>
                    <a:pt x="20320" y="4307840"/>
                  </a:lnTo>
                  <a:cubicBezTo>
                    <a:pt x="9144" y="4307840"/>
                    <a:pt x="0" y="4298696"/>
                    <a:pt x="0" y="4287520"/>
                  </a:cubicBezTo>
                  <a:lnTo>
                    <a:pt x="0" y="20320"/>
                  </a:lnTo>
                  <a:cubicBezTo>
                    <a:pt x="0" y="9144"/>
                    <a:pt x="9144" y="0"/>
                    <a:pt x="20320" y="0"/>
                  </a:cubicBezTo>
                  <a:moveTo>
                    <a:pt x="20320" y="40640"/>
                  </a:moveTo>
                  <a:lnTo>
                    <a:pt x="20320" y="20320"/>
                  </a:lnTo>
                  <a:lnTo>
                    <a:pt x="40640" y="20320"/>
                  </a:lnTo>
                  <a:lnTo>
                    <a:pt x="40640" y="4287520"/>
                  </a:lnTo>
                  <a:lnTo>
                    <a:pt x="20320" y="4287520"/>
                  </a:lnTo>
                  <a:lnTo>
                    <a:pt x="20320" y="4267200"/>
                  </a:lnTo>
                  <a:lnTo>
                    <a:pt x="10993120" y="4267200"/>
                  </a:lnTo>
                  <a:lnTo>
                    <a:pt x="10993120" y="4287520"/>
                  </a:lnTo>
                  <a:lnTo>
                    <a:pt x="10972800" y="4287520"/>
                  </a:lnTo>
                  <a:lnTo>
                    <a:pt x="10972800" y="20320"/>
                  </a:lnTo>
                  <a:lnTo>
                    <a:pt x="10993120" y="20320"/>
                  </a:lnTo>
                  <a:lnTo>
                    <a:pt x="10993120" y="40640"/>
                  </a:lnTo>
                  <a:lnTo>
                    <a:pt x="20320" y="40640"/>
                  </a:lnTo>
                  <a:close/>
                </a:path>
              </a:pathLst>
            </a:custGeom>
            <a:solidFill>
              <a:srgbClr val="7B1C2E"/>
            </a:solidFill>
          </p:spPr>
        </p:sp>
      </p:grpSp>
      <p:grpSp>
        <p:nvGrpSpPr>
          <p:cNvPr id="26" name="Group 26"/>
          <p:cNvGrpSpPr/>
          <p:nvPr/>
        </p:nvGrpSpPr>
        <p:grpSpPr>
          <a:xfrm>
            <a:off x="9679943" y="2273303"/>
            <a:ext cx="153419" cy="3225803"/>
            <a:chOff x="0" y="0"/>
            <a:chExt cx="204559" cy="4301071"/>
          </a:xfrm>
        </p:grpSpPr>
        <p:sp>
          <p:nvSpPr>
            <p:cNvPr id="27" name="Freeform 27"/>
            <p:cNvSpPr/>
            <p:nvPr/>
          </p:nvSpPr>
          <p:spPr>
            <a:xfrm>
              <a:off x="16891" y="16891"/>
              <a:ext cx="170688" cy="4267200"/>
            </a:xfrm>
            <a:custGeom>
              <a:avLst/>
              <a:gdLst/>
              <a:ahLst/>
              <a:cxnLst/>
              <a:rect l="l" t="t" r="r" b="b"/>
              <a:pathLst>
                <a:path w="170688" h="4267200">
                  <a:moveTo>
                    <a:pt x="0" y="0"/>
                  </a:moveTo>
                  <a:lnTo>
                    <a:pt x="170688" y="0"/>
                  </a:lnTo>
                  <a:lnTo>
                    <a:pt x="170688" y="4267200"/>
                  </a:lnTo>
                  <a:lnTo>
                    <a:pt x="0" y="4267200"/>
                  </a:lnTo>
                  <a:close/>
                </a:path>
              </a:pathLst>
            </a:custGeom>
            <a:solidFill>
              <a:srgbClr val="C9A96E"/>
            </a:solidFill>
          </p:spPr>
        </p:sp>
        <p:sp>
          <p:nvSpPr>
            <p:cNvPr id="28" name="Freeform 28"/>
            <p:cNvSpPr/>
            <p:nvPr/>
          </p:nvSpPr>
          <p:spPr>
            <a:xfrm>
              <a:off x="0" y="0"/>
              <a:ext cx="204470" cy="4300982"/>
            </a:xfrm>
            <a:custGeom>
              <a:avLst/>
              <a:gdLst/>
              <a:ahLst/>
              <a:cxnLst/>
              <a:rect l="l" t="t" r="r" b="b"/>
              <a:pathLst>
                <a:path w="204470" h="4300982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4284091"/>
                  </a:lnTo>
                  <a:cubicBezTo>
                    <a:pt x="204470" y="4293489"/>
                    <a:pt x="196850" y="4300982"/>
                    <a:pt x="187579" y="4300982"/>
                  </a:cubicBezTo>
                  <a:lnTo>
                    <a:pt x="16891" y="4300982"/>
                  </a:lnTo>
                  <a:cubicBezTo>
                    <a:pt x="7493" y="4300982"/>
                    <a:pt x="0" y="4293362"/>
                    <a:pt x="0" y="4284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284091"/>
                  </a:lnTo>
                  <a:lnTo>
                    <a:pt x="16891" y="4284091"/>
                  </a:lnTo>
                  <a:lnTo>
                    <a:pt x="16891" y="4267200"/>
                  </a:lnTo>
                  <a:lnTo>
                    <a:pt x="187579" y="4267200"/>
                  </a:lnTo>
                  <a:lnTo>
                    <a:pt x="187579" y="4284091"/>
                  </a:lnTo>
                  <a:lnTo>
                    <a:pt x="170688" y="428409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9A96E"/>
            </a:solidFill>
          </p:spPr>
        </p:sp>
      </p:grpSp>
      <p:grpSp>
        <p:nvGrpSpPr>
          <p:cNvPr id="29" name="Group 29"/>
          <p:cNvGrpSpPr/>
          <p:nvPr/>
        </p:nvGrpSpPr>
        <p:grpSpPr>
          <a:xfrm>
            <a:off x="10021824" y="2505456"/>
            <a:ext cx="7498080" cy="694944"/>
            <a:chOff x="0" y="0"/>
            <a:chExt cx="9997440" cy="926592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9997440" cy="926592"/>
            </a:xfrm>
            <a:custGeom>
              <a:avLst/>
              <a:gdLst/>
              <a:ahLst/>
              <a:cxnLst/>
              <a:rect l="l" t="t" r="r" b="b"/>
              <a:pathLst>
                <a:path w="9997440" h="926592">
                  <a:moveTo>
                    <a:pt x="0" y="0"/>
                  </a:moveTo>
                  <a:lnTo>
                    <a:pt x="9997440" y="0"/>
                  </a:lnTo>
                  <a:lnTo>
                    <a:pt x="99974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0233" b="-160233"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0" y="-57150"/>
              <a:ext cx="9997440" cy="9837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99"/>
                </a:lnSpc>
              </a:pPr>
              <a:r>
                <a:rPr lang="en-US" sz="2999" b="1">
                  <a:solidFill>
                    <a:srgbClr val="C9A96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⚠️  Problem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0021824" y="3236976"/>
            <a:ext cx="7498080" cy="2011680"/>
            <a:chOff x="0" y="0"/>
            <a:chExt cx="9997440" cy="268224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9997440" cy="2682240"/>
            </a:xfrm>
            <a:custGeom>
              <a:avLst/>
              <a:gdLst/>
              <a:ahLst/>
              <a:cxnLst/>
              <a:rect l="l" t="t" r="r" b="b"/>
              <a:pathLst>
                <a:path w="9997440" h="2682240">
                  <a:moveTo>
                    <a:pt x="0" y="0"/>
                  </a:moveTo>
                  <a:lnTo>
                    <a:pt x="9997440" y="0"/>
                  </a:lnTo>
                  <a:lnTo>
                    <a:pt x="999744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626" b="-22626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-114300"/>
              <a:ext cx="9997440" cy="27965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743"/>
                </a:lnSpc>
              </a:pPr>
              <a:r>
                <a:rPr lang="en-US" sz="2599">
                  <a:solidFill>
                    <a:srgbClr val="B0B0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Manual detection of manipulative language is subjective and unscalable. Automated NLP-based solutions are urgently needed.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716280" y="5836920"/>
            <a:ext cx="8260080" cy="3230880"/>
            <a:chOff x="0" y="0"/>
            <a:chExt cx="11013440" cy="4307840"/>
          </a:xfrm>
        </p:grpSpPr>
        <p:sp>
          <p:nvSpPr>
            <p:cNvPr id="36" name="Freeform 36"/>
            <p:cNvSpPr/>
            <p:nvPr/>
          </p:nvSpPr>
          <p:spPr>
            <a:xfrm>
              <a:off x="20320" y="20320"/>
              <a:ext cx="10972800" cy="4267200"/>
            </a:xfrm>
            <a:custGeom>
              <a:avLst/>
              <a:gdLst/>
              <a:ahLst/>
              <a:cxnLst/>
              <a:rect l="l" t="t" r="r" b="b"/>
              <a:pathLst>
                <a:path w="10972800" h="4267200">
                  <a:moveTo>
                    <a:pt x="0" y="0"/>
                  </a:moveTo>
                  <a:lnTo>
                    <a:pt x="10972800" y="0"/>
                  </a:lnTo>
                  <a:lnTo>
                    <a:pt x="10972800" y="4267200"/>
                  </a:lnTo>
                  <a:lnTo>
                    <a:pt x="0" y="4267200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id="37" name="Freeform 37"/>
            <p:cNvSpPr/>
            <p:nvPr/>
          </p:nvSpPr>
          <p:spPr>
            <a:xfrm>
              <a:off x="0" y="0"/>
              <a:ext cx="11013440" cy="4307840"/>
            </a:xfrm>
            <a:custGeom>
              <a:avLst/>
              <a:gdLst/>
              <a:ahLst/>
              <a:cxnLst/>
              <a:rect l="l" t="t" r="r" b="b"/>
              <a:pathLst>
                <a:path w="11013440" h="4307840">
                  <a:moveTo>
                    <a:pt x="20320" y="0"/>
                  </a:moveTo>
                  <a:lnTo>
                    <a:pt x="10993120" y="0"/>
                  </a:lnTo>
                  <a:cubicBezTo>
                    <a:pt x="11004296" y="0"/>
                    <a:pt x="11013440" y="9144"/>
                    <a:pt x="11013440" y="20320"/>
                  </a:cubicBezTo>
                  <a:lnTo>
                    <a:pt x="11013440" y="4287520"/>
                  </a:lnTo>
                  <a:cubicBezTo>
                    <a:pt x="11013440" y="4298696"/>
                    <a:pt x="11004296" y="4307840"/>
                    <a:pt x="10993120" y="4307840"/>
                  </a:cubicBezTo>
                  <a:lnTo>
                    <a:pt x="20320" y="4307840"/>
                  </a:lnTo>
                  <a:cubicBezTo>
                    <a:pt x="9144" y="4307840"/>
                    <a:pt x="0" y="4298696"/>
                    <a:pt x="0" y="4287520"/>
                  </a:cubicBezTo>
                  <a:lnTo>
                    <a:pt x="0" y="20320"/>
                  </a:lnTo>
                  <a:cubicBezTo>
                    <a:pt x="0" y="9144"/>
                    <a:pt x="9144" y="0"/>
                    <a:pt x="20320" y="0"/>
                  </a:cubicBezTo>
                  <a:moveTo>
                    <a:pt x="20320" y="40640"/>
                  </a:moveTo>
                  <a:lnTo>
                    <a:pt x="20320" y="20320"/>
                  </a:lnTo>
                  <a:lnTo>
                    <a:pt x="40640" y="20320"/>
                  </a:lnTo>
                  <a:lnTo>
                    <a:pt x="40640" y="4287520"/>
                  </a:lnTo>
                  <a:lnTo>
                    <a:pt x="20320" y="4287520"/>
                  </a:lnTo>
                  <a:lnTo>
                    <a:pt x="20320" y="4267200"/>
                  </a:lnTo>
                  <a:lnTo>
                    <a:pt x="10993120" y="4267200"/>
                  </a:lnTo>
                  <a:lnTo>
                    <a:pt x="10993120" y="4287520"/>
                  </a:lnTo>
                  <a:lnTo>
                    <a:pt x="10972800" y="4287520"/>
                  </a:lnTo>
                  <a:lnTo>
                    <a:pt x="10972800" y="20320"/>
                  </a:lnTo>
                  <a:lnTo>
                    <a:pt x="10993120" y="20320"/>
                  </a:lnTo>
                  <a:lnTo>
                    <a:pt x="10993120" y="40640"/>
                  </a:lnTo>
                  <a:lnTo>
                    <a:pt x="20320" y="40640"/>
                  </a:lnTo>
                  <a:close/>
                </a:path>
              </a:pathLst>
            </a:custGeom>
            <a:solidFill>
              <a:srgbClr val="7B1C2E"/>
            </a:solidFill>
          </p:spPr>
        </p:sp>
      </p:grpSp>
      <p:grpSp>
        <p:nvGrpSpPr>
          <p:cNvPr id="38" name="Group 38"/>
          <p:cNvGrpSpPr/>
          <p:nvPr/>
        </p:nvGrpSpPr>
        <p:grpSpPr>
          <a:xfrm>
            <a:off x="718823" y="5839463"/>
            <a:ext cx="153419" cy="3225803"/>
            <a:chOff x="0" y="0"/>
            <a:chExt cx="204559" cy="4301071"/>
          </a:xfrm>
        </p:grpSpPr>
        <p:sp>
          <p:nvSpPr>
            <p:cNvPr id="39" name="Freeform 39"/>
            <p:cNvSpPr/>
            <p:nvPr/>
          </p:nvSpPr>
          <p:spPr>
            <a:xfrm>
              <a:off x="16891" y="16891"/>
              <a:ext cx="170688" cy="4267200"/>
            </a:xfrm>
            <a:custGeom>
              <a:avLst/>
              <a:gdLst/>
              <a:ahLst/>
              <a:cxnLst/>
              <a:rect l="l" t="t" r="r" b="b"/>
              <a:pathLst>
                <a:path w="170688" h="4267200">
                  <a:moveTo>
                    <a:pt x="0" y="0"/>
                  </a:moveTo>
                  <a:lnTo>
                    <a:pt x="170688" y="0"/>
                  </a:lnTo>
                  <a:lnTo>
                    <a:pt x="170688" y="4267200"/>
                  </a:lnTo>
                  <a:lnTo>
                    <a:pt x="0" y="4267200"/>
                  </a:lnTo>
                  <a:close/>
                </a:path>
              </a:pathLst>
            </a:custGeom>
            <a:solidFill>
              <a:srgbClr val="C9A96E"/>
            </a:solidFill>
          </p:spPr>
        </p:sp>
        <p:sp>
          <p:nvSpPr>
            <p:cNvPr id="40" name="Freeform 40"/>
            <p:cNvSpPr/>
            <p:nvPr/>
          </p:nvSpPr>
          <p:spPr>
            <a:xfrm>
              <a:off x="0" y="0"/>
              <a:ext cx="204470" cy="4300982"/>
            </a:xfrm>
            <a:custGeom>
              <a:avLst/>
              <a:gdLst/>
              <a:ahLst/>
              <a:cxnLst/>
              <a:rect l="l" t="t" r="r" b="b"/>
              <a:pathLst>
                <a:path w="204470" h="4300982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4284091"/>
                  </a:lnTo>
                  <a:cubicBezTo>
                    <a:pt x="204470" y="4293489"/>
                    <a:pt x="196850" y="4300982"/>
                    <a:pt x="187579" y="4300982"/>
                  </a:cubicBezTo>
                  <a:lnTo>
                    <a:pt x="16891" y="4300982"/>
                  </a:lnTo>
                  <a:cubicBezTo>
                    <a:pt x="7493" y="4300982"/>
                    <a:pt x="0" y="4293362"/>
                    <a:pt x="0" y="4284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284091"/>
                  </a:lnTo>
                  <a:lnTo>
                    <a:pt x="16891" y="4284091"/>
                  </a:lnTo>
                  <a:lnTo>
                    <a:pt x="16891" y="4267200"/>
                  </a:lnTo>
                  <a:lnTo>
                    <a:pt x="187579" y="4267200"/>
                  </a:lnTo>
                  <a:lnTo>
                    <a:pt x="187579" y="4284091"/>
                  </a:lnTo>
                  <a:lnTo>
                    <a:pt x="170688" y="428409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9A96E"/>
            </a:solidFill>
          </p:spPr>
        </p:sp>
      </p:grpSp>
      <p:grpSp>
        <p:nvGrpSpPr>
          <p:cNvPr id="41" name="Group 41"/>
          <p:cNvGrpSpPr/>
          <p:nvPr/>
        </p:nvGrpSpPr>
        <p:grpSpPr>
          <a:xfrm>
            <a:off x="1060704" y="6071616"/>
            <a:ext cx="7498080" cy="694944"/>
            <a:chOff x="0" y="0"/>
            <a:chExt cx="9997440" cy="926592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9997440" cy="926592"/>
            </a:xfrm>
            <a:custGeom>
              <a:avLst/>
              <a:gdLst/>
              <a:ahLst/>
              <a:cxnLst/>
              <a:rect l="l" t="t" r="r" b="b"/>
              <a:pathLst>
                <a:path w="9997440" h="926592">
                  <a:moveTo>
                    <a:pt x="0" y="0"/>
                  </a:moveTo>
                  <a:lnTo>
                    <a:pt x="9997440" y="0"/>
                  </a:lnTo>
                  <a:lnTo>
                    <a:pt x="99974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0233" b="-160233"/>
              </a:stretch>
            </a:blipFill>
          </p:spPr>
        </p:sp>
        <p:sp>
          <p:nvSpPr>
            <p:cNvPr id="43" name="TextBox 43"/>
            <p:cNvSpPr txBox="1"/>
            <p:nvPr/>
          </p:nvSpPr>
          <p:spPr>
            <a:xfrm>
              <a:off x="0" y="-57150"/>
              <a:ext cx="9997440" cy="9837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99"/>
                </a:lnSpc>
              </a:pPr>
              <a:r>
                <a:rPr lang="en-US" sz="2999" b="1">
                  <a:solidFill>
                    <a:srgbClr val="C9A96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🤖  Solution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060704" y="6803136"/>
            <a:ext cx="7498080" cy="2011680"/>
            <a:chOff x="0" y="0"/>
            <a:chExt cx="9997440" cy="268224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9997440" cy="2682240"/>
            </a:xfrm>
            <a:custGeom>
              <a:avLst/>
              <a:gdLst/>
              <a:ahLst/>
              <a:cxnLst/>
              <a:rect l="l" t="t" r="r" b="b"/>
              <a:pathLst>
                <a:path w="9997440" h="2682240">
                  <a:moveTo>
                    <a:pt x="0" y="0"/>
                  </a:moveTo>
                  <a:lnTo>
                    <a:pt x="9997440" y="0"/>
                  </a:lnTo>
                  <a:lnTo>
                    <a:pt x="999744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626" b="-22626"/>
              </a:stretch>
            </a:blipFill>
          </p:spPr>
        </p:sp>
        <p:sp>
          <p:nvSpPr>
            <p:cNvPr id="46" name="TextBox 46"/>
            <p:cNvSpPr txBox="1"/>
            <p:nvPr/>
          </p:nvSpPr>
          <p:spPr>
            <a:xfrm>
              <a:off x="0" y="-114300"/>
              <a:ext cx="9997440" cy="27965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743"/>
                </a:lnSpc>
              </a:pPr>
              <a:r>
                <a:rPr lang="en-US" sz="2599">
                  <a:solidFill>
                    <a:srgbClr val="B0B0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deep learning model using LSTM with dual outputs — binary detection + technique classification — trained on real conversation data.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9677400" y="5836920"/>
            <a:ext cx="8260080" cy="3230880"/>
            <a:chOff x="0" y="0"/>
            <a:chExt cx="11013440" cy="4307840"/>
          </a:xfrm>
        </p:grpSpPr>
        <p:sp>
          <p:nvSpPr>
            <p:cNvPr id="48" name="Freeform 48"/>
            <p:cNvSpPr/>
            <p:nvPr/>
          </p:nvSpPr>
          <p:spPr>
            <a:xfrm>
              <a:off x="20320" y="20320"/>
              <a:ext cx="10972800" cy="4267200"/>
            </a:xfrm>
            <a:custGeom>
              <a:avLst/>
              <a:gdLst/>
              <a:ahLst/>
              <a:cxnLst/>
              <a:rect l="l" t="t" r="r" b="b"/>
              <a:pathLst>
                <a:path w="10972800" h="4267200">
                  <a:moveTo>
                    <a:pt x="0" y="0"/>
                  </a:moveTo>
                  <a:lnTo>
                    <a:pt x="10972800" y="0"/>
                  </a:lnTo>
                  <a:lnTo>
                    <a:pt x="10972800" y="4267200"/>
                  </a:lnTo>
                  <a:lnTo>
                    <a:pt x="0" y="4267200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id="49" name="Freeform 49"/>
            <p:cNvSpPr/>
            <p:nvPr/>
          </p:nvSpPr>
          <p:spPr>
            <a:xfrm>
              <a:off x="0" y="0"/>
              <a:ext cx="11013440" cy="4307840"/>
            </a:xfrm>
            <a:custGeom>
              <a:avLst/>
              <a:gdLst/>
              <a:ahLst/>
              <a:cxnLst/>
              <a:rect l="l" t="t" r="r" b="b"/>
              <a:pathLst>
                <a:path w="11013440" h="4307840">
                  <a:moveTo>
                    <a:pt x="20320" y="0"/>
                  </a:moveTo>
                  <a:lnTo>
                    <a:pt x="10993120" y="0"/>
                  </a:lnTo>
                  <a:cubicBezTo>
                    <a:pt x="11004296" y="0"/>
                    <a:pt x="11013440" y="9144"/>
                    <a:pt x="11013440" y="20320"/>
                  </a:cubicBezTo>
                  <a:lnTo>
                    <a:pt x="11013440" y="4287520"/>
                  </a:lnTo>
                  <a:cubicBezTo>
                    <a:pt x="11013440" y="4298696"/>
                    <a:pt x="11004296" y="4307840"/>
                    <a:pt x="10993120" y="4307840"/>
                  </a:cubicBezTo>
                  <a:lnTo>
                    <a:pt x="20320" y="4307840"/>
                  </a:lnTo>
                  <a:cubicBezTo>
                    <a:pt x="9144" y="4307840"/>
                    <a:pt x="0" y="4298696"/>
                    <a:pt x="0" y="4287520"/>
                  </a:cubicBezTo>
                  <a:lnTo>
                    <a:pt x="0" y="20320"/>
                  </a:lnTo>
                  <a:cubicBezTo>
                    <a:pt x="0" y="9144"/>
                    <a:pt x="9144" y="0"/>
                    <a:pt x="20320" y="0"/>
                  </a:cubicBezTo>
                  <a:moveTo>
                    <a:pt x="20320" y="40640"/>
                  </a:moveTo>
                  <a:lnTo>
                    <a:pt x="20320" y="20320"/>
                  </a:lnTo>
                  <a:lnTo>
                    <a:pt x="40640" y="20320"/>
                  </a:lnTo>
                  <a:lnTo>
                    <a:pt x="40640" y="4287520"/>
                  </a:lnTo>
                  <a:lnTo>
                    <a:pt x="20320" y="4287520"/>
                  </a:lnTo>
                  <a:lnTo>
                    <a:pt x="20320" y="4267200"/>
                  </a:lnTo>
                  <a:lnTo>
                    <a:pt x="10993120" y="4267200"/>
                  </a:lnTo>
                  <a:lnTo>
                    <a:pt x="10993120" y="4287520"/>
                  </a:lnTo>
                  <a:lnTo>
                    <a:pt x="10972800" y="4287520"/>
                  </a:lnTo>
                  <a:lnTo>
                    <a:pt x="10972800" y="20320"/>
                  </a:lnTo>
                  <a:lnTo>
                    <a:pt x="10993120" y="20320"/>
                  </a:lnTo>
                  <a:lnTo>
                    <a:pt x="10993120" y="40640"/>
                  </a:lnTo>
                  <a:lnTo>
                    <a:pt x="20320" y="40640"/>
                  </a:lnTo>
                  <a:close/>
                </a:path>
              </a:pathLst>
            </a:custGeom>
            <a:solidFill>
              <a:srgbClr val="7B1C2E"/>
            </a:solidFill>
          </p:spPr>
        </p:sp>
      </p:grpSp>
      <p:grpSp>
        <p:nvGrpSpPr>
          <p:cNvPr id="50" name="Group 50"/>
          <p:cNvGrpSpPr/>
          <p:nvPr/>
        </p:nvGrpSpPr>
        <p:grpSpPr>
          <a:xfrm>
            <a:off x="9679943" y="5839463"/>
            <a:ext cx="153419" cy="3225803"/>
            <a:chOff x="0" y="0"/>
            <a:chExt cx="204559" cy="4301071"/>
          </a:xfrm>
        </p:grpSpPr>
        <p:sp>
          <p:nvSpPr>
            <p:cNvPr id="51" name="Freeform 51"/>
            <p:cNvSpPr/>
            <p:nvPr/>
          </p:nvSpPr>
          <p:spPr>
            <a:xfrm>
              <a:off x="16891" y="16891"/>
              <a:ext cx="170688" cy="4267200"/>
            </a:xfrm>
            <a:custGeom>
              <a:avLst/>
              <a:gdLst/>
              <a:ahLst/>
              <a:cxnLst/>
              <a:rect l="l" t="t" r="r" b="b"/>
              <a:pathLst>
                <a:path w="170688" h="4267200">
                  <a:moveTo>
                    <a:pt x="0" y="0"/>
                  </a:moveTo>
                  <a:lnTo>
                    <a:pt x="170688" y="0"/>
                  </a:lnTo>
                  <a:lnTo>
                    <a:pt x="170688" y="4267200"/>
                  </a:lnTo>
                  <a:lnTo>
                    <a:pt x="0" y="4267200"/>
                  </a:lnTo>
                  <a:close/>
                </a:path>
              </a:pathLst>
            </a:custGeom>
            <a:solidFill>
              <a:srgbClr val="C9A96E"/>
            </a:solidFill>
          </p:spPr>
        </p:sp>
        <p:sp>
          <p:nvSpPr>
            <p:cNvPr id="52" name="Freeform 52"/>
            <p:cNvSpPr/>
            <p:nvPr/>
          </p:nvSpPr>
          <p:spPr>
            <a:xfrm>
              <a:off x="0" y="0"/>
              <a:ext cx="204470" cy="4300982"/>
            </a:xfrm>
            <a:custGeom>
              <a:avLst/>
              <a:gdLst/>
              <a:ahLst/>
              <a:cxnLst/>
              <a:rect l="l" t="t" r="r" b="b"/>
              <a:pathLst>
                <a:path w="204470" h="4300982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4284091"/>
                  </a:lnTo>
                  <a:cubicBezTo>
                    <a:pt x="204470" y="4293489"/>
                    <a:pt x="196850" y="4300982"/>
                    <a:pt x="187579" y="4300982"/>
                  </a:cubicBezTo>
                  <a:lnTo>
                    <a:pt x="16891" y="4300982"/>
                  </a:lnTo>
                  <a:cubicBezTo>
                    <a:pt x="7493" y="4300982"/>
                    <a:pt x="0" y="4293362"/>
                    <a:pt x="0" y="4284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284091"/>
                  </a:lnTo>
                  <a:lnTo>
                    <a:pt x="16891" y="4284091"/>
                  </a:lnTo>
                  <a:lnTo>
                    <a:pt x="16891" y="4267200"/>
                  </a:lnTo>
                  <a:lnTo>
                    <a:pt x="187579" y="4267200"/>
                  </a:lnTo>
                  <a:lnTo>
                    <a:pt x="187579" y="4284091"/>
                  </a:lnTo>
                  <a:lnTo>
                    <a:pt x="170688" y="428409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9A96E"/>
            </a:solidFill>
          </p:spPr>
        </p:sp>
      </p:grpSp>
      <p:grpSp>
        <p:nvGrpSpPr>
          <p:cNvPr id="53" name="Group 53"/>
          <p:cNvGrpSpPr/>
          <p:nvPr/>
        </p:nvGrpSpPr>
        <p:grpSpPr>
          <a:xfrm>
            <a:off x="10021824" y="6071616"/>
            <a:ext cx="7498080" cy="694944"/>
            <a:chOff x="0" y="0"/>
            <a:chExt cx="9997440" cy="926592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9997440" cy="926592"/>
            </a:xfrm>
            <a:custGeom>
              <a:avLst/>
              <a:gdLst/>
              <a:ahLst/>
              <a:cxnLst/>
              <a:rect l="l" t="t" r="r" b="b"/>
              <a:pathLst>
                <a:path w="9997440" h="926592">
                  <a:moveTo>
                    <a:pt x="0" y="0"/>
                  </a:moveTo>
                  <a:lnTo>
                    <a:pt x="9997440" y="0"/>
                  </a:lnTo>
                  <a:lnTo>
                    <a:pt x="99974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0233" b="-160233"/>
              </a:stretch>
            </a:blipFill>
          </p:spPr>
        </p:sp>
        <p:sp>
          <p:nvSpPr>
            <p:cNvPr id="55" name="TextBox 55"/>
            <p:cNvSpPr txBox="1"/>
            <p:nvPr/>
          </p:nvSpPr>
          <p:spPr>
            <a:xfrm>
              <a:off x="0" y="-57150"/>
              <a:ext cx="9997440" cy="9837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99"/>
                </a:lnSpc>
              </a:pPr>
              <a:r>
                <a:rPr lang="en-US" sz="2999" b="1">
                  <a:solidFill>
                    <a:srgbClr val="C9A96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🎯  Objective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10021824" y="6803136"/>
            <a:ext cx="7498080" cy="2011680"/>
            <a:chOff x="0" y="0"/>
            <a:chExt cx="9997440" cy="2682240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9997440" cy="2682240"/>
            </a:xfrm>
            <a:custGeom>
              <a:avLst/>
              <a:gdLst/>
              <a:ahLst/>
              <a:cxnLst/>
              <a:rect l="l" t="t" r="r" b="b"/>
              <a:pathLst>
                <a:path w="9997440" h="2682240">
                  <a:moveTo>
                    <a:pt x="0" y="0"/>
                  </a:moveTo>
                  <a:lnTo>
                    <a:pt x="9997440" y="0"/>
                  </a:lnTo>
                  <a:lnTo>
                    <a:pt x="999744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626" b="-22626"/>
              </a:stretch>
            </a:blipFill>
          </p:spPr>
        </p:sp>
        <p:sp>
          <p:nvSpPr>
            <p:cNvPr id="58" name="TextBox 58"/>
            <p:cNvSpPr txBox="1"/>
            <p:nvPr/>
          </p:nvSpPr>
          <p:spPr>
            <a:xfrm>
              <a:off x="0" y="-114300"/>
              <a:ext cx="9997440" cy="27965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743"/>
                </a:lnSpc>
              </a:pPr>
              <a:r>
                <a:rPr lang="en-US" sz="2599">
                  <a:solidFill>
                    <a:srgbClr val="B0B0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Build an end-to-end pipeline from raw text conversations to live prediction via a Gradio UI interface.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18313403" cy="1854203"/>
            <a:chOff x="0" y="0"/>
            <a:chExt cx="24417871" cy="2472271"/>
          </a:xfrm>
        </p:grpSpPr>
        <p:sp>
          <p:nvSpPr>
            <p:cNvPr id="3" name="Freeform 3"/>
            <p:cNvSpPr/>
            <p:nvPr/>
          </p:nvSpPr>
          <p:spPr>
            <a:xfrm>
              <a:off x="16891" y="16891"/>
              <a:ext cx="24383999" cy="2438400"/>
            </a:xfrm>
            <a:custGeom>
              <a:avLst/>
              <a:gdLst/>
              <a:ahLst/>
              <a:cxnLst/>
              <a:rect l="l" t="t" r="r" b="b"/>
              <a:pathLst>
                <a:path w="24383999" h="2438400">
                  <a:moveTo>
                    <a:pt x="0" y="0"/>
                  </a:moveTo>
                  <a:lnTo>
                    <a:pt x="24383999" y="0"/>
                  </a:lnTo>
                  <a:lnTo>
                    <a:pt x="24383999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5A0D1E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24417782" cy="2472182"/>
            </a:xfrm>
            <a:custGeom>
              <a:avLst/>
              <a:gdLst/>
              <a:ahLst/>
              <a:cxnLst/>
              <a:rect l="l" t="t" r="r" b="b"/>
              <a:pathLst>
                <a:path w="24417782" h="24721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455291"/>
                  </a:lnTo>
                  <a:cubicBezTo>
                    <a:pt x="24417782" y="2464689"/>
                    <a:pt x="24410163" y="2472182"/>
                    <a:pt x="24400890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24400890" y="2438400"/>
                  </a:lnTo>
                  <a:lnTo>
                    <a:pt x="24400890" y="2455291"/>
                  </a:lnTo>
                  <a:lnTo>
                    <a:pt x="24384000" y="245529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5A0D1E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731520" y="146304"/>
            <a:ext cx="16459200" cy="1097280"/>
            <a:chOff x="0" y="0"/>
            <a:chExt cx="21945600" cy="146304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945600" cy="1463040"/>
            </a:xfrm>
            <a:custGeom>
              <a:avLst/>
              <a:gdLst/>
              <a:ahLst/>
              <a:cxnLst/>
              <a:rect l="l" t="t" r="r" b="b"/>
              <a:pathLst>
                <a:path w="21945600" h="146304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2275" b="-242275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21945600" cy="14725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240"/>
                </a:lnSpc>
              </a:pPr>
              <a:r>
                <a:rPr lang="en-US" sz="5200" b="1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Relevance in Today's World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6093440" y="146304"/>
            <a:ext cx="1463040" cy="1097280"/>
            <a:chOff x="0" y="0"/>
            <a:chExt cx="1950720" cy="14630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950720" cy="1463040"/>
            </a:xfrm>
            <a:custGeom>
              <a:avLst/>
              <a:gdLst/>
              <a:ahLst/>
              <a:cxnLst/>
              <a:rect l="l" t="t" r="r" b="b"/>
              <a:pathLst>
                <a:path w="1950720" h="1463040">
                  <a:moveTo>
                    <a:pt x="0" y="0"/>
                  </a:moveTo>
                  <a:lnTo>
                    <a:pt x="1950720" y="0"/>
                  </a:lnTo>
                  <a:lnTo>
                    <a:pt x="19507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r="-46227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1950720" cy="14820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4800"/>
                </a:lnSpc>
              </a:pPr>
              <a:r>
                <a:rPr lang="en-US" sz="4000" b="1">
                  <a:solidFill>
                    <a:srgbClr val="C9A96E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02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18823" y="2181863"/>
            <a:ext cx="5146043" cy="2585723"/>
            <a:chOff x="0" y="0"/>
            <a:chExt cx="6861391" cy="3447631"/>
          </a:xfrm>
        </p:grpSpPr>
        <p:sp>
          <p:nvSpPr>
            <p:cNvPr id="12" name="Freeform 12"/>
            <p:cNvSpPr/>
            <p:nvPr/>
          </p:nvSpPr>
          <p:spPr>
            <a:xfrm>
              <a:off x="16891" y="16891"/>
              <a:ext cx="6827520" cy="3413760"/>
            </a:xfrm>
            <a:custGeom>
              <a:avLst/>
              <a:gdLst/>
              <a:ahLst/>
              <a:cxnLst/>
              <a:rect l="l" t="t" r="r" b="b"/>
              <a:pathLst>
                <a:path w="6827520" h="3413760">
                  <a:moveTo>
                    <a:pt x="0" y="0"/>
                  </a:moveTo>
                  <a:lnTo>
                    <a:pt x="6827520" y="0"/>
                  </a:lnTo>
                  <a:lnTo>
                    <a:pt x="6827520" y="3413760"/>
                  </a:lnTo>
                  <a:lnTo>
                    <a:pt x="0" y="3413760"/>
                  </a:lnTo>
                  <a:close/>
                </a:path>
              </a:pathLst>
            </a:custGeom>
            <a:solidFill>
              <a:srgbClr val="5A0D1E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0" y="0"/>
              <a:ext cx="6861301" cy="3447542"/>
            </a:xfrm>
            <a:custGeom>
              <a:avLst/>
              <a:gdLst/>
              <a:ahLst/>
              <a:cxnLst/>
              <a:rect l="l" t="t" r="r" b="b"/>
              <a:pathLst>
                <a:path w="6861301" h="3447542">
                  <a:moveTo>
                    <a:pt x="16891" y="0"/>
                  </a:moveTo>
                  <a:lnTo>
                    <a:pt x="6844411" y="0"/>
                  </a:lnTo>
                  <a:cubicBezTo>
                    <a:pt x="6853809" y="0"/>
                    <a:pt x="6861301" y="7620"/>
                    <a:pt x="6861301" y="16891"/>
                  </a:cubicBezTo>
                  <a:lnTo>
                    <a:pt x="6861301" y="3430651"/>
                  </a:lnTo>
                  <a:cubicBezTo>
                    <a:pt x="6861301" y="3440049"/>
                    <a:pt x="6853682" y="3447542"/>
                    <a:pt x="6844411" y="3447542"/>
                  </a:cubicBezTo>
                  <a:lnTo>
                    <a:pt x="16891" y="3447542"/>
                  </a:lnTo>
                  <a:cubicBezTo>
                    <a:pt x="7493" y="3447542"/>
                    <a:pt x="0" y="3439922"/>
                    <a:pt x="0" y="34306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430651"/>
                  </a:lnTo>
                  <a:lnTo>
                    <a:pt x="16891" y="3430651"/>
                  </a:lnTo>
                  <a:lnTo>
                    <a:pt x="16891" y="3413760"/>
                  </a:lnTo>
                  <a:lnTo>
                    <a:pt x="6844411" y="3413760"/>
                  </a:lnTo>
                  <a:lnTo>
                    <a:pt x="6844411" y="3430651"/>
                  </a:lnTo>
                  <a:lnTo>
                    <a:pt x="6827520" y="3430651"/>
                  </a:lnTo>
                  <a:lnTo>
                    <a:pt x="6827520" y="16891"/>
                  </a:lnTo>
                  <a:lnTo>
                    <a:pt x="6844411" y="16891"/>
                  </a:lnTo>
                  <a:lnTo>
                    <a:pt x="68444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9A96E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731520" y="2286000"/>
            <a:ext cx="5120640" cy="1280160"/>
            <a:chOff x="0" y="0"/>
            <a:chExt cx="6827520" cy="170688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827520" cy="1706880"/>
            </a:xfrm>
            <a:custGeom>
              <a:avLst/>
              <a:gdLst/>
              <a:ahLst/>
              <a:cxnLst/>
              <a:rect l="l" t="t" r="r" b="b"/>
              <a:pathLst>
                <a:path w="6827520" h="1706880">
                  <a:moveTo>
                    <a:pt x="0" y="0"/>
                  </a:moveTo>
                  <a:lnTo>
                    <a:pt x="6827520" y="0"/>
                  </a:lnTo>
                  <a:lnTo>
                    <a:pt x="682752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940" b="-27940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9525"/>
              <a:ext cx="6827520" cy="17164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240"/>
                </a:lnSpc>
              </a:pPr>
              <a:r>
                <a:rPr lang="en-US" sz="5200" b="1">
                  <a:solidFill>
                    <a:srgbClr val="C9A96E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4.9B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31520" y="3474720"/>
            <a:ext cx="5120640" cy="1097280"/>
            <a:chOff x="0" y="0"/>
            <a:chExt cx="6827520" cy="146304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827520" cy="1463040"/>
            </a:xfrm>
            <a:custGeom>
              <a:avLst/>
              <a:gdLst/>
              <a:ahLst/>
              <a:cxnLst/>
              <a:rect l="l" t="t" r="r" b="b"/>
              <a:pathLst>
                <a:path w="6827520" h="1463040">
                  <a:moveTo>
                    <a:pt x="0" y="0"/>
                  </a:moveTo>
                  <a:lnTo>
                    <a:pt x="6827520" y="0"/>
                  </a:lnTo>
                  <a:lnTo>
                    <a:pt x="68275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0930" b="-40930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6827520" cy="15106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39"/>
                </a:lnSpc>
              </a:pPr>
              <a:r>
                <a:rPr lang="en-US" sz="2199">
                  <a:solidFill>
                    <a:srgbClr val="F5E6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Social media users globally</a:t>
              </a:r>
            </a:p>
            <a:p>
              <a:pPr algn="ctr">
                <a:lnSpc>
                  <a:spcPts val="2639"/>
                </a:lnSpc>
              </a:pPr>
              <a:r>
                <a:rPr lang="en-US" sz="2199">
                  <a:solidFill>
                    <a:srgbClr val="F5E6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exposed to online manipulation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388103" y="2181863"/>
            <a:ext cx="5146043" cy="2585723"/>
            <a:chOff x="0" y="0"/>
            <a:chExt cx="6861391" cy="3447631"/>
          </a:xfrm>
        </p:grpSpPr>
        <p:sp>
          <p:nvSpPr>
            <p:cNvPr id="21" name="Freeform 21"/>
            <p:cNvSpPr/>
            <p:nvPr/>
          </p:nvSpPr>
          <p:spPr>
            <a:xfrm>
              <a:off x="16891" y="16891"/>
              <a:ext cx="6827520" cy="3413760"/>
            </a:xfrm>
            <a:custGeom>
              <a:avLst/>
              <a:gdLst/>
              <a:ahLst/>
              <a:cxnLst/>
              <a:rect l="l" t="t" r="r" b="b"/>
              <a:pathLst>
                <a:path w="6827520" h="3413760">
                  <a:moveTo>
                    <a:pt x="0" y="0"/>
                  </a:moveTo>
                  <a:lnTo>
                    <a:pt x="6827520" y="0"/>
                  </a:lnTo>
                  <a:lnTo>
                    <a:pt x="6827520" y="3413760"/>
                  </a:lnTo>
                  <a:lnTo>
                    <a:pt x="0" y="3413760"/>
                  </a:lnTo>
                  <a:close/>
                </a:path>
              </a:pathLst>
            </a:custGeom>
            <a:solidFill>
              <a:srgbClr val="5A0D1E"/>
            </a:solidFill>
          </p:spPr>
        </p:sp>
        <p:sp>
          <p:nvSpPr>
            <p:cNvPr id="22" name="Freeform 22"/>
            <p:cNvSpPr/>
            <p:nvPr/>
          </p:nvSpPr>
          <p:spPr>
            <a:xfrm>
              <a:off x="0" y="0"/>
              <a:ext cx="6861301" cy="3447542"/>
            </a:xfrm>
            <a:custGeom>
              <a:avLst/>
              <a:gdLst/>
              <a:ahLst/>
              <a:cxnLst/>
              <a:rect l="l" t="t" r="r" b="b"/>
              <a:pathLst>
                <a:path w="6861301" h="3447542">
                  <a:moveTo>
                    <a:pt x="16891" y="0"/>
                  </a:moveTo>
                  <a:lnTo>
                    <a:pt x="6844411" y="0"/>
                  </a:lnTo>
                  <a:cubicBezTo>
                    <a:pt x="6853809" y="0"/>
                    <a:pt x="6861301" y="7620"/>
                    <a:pt x="6861301" y="16891"/>
                  </a:cubicBezTo>
                  <a:lnTo>
                    <a:pt x="6861301" y="3430651"/>
                  </a:lnTo>
                  <a:cubicBezTo>
                    <a:pt x="6861301" y="3440049"/>
                    <a:pt x="6853682" y="3447542"/>
                    <a:pt x="6844411" y="3447542"/>
                  </a:cubicBezTo>
                  <a:lnTo>
                    <a:pt x="16891" y="3447542"/>
                  </a:lnTo>
                  <a:cubicBezTo>
                    <a:pt x="7493" y="3447542"/>
                    <a:pt x="0" y="3439922"/>
                    <a:pt x="0" y="34306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430651"/>
                  </a:lnTo>
                  <a:lnTo>
                    <a:pt x="16891" y="3430651"/>
                  </a:lnTo>
                  <a:lnTo>
                    <a:pt x="16891" y="3413760"/>
                  </a:lnTo>
                  <a:lnTo>
                    <a:pt x="6844411" y="3413760"/>
                  </a:lnTo>
                  <a:lnTo>
                    <a:pt x="6844411" y="3430651"/>
                  </a:lnTo>
                  <a:lnTo>
                    <a:pt x="6827520" y="3430651"/>
                  </a:lnTo>
                  <a:lnTo>
                    <a:pt x="6827520" y="16891"/>
                  </a:lnTo>
                  <a:lnTo>
                    <a:pt x="6844411" y="16891"/>
                  </a:lnTo>
                  <a:lnTo>
                    <a:pt x="68444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9A96E"/>
            </a:solidFill>
          </p:spPr>
        </p:sp>
      </p:grpSp>
      <p:grpSp>
        <p:nvGrpSpPr>
          <p:cNvPr id="23" name="Group 23"/>
          <p:cNvGrpSpPr/>
          <p:nvPr/>
        </p:nvGrpSpPr>
        <p:grpSpPr>
          <a:xfrm>
            <a:off x="6400800" y="2286000"/>
            <a:ext cx="5120640" cy="1280160"/>
            <a:chOff x="0" y="0"/>
            <a:chExt cx="6827520" cy="170688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6827520" cy="1706880"/>
            </a:xfrm>
            <a:custGeom>
              <a:avLst/>
              <a:gdLst/>
              <a:ahLst/>
              <a:cxnLst/>
              <a:rect l="l" t="t" r="r" b="b"/>
              <a:pathLst>
                <a:path w="6827520" h="1706880">
                  <a:moveTo>
                    <a:pt x="0" y="0"/>
                  </a:moveTo>
                  <a:lnTo>
                    <a:pt x="6827520" y="0"/>
                  </a:lnTo>
                  <a:lnTo>
                    <a:pt x="682752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940" b="-27940"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0" y="-9525"/>
              <a:ext cx="6827520" cy="17164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240"/>
                </a:lnSpc>
              </a:pPr>
              <a:r>
                <a:rPr lang="en-US" sz="5200" b="1">
                  <a:solidFill>
                    <a:srgbClr val="C9A96E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60%+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400800" y="3474720"/>
            <a:ext cx="5120640" cy="1097280"/>
            <a:chOff x="0" y="0"/>
            <a:chExt cx="6827520" cy="146304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6827520" cy="1463040"/>
            </a:xfrm>
            <a:custGeom>
              <a:avLst/>
              <a:gdLst/>
              <a:ahLst/>
              <a:cxnLst/>
              <a:rect l="l" t="t" r="r" b="b"/>
              <a:pathLst>
                <a:path w="6827520" h="1463040">
                  <a:moveTo>
                    <a:pt x="0" y="0"/>
                  </a:moveTo>
                  <a:lnTo>
                    <a:pt x="6827520" y="0"/>
                  </a:lnTo>
                  <a:lnTo>
                    <a:pt x="68275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0930" b="-40930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-47625"/>
              <a:ext cx="6827520" cy="15106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39"/>
                </a:lnSpc>
              </a:pPr>
              <a:r>
                <a:rPr lang="en-US" sz="2199">
                  <a:solidFill>
                    <a:srgbClr val="F5E6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of domestic abuse cases</a:t>
              </a:r>
            </a:p>
            <a:p>
              <a:pPr algn="ctr">
                <a:lnSpc>
                  <a:spcPts val="2639"/>
                </a:lnSpc>
              </a:pPr>
              <a:r>
                <a:rPr lang="en-US" sz="2199">
                  <a:solidFill>
                    <a:srgbClr val="F5E6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involve psychological manipulation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2057383" y="2181863"/>
            <a:ext cx="5146043" cy="2585723"/>
            <a:chOff x="0" y="0"/>
            <a:chExt cx="6861391" cy="3447631"/>
          </a:xfrm>
        </p:grpSpPr>
        <p:sp>
          <p:nvSpPr>
            <p:cNvPr id="30" name="Freeform 30"/>
            <p:cNvSpPr/>
            <p:nvPr/>
          </p:nvSpPr>
          <p:spPr>
            <a:xfrm>
              <a:off x="16891" y="16891"/>
              <a:ext cx="6827520" cy="3413760"/>
            </a:xfrm>
            <a:custGeom>
              <a:avLst/>
              <a:gdLst/>
              <a:ahLst/>
              <a:cxnLst/>
              <a:rect l="l" t="t" r="r" b="b"/>
              <a:pathLst>
                <a:path w="6827520" h="3413760">
                  <a:moveTo>
                    <a:pt x="0" y="0"/>
                  </a:moveTo>
                  <a:lnTo>
                    <a:pt x="6827520" y="0"/>
                  </a:lnTo>
                  <a:lnTo>
                    <a:pt x="6827520" y="3413760"/>
                  </a:lnTo>
                  <a:lnTo>
                    <a:pt x="0" y="3413760"/>
                  </a:lnTo>
                  <a:close/>
                </a:path>
              </a:pathLst>
            </a:custGeom>
            <a:solidFill>
              <a:srgbClr val="5A0D1E"/>
            </a:solidFill>
          </p:spPr>
        </p:sp>
        <p:sp>
          <p:nvSpPr>
            <p:cNvPr id="31" name="Freeform 31"/>
            <p:cNvSpPr/>
            <p:nvPr/>
          </p:nvSpPr>
          <p:spPr>
            <a:xfrm>
              <a:off x="0" y="0"/>
              <a:ext cx="6861301" cy="3447542"/>
            </a:xfrm>
            <a:custGeom>
              <a:avLst/>
              <a:gdLst/>
              <a:ahLst/>
              <a:cxnLst/>
              <a:rect l="l" t="t" r="r" b="b"/>
              <a:pathLst>
                <a:path w="6861301" h="3447542">
                  <a:moveTo>
                    <a:pt x="16891" y="0"/>
                  </a:moveTo>
                  <a:lnTo>
                    <a:pt x="6844411" y="0"/>
                  </a:lnTo>
                  <a:cubicBezTo>
                    <a:pt x="6853809" y="0"/>
                    <a:pt x="6861301" y="7620"/>
                    <a:pt x="6861301" y="16891"/>
                  </a:cubicBezTo>
                  <a:lnTo>
                    <a:pt x="6861301" y="3430651"/>
                  </a:lnTo>
                  <a:cubicBezTo>
                    <a:pt x="6861301" y="3440049"/>
                    <a:pt x="6853682" y="3447542"/>
                    <a:pt x="6844411" y="3447542"/>
                  </a:cubicBezTo>
                  <a:lnTo>
                    <a:pt x="16891" y="3447542"/>
                  </a:lnTo>
                  <a:cubicBezTo>
                    <a:pt x="7493" y="3447542"/>
                    <a:pt x="0" y="3439922"/>
                    <a:pt x="0" y="34306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430651"/>
                  </a:lnTo>
                  <a:lnTo>
                    <a:pt x="16891" y="3430651"/>
                  </a:lnTo>
                  <a:lnTo>
                    <a:pt x="16891" y="3413760"/>
                  </a:lnTo>
                  <a:lnTo>
                    <a:pt x="6844411" y="3413760"/>
                  </a:lnTo>
                  <a:lnTo>
                    <a:pt x="6844411" y="3430651"/>
                  </a:lnTo>
                  <a:lnTo>
                    <a:pt x="6827520" y="3430651"/>
                  </a:lnTo>
                  <a:lnTo>
                    <a:pt x="6827520" y="16891"/>
                  </a:lnTo>
                  <a:lnTo>
                    <a:pt x="6844411" y="16891"/>
                  </a:lnTo>
                  <a:lnTo>
                    <a:pt x="68444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9A96E"/>
            </a:solidFill>
          </p:spPr>
        </p:sp>
      </p:grpSp>
      <p:grpSp>
        <p:nvGrpSpPr>
          <p:cNvPr id="32" name="Group 32"/>
          <p:cNvGrpSpPr/>
          <p:nvPr/>
        </p:nvGrpSpPr>
        <p:grpSpPr>
          <a:xfrm>
            <a:off x="12070080" y="2286000"/>
            <a:ext cx="5120640" cy="1280160"/>
            <a:chOff x="0" y="0"/>
            <a:chExt cx="6827520" cy="170688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6827520" cy="1706880"/>
            </a:xfrm>
            <a:custGeom>
              <a:avLst/>
              <a:gdLst/>
              <a:ahLst/>
              <a:cxnLst/>
              <a:rect l="l" t="t" r="r" b="b"/>
              <a:pathLst>
                <a:path w="6827520" h="1706880">
                  <a:moveTo>
                    <a:pt x="0" y="0"/>
                  </a:moveTo>
                  <a:lnTo>
                    <a:pt x="6827520" y="0"/>
                  </a:lnTo>
                  <a:lnTo>
                    <a:pt x="682752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940" b="-27940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-9525"/>
              <a:ext cx="6827520" cy="17164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240"/>
                </a:lnSpc>
              </a:pPr>
              <a:r>
                <a:rPr lang="en-US" sz="5200" b="1">
                  <a:solidFill>
                    <a:srgbClr val="C9A96E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$10B+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2070080" y="3474720"/>
            <a:ext cx="5120640" cy="1097280"/>
            <a:chOff x="0" y="0"/>
            <a:chExt cx="6827520" cy="146304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6827520" cy="1463040"/>
            </a:xfrm>
            <a:custGeom>
              <a:avLst/>
              <a:gdLst/>
              <a:ahLst/>
              <a:cxnLst/>
              <a:rect l="l" t="t" r="r" b="b"/>
              <a:pathLst>
                <a:path w="6827520" h="1463040">
                  <a:moveTo>
                    <a:pt x="0" y="0"/>
                  </a:moveTo>
                  <a:lnTo>
                    <a:pt x="6827520" y="0"/>
                  </a:lnTo>
                  <a:lnTo>
                    <a:pt x="68275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0930" b="-40930"/>
              </a:stretch>
            </a:blipFill>
          </p:spPr>
        </p:sp>
        <p:sp>
          <p:nvSpPr>
            <p:cNvPr id="37" name="TextBox 37"/>
            <p:cNvSpPr txBox="1"/>
            <p:nvPr/>
          </p:nvSpPr>
          <p:spPr>
            <a:xfrm>
              <a:off x="0" y="-47625"/>
              <a:ext cx="6827520" cy="15106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39"/>
                </a:lnSpc>
              </a:pPr>
              <a:r>
                <a:rPr lang="en-US" sz="2199">
                  <a:solidFill>
                    <a:srgbClr val="F5E6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Lost to online scams using</a:t>
              </a:r>
            </a:p>
            <a:p>
              <a:pPr algn="ctr">
                <a:lnSpc>
                  <a:spcPts val="2639"/>
                </a:lnSpc>
              </a:pPr>
              <a:r>
                <a:rPr lang="en-US" sz="2199">
                  <a:solidFill>
                    <a:srgbClr val="F5E6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manipulative language annually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548640" y="5212080"/>
            <a:ext cx="822960" cy="914400"/>
            <a:chOff x="0" y="0"/>
            <a:chExt cx="1097280" cy="121920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097280" cy="1219200"/>
            </a:xfrm>
            <a:custGeom>
              <a:avLst/>
              <a:gdLst/>
              <a:ahLst/>
              <a:cxnLst/>
              <a:rect l="l" t="t" r="r" b="b"/>
              <a:pathLst>
                <a:path w="1097280" h="1219200">
                  <a:moveTo>
                    <a:pt x="0" y="0"/>
                  </a:moveTo>
                  <a:lnTo>
                    <a:pt x="1097280" y="0"/>
                  </a:lnTo>
                  <a:lnTo>
                    <a:pt x="10972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2559" r="-92559"/>
              </a:stretch>
            </a:blipFill>
          </p:spPr>
        </p:sp>
        <p:sp>
          <p:nvSpPr>
            <p:cNvPr id="40" name="TextBox 40"/>
            <p:cNvSpPr txBox="1"/>
            <p:nvPr/>
          </p:nvSpPr>
          <p:spPr>
            <a:xfrm>
              <a:off x="0" y="-47625"/>
              <a:ext cx="1097280" cy="12668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💬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499616" y="5285232"/>
            <a:ext cx="16459200" cy="877824"/>
            <a:chOff x="0" y="0"/>
            <a:chExt cx="21945600" cy="1170432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21945600" cy="1170432"/>
            </a:xfrm>
            <a:custGeom>
              <a:avLst/>
              <a:gdLst/>
              <a:ahLst/>
              <a:cxnLst/>
              <a:rect l="l" t="t" r="r" b="b"/>
              <a:pathLst>
                <a:path w="21945600" h="1170432">
                  <a:moveTo>
                    <a:pt x="0" y="0"/>
                  </a:moveTo>
                  <a:lnTo>
                    <a:pt x="21945600" y="0"/>
                  </a:lnTo>
                  <a:lnTo>
                    <a:pt x="2194560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15344" b="-315344"/>
              </a:stretch>
            </a:blipFill>
          </p:spPr>
        </p:sp>
        <p:sp>
          <p:nvSpPr>
            <p:cNvPr id="43" name="TextBox 43"/>
            <p:cNvSpPr txBox="1"/>
            <p:nvPr/>
          </p:nvSpPr>
          <p:spPr>
            <a:xfrm>
              <a:off x="0" y="-47625"/>
              <a:ext cx="21945600" cy="121805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B0B0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Online grooming, scams, and emotional abuse increasingly use subtle text-based manipulation that's hard to detect manually.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548640" y="6382512"/>
            <a:ext cx="822960" cy="914400"/>
            <a:chOff x="0" y="0"/>
            <a:chExt cx="1097280" cy="12192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097280" cy="1219200"/>
            </a:xfrm>
            <a:custGeom>
              <a:avLst/>
              <a:gdLst/>
              <a:ahLst/>
              <a:cxnLst/>
              <a:rect l="l" t="t" r="r" b="b"/>
              <a:pathLst>
                <a:path w="1097280" h="1219200">
                  <a:moveTo>
                    <a:pt x="0" y="0"/>
                  </a:moveTo>
                  <a:lnTo>
                    <a:pt x="1097280" y="0"/>
                  </a:lnTo>
                  <a:lnTo>
                    <a:pt x="10972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2559" r="-92559"/>
              </a:stretch>
            </a:blipFill>
          </p:spPr>
        </p:sp>
        <p:sp>
          <p:nvSpPr>
            <p:cNvPr id="46" name="TextBox 46"/>
            <p:cNvSpPr txBox="1"/>
            <p:nvPr/>
          </p:nvSpPr>
          <p:spPr>
            <a:xfrm>
              <a:off x="0" y="-47625"/>
              <a:ext cx="1097280" cy="12668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🛡️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499616" y="6455664"/>
            <a:ext cx="16459200" cy="877824"/>
            <a:chOff x="0" y="0"/>
            <a:chExt cx="21945600" cy="1170432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21945600" cy="1170432"/>
            </a:xfrm>
            <a:custGeom>
              <a:avLst/>
              <a:gdLst/>
              <a:ahLst/>
              <a:cxnLst/>
              <a:rect l="l" t="t" r="r" b="b"/>
              <a:pathLst>
                <a:path w="21945600" h="1170432">
                  <a:moveTo>
                    <a:pt x="0" y="0"/>
                  </a:moveTo>
                  <a:lnTo>
                    <a:pt x="21945600" y="0"/>
                  </a:lnTo>
                  <a:lnTo>
                    <a:pt x="2194560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15344" b="-315344"/>
              </a:stretch>
            </a:blipFill>
          </p:spPr>
        </p:sp>
        <p:sp>
          <p:nvSpPr>
            <p:cNvPr id="49" name="TextBox 49"/>
            <p:cNvSpPr txBox="1"/>
            <p:nvPr/>
          </p:nvSpPr>
          <p:spPr>
            <a:xfrm>
              <a:off x="0" y="-47625"/>
              <a:ext cx="21945600" cy="121805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B0B0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Mental health platforms and content moderators need AI tools to flag manipulative conversations in real time.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548640" y="7552944"/>
            <a:ext cx="822960" cy="914400"/>
            <a:chOff x="0" y="0"/>
            <a:chExt cx="1097280" cy="121920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1097280" cy="1219200"/>
            </a:xfrm>
            <a:custGeom>
              <a:avLst/>
              <a:gdLst/>
              <a:ahLst/>
              <a:cxnLst/>
              <a:rect l="l" t="t" r="r" b="b"/>
              <a:pathLst>
                <a:path w="1097280" h="1219200">
                  <a:moveTo>
                    <a:pt x="0" y="0"/>
                  </a:moveTo>
                  <a:lnTo>
                    <a:pt x="1097280" y="0"/>
                  </a:lnTo>
                  <a:lnTo>
                    <a:pt x="10972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2559" r="-92559"/>
              </a:stretch>
            </a:blipFill>
          </p:spPr>
        </p:sp>
        <p:sp>
          <p:nvSpPr>
            <p:cNvPr id="52" name="TextBox 52"/>
            <p:cNvSpPr txBox="1"/>
            <p:nvPr/>
          </p:nvSpPr>
          <p:spPr>
            <a:xfrm>
              <a:off x="0" y="-47625"/>
              <a:ext cx="1097280" cy="12668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🔍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1499616" y="7626096"/>
            <a:ext cx="16459200" cy="877824"/>
            <a:chOff x="0" y="0"/>
            <a:chExt cx="21945600" cy="1170432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21945600" cy="1170432"/>
            </a:xfrm>
            <a:custGeom>
              <a:avLst/>
              <a:gdLst/>
              <a:ahLst/>
              <a:cxnLst/>
              <a:rect l="l" t="t" r="r" b="b"/>
              <a:pathLst>
                <a:path w="21945600" h="1170432">
                  <a:moveTo>
                    <a:pt x="0" y="0"/>
                  </a:moveTo>
                  <a:lnTo>
                    <a:pt x="21945600" y="0"/>
                  </a:lnTo>
                  <a:lnTo>
                    <a:pt x="2194560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15344" b="-315344"/>
              </a:stretch>
            </a:blipFill>
          </p:spPr>
        </p:sp>
        <p:sp>
          <p:nvSpPr>
            <p:cNvPr id="55" name="TextBox 55"/>
            <p:cNvSpPr txBox="1"/>
            <p:nvPr/>
          </p:nvSpPr>
          <p:spPr>
            <a:xfrm>
              <a:off x="0" y="-47625"/>
              <a:ext cx="21945600" cy="121805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B0B0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NLP advances now allow fine-grained classification of manipulation types — enabling more targeted interventions.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548640" y="8723376"/>
            <a:ext cx="822960" cy="914400"/>
            <a:chOff x="0" y="0"/>
            <a:chExt cx="1097280" cy="1219200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1097280" cy="1219200"/>
            </a:xfrm>
            <a:custGeom>
              <a:avLst/>
              <a:gdLst/>
              <a:ahLst/>
              <a:cxnLst/>
              <a:rect l="l" t="t" r="r" b="b"/>
              <a:pathLst>
                <a:path w="1097280" h="1219200">
                  <a:moveTo>
                    <a:pt x="0" y="0"/>
                  </a:moveTo>
                  <a:lnTo>
                    <a:pt x="1097280" y="0"/>
                  </a:lnTo>
                  <a:lnTo>
                    <a:pt x="10972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2559" r="-92559"/>
              </a:stretch>
            </a:blipFill>
          </p:spPr>
        </p:sp>
        <p:sp>
          <p:nvSpPr>
            <p:cNvPr id="58" name="TextBox 58"/>
            <p:cNvSpPr txBox="1"/>
            <p:nvPr/>
          </p:nvSpPr>
          <p:spPr>
            <a:xfrm>
              <a:off x="0" y="-47625"/>
              <a:ext cx="1097280" cy="12668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📱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1499616" y="8796528"/>
            <a:ext cx="16459200" cy="877824"/>
            <a:chOff x="0" y="0"/>
            <a:chExt cx="21945600" cy="1170432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21945600" cy="1170432"/>
            </a:xfrm>
            <a:custGeom>
              <a:avLst/>
              <a:gdLst/>
              <a:ahLst/>
              <a:cxnLst/>
              <a:rect l="l" t="t" r="r" b="b"/>
              <a:pathLst>
                <a:path w="21945600" h="1170432">
                  <a:moveTo>
                    <a:pt x="0" y="0"/>
                  </a:moveTo>
                  <a:lnTo>
                    <a:pt x="21945600" y="0"/>
                  </a:lnTo>
                  <a:lnTo>
                    <a:pt x="2194560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15344" b="-315344"/>
              </a:stretch>
            </a:blipFill>
          </p:spPr>
        </p:sp>
        <p:sp>
          <p:nvSpPr>
            <p:cNvPr id="61" name="TextBox 61"/>
            <p:cNvSpPr txBox="1"/>
            <p:nvPr/>
          </p:nvSpPr>
          <p:spPr>
            <a:xfrm>
              <a:off x="0" y="-47625"/>
              <a:ext cx="21945600" cy="121805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B0B0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With billions of daily messages, automated detection is essential for digital safety at scale.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18313403" cy="1854203"/>
            <a:chOff x="0" y="0"/>
            <a:chExt cx="24417871" cy="2472271"/>
          </a:xfrm>
        </p:grpSpPr>
        <p:sp>
          <p:nvSpPr>
            <p:cNvPr id="3" name="Freeform 3"/>
            <p:cNvSpPr/>
            <p:nvPr/>
          </p:nvSpPr>
          <p:spPr>
            <a:xfrm>
              <a:off x="16891" y="16891"/>
              <a:ext cx="24383999" cy="2438400"/>
            </a:xfrm>
            <a:custGeom>
              <a:avLst/>
              <a:gdLst/>
              <a:ahLst/>
              <a:cxnLst/>
              <a:rect l="l" t="t" r="r" b="b"/>
              <a:pathLst>
                <a:path w="24383999" h="2438400">
                  <a:moveTo>
                    <a:pt x="0" y="0"/>
                  </a:moveTo>
                  <a:lnTo>
                    <a:pt x="24383999" y="0"/>
                  </a:lnTo>
                  <a:lnTo>
                    <a:pt x="24383999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5A0D1E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24417782" cy="2472182"/>
            </a:xfrm>
            <a:custGeom>
              <a:avLst/>
              <a:gdLst/>
              <a:ahLst/>
              <a:cxnLst/>
              <a:rect l="l" t="t" r="r" b="b"/>
              <a:pathLst>
                <a:path w="24417782" h="24721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455291"/>
                  </a:lnTo>
                  <a:cubicBezTo>
                    <a:pt x="24417782" y="2464689"/>
                    <a:pt x="24410163" y="2472182"/>
                    <a:pt x="24400890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24400890" y="2438400"/>
                  </a:lnTo>
                  <a:lnTo>
                    <a:pt x="24400890" y="2455291"/>
                  </a:lnTo>
                  <a:lnTo>
                    <a:pt x="24384000" y="245529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5A0D1E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731520" y="146304"/>
            <a:ext cx="16459200" cy="1097280"/>
            <a:chOff x="0" y="0"/>
            <a:chExt cx="21945600" cy="146304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945600" cy="1463040"/>
            </a:xfrm>
            <a:custGeom>
              <a:avLst/>
              <a:gdLst/>
              <a:ahLst/>
              <a:cxnLst/>
              <a:rect l="l" t="t" r="r" b="b"/>
              <a:pathLst>
                <a:path w="21945600" h="146304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2275" b="-242275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21945600" cy="14725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240"/>
                </a:lnSpc>
              </a:pPr>
              <a:r>
                <a:rPr lang="en-US" sz="5200" b="1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Dataset Overview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6093440" y="146304"/>
            <a:ext cx="1463040" cy="1097280"/>
            <a:chOff x="0" y="0"/>
            <a:chExt cx="1950720" cy="14630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950720" cy="1463040"/>
            </a:xfrm>
            <a:custGeom>
              <a:avLst/>
              <a:gdLst/>
              <a:ahLst/>
              <a:cxnLst/>
              <a:rect l="l" t="t" r="r" b="b"/>
              <a:pathLst>
                <a:path w="1950720" h="1463040">
                  <a:moveTo>
                    <a:pt x="0" y="0"/>
                  </a:moveTo>
                  <a:lnTo>
                    <a:pt x="1950720" y="0"/>
                  </a:lnTo>
                  <a:lnTo>
                    <a:pt x="19507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r="-46227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1950720" cy="14820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4800"/>
                </a:lnSpc>
              </a:pPr>
              <a:r>
                <a:rPr lang="en-US" sz="4000" b="1">
                  <a:solidFill>
                    <a:srgbClr val="C9A96E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03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27383" y="2181863"/>
            <a:ext cx="4780283" cy="1634747"/>
            <a:chOff x="0" y="0"/>
            <a:chExt cx="6373711" cy="2179663"/>
          </a:xfrm>
        </p:grpSpPr>
        <p:sp>
          <p:nvSpPr>
            <p:cNvPr id="12" name="Freeform 12"/>
            <p:cNvSpPr/>
            <p:nvPr/>
          </p:nvSpPr>
          <p:spPr>
            <a:xfrm>
              <a:off x="16891" y="16891"/>
              <a:ext cx="6339840" cy="2145792"/>
            </a:xfrm>
            <a:custGeom>
              <a:avLst/>
              <a:gdLst/>
              <a:ahLst/>
              <a:cxnLst/>
              <a:rect l="l" t="t" r="r" b="b"/>
              <a:pathLst>
                <a:path w="6339840" h="2145792">
                  <a:moveTo>
                    <a:pt x="0" y="0"/>
                  </a:moveTo>
                  <a:lnTo>
                    <a:pt x="6339840" y="0"/>
                  </a:lnTo>
                  <a:lnTo>
                    <a:pt x="6339840" y="2145792"/>
                  </a:lnTo>
                  <a:lnTo>
                    <a:pt x="0" y="2145792"/>
                  </a:ln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0" y="0"/>
              <a:ext cx="6373622" cy="2179574"/>
            </a:xfrm>
            <a:custGeom>
              <a:avLst/>
              <a:gdLst/>
              <a:ahLst/>
              <a:cxnLst/>
              <a:rect l="l" t="t" r="r" b="b"/>
              <a:pathLst>
                <a:path w="6373622" h="2179574">
                  <a:moveTo>
                    <a:pt x="16891" y="0"/>
                  </a:moveTo>
                  <a:lnTo>
                    <a:pt x="6356731" y="0"/>
                  </a:lnTo>
                  <a:cubicBezTo>
                    <a:pt x="6366129" y="0"/>
                    <a:pt x="6373622" y="7620"/>
                    <a:pt x="6373622" y="16891"/>
                  </a:cubicBezTo>
                  <a:lnTo>
                    <a:pt x="6373622" y="2162683"/>
                  </a:lnTo>
                  <a:cubicBezTo>
                    <a:pt x="6373622" y="2172081"/>
                    <a:pt x="6366002" y="2179574"/>
                    <a:pt x="6356731" y="2179574"/>
                  </a:cubicBezTo>
                  <a:lnTo>
                    <a:pt x="16891" y="2179574"/>
                  </a:lnTo>
                  <a:cubicBezTo>
                    <a:pt x="7493" y="2179574"/>
                    <a:pt x="0" y="2171954"/>
                    <a:pt x="0" y="21626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62683"/>
                  </a:lnTo>
                  <a:lnTo>
                    <a:pt x="16891" y="2162683"/>
                  </a:lnTo>
                  <a:lnTo>
                    <a:pt x="16891" y="2145792"/>
                  </a:lnTo>
                  <a:lnTo>
                    <a:pt x="6356731" y="2145792"/>
                  </a:lnTo>
                  <a:lnTo>
                    <a:pt x="6356731" y="2162683"/>
                  </a:lnTo>
                  <a:lnTo>
                    <a:pt x="6339840" y="2162683"/>
                  </a:lnTo>
                  <a:lnTo>
                    <a:pt x="6339840" y="16891"/>
                  </a:lnTo>
                  <a:lnTo>
                    <a:pt x="6356731" y="16891"/>
                  </a:lnTo>
                  <a:lnTo>
                    <a:pt x="63567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B1C2E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640080" y="2286000"/>
            <a:ext cx="4754880" cy="768096"/>
            <a:chOff x="0" y="0"/>
            <a:chExt cx="6339840" cy="102412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339840" cy="1024128"/>
            </a:xfrm>
            <a:custGeom>
              <a:avLst/>
              <a:gdLst/>
              <a:ahLst/>
              <a:cxnLst/>
              <a:rect l="l" t="t" r="r" b="b"/>
              <a:pathLst>
                <a:path w="6339840" h="1024128">
                  <a:moveTo>
                    <a:pt x="0" y="0"/>
                  </a:moveTo>
                  <a:lnTo>
                    <a:pt x="6339840" y="0"/>
                  </a:lnTo>
                  <a:lnTo>
                    <a:pt x="633984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0621" b="-70621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19050"/>
              <a:ext cx="6339840" cy="104317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800"/>
                </a:lnSpc>
              </a:pPr>
              <a:r>
                <a:rPr lang="en-US" sz="4000" b="1">
                  <a:solidFill>
                    <a:srgbClr val="C9A96E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10,000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40080" y="3054096"/>
            <a:ext cx="4754880" cy="640080"/>
            <a:chOff x="0" y="0"/>
            <a:chExt cx="6339840" cy="85344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339840" cy="853440"/>
            </a:xfrm>
            <a:custGeom>
              <a:avLst/>
              <a:gdLst/>
              <a:ahLst/>
              <a:cxnLst/>
              <a:rect l="l" t="t" r="r" b="b"/>
              <a:pathLst>
                <a:path w="6339840" h="853440">
                  <a:moveTo>
                    <a:pt x="0" y="0"/>
                  </a:moveTo>
                  <a:lnTo>
                    <a:pt x="6339840" y="0"/>
                  </a:lnTo>
                  <a:lnTo>
                    <a:pt x="63398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4745" b="-94745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57150"/>
              <a:ext cx="6339840" cy="9105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19"/>
                </a:lnSpc>
              </a:pPr>
              <a:r>
                <a:rPr lang="en-US" sz="2599">
                  <a:solidFill>
                    <a:srgbClr val="B0B0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Conversations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27383" y="4102103"/>
            <a:ext cx="4780283" cy="1634747"/>
            <a:chOff x="0" y="0"/>
            <a:chExt cx="6373711" cy="2179663"/>
          </a:xfrm>
        </p:grpSpPr>
        <p:sp>
          <p:nvSpPr>
            <p:cNvPr id="21" name="Freeform 21"/>
            <p:cNvSpPr/>
            <p:nvPr/>
          </p:nvSpPr>
          <p:spPr>
            <a:xfrm>
              <a:off x="16891" y="16891"/>
              <a:ext cx="6339840" cy="2145792"/>
            </a:xfrm>
            <a:custGeom>
              <a:avLst/>
              <a:gdLst/>
              <a:ahLst/>
              <a:cxnLst/>
              <a:rect l="l" t="t" r="r" b="b"/>
              <a:pathLst>
                <a:path w="6339840" h="2145792">
                  <a:moveTo>
                    <a:pt x="0" y="0"/>
                  </a:moveTo>
                  <a:lnTo>
                    <a:pt x="6339840" y="0"/>
                  </a:lnTo>
                  <a:lnTo>
                    <a:pt x="6339840" y="2145792"/>
                  </a:lnTo>
                  <a:lnTo>
                    <a:pt x="0" y="2145792"/>
                  </a:ln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22" name="Freeform 22"/>
            <p:cNvSpPr/>
            <p:nvPr/>
          </p:nvSpPr>
          <p:spPr>
            <a:xfrm>
              <a:off x="0" y="0"/>
              <a:ext cx="6373622" cy="2179574"/>
            </a:xfrm>
            <a:custGeom>
              <a:avLst/>
              <a:gdLst/>
              <a:ahLst/>
              <a:cxnLst/>
              <a:rect l="l" t="t" r="r" b="b"/>
              <a:pathLst>
                <a:path w="6373622" h="2179574">
                  <a:moveTo>
                    <a:pt x="16891" y="0"/>
                  </a:moveTo>
                  <a:lnTo>
                    <a:pt x="6356731" y="0"/>
                  </a:lnTo>
                  <a:cubicBezTo>
                    <a:pt x="6366129" y="0"/>
                    <a:pt x="6373622" y="7620"/>
                    <a:pt x="6373622" y="16891"/>
                  </a:cubicBezTo>
                  <a:lnTo>
                    <a:pt x="6373622" y="2162683"/>
                  </a:lnTo>
                  <a:cubicBezTo>
                    <a:pt x="6373622" y="2172081"/>
                    <a:pt x="6366002" y="2179574"/>
                    <a:pt x="6356731" y="2179574"/>
                  </a:cubicBezTo>
                  <a:lnTo>
                    <a:pt x="16891" y="2179574"/>
                  </a:lnTo>
                  <a:cubicBezTo>
                    <a:pt x="7493" y="2179574"/>
                    <a:pt x="0" y="2171954"/>
                    <a:pt x="0" y="21626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62683"/>
                  </a:lnTo>
                  <a:lnTo>
                    <a:pt x="16891" y="2162683"/>
                  </a:lnTo>
                  <a:lnTo>
                    <a:pt x="16891" y="2145792"/>
                  </a:lnTo>
                  <a:lnTo>
                    <a:pt x="6356731" y="2145792"/>
                  </a:lnTo>
                  <a:lnTo>
                    <a:pt x="6356731" y="2162683"/>
                  </a:lnTo>
                  <a:lnTo>
                    <a:pt x="6339840" y="2162683"/>
                  </a:lnTo>
                  <a:lnTo>
                    <a:pt x="6339840" y="16891"/>
                  </a:lnTo>
                  <a:lnTo>
                    <a:pt x="6356731" y="16891"/>
                  </a:lnTo>
                  <a:lnTo>
                    <a:pt x="63567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B1C2E"/>
            </a:solidFill>
          </p:spPr>
        </p:sp>
      </p:grpSp>
      <p:grpSp>
        <p:nvGrpSpPr>
          <p:cNvPr id="23" name="Group 23"/>
          <p:cNvGrpSpPr/>
          <p:nvPr/>
        </p:nvGrpSpPr>
        <p:grpSpPr>
          <a:xfrm>
            <a:off x="640080" y="4206240"/>
            <a:ext cx="4754880" cy="768096"/>
            <a:chOff x="0" y="0"/>
            <a:chExt cx="6339840" cy="1024128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6339840" cy="1024128"/>
            </a:xfrm>
            <a:custGeom>
              <a:avLst/>
              <a:gdLst/>
              <a:ahLst/>
              <a:cxnLst/>
              <a:rect l="l" t="t" r="r" b="b"/>
              <a:pathLst>
                <a:path w="6339840" h="1024128">
                  <a:moveTo>
                    <a:pt x="0" y="0"/>
                  </a:moveTo>
                  <a:lnTo>
                    <a:pt x="6339840" y="0"/>
                  </a:lnTo>
                  <a:lnTo>
                    <a:pt x="633984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0621" b="-70621"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0" y="-19050"/>
              <a:ext cx="6339840" cy="104317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800"/>
                </a:lnSpc>
              </a:pPr>
              <a:r>
                <a:rPr lang="en-US" sz="4000" b="1">
                  <a:solidFill>
                    <a:srgbClr val="C9A96E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7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40080" y="4974336"/>
            <a:ext cx="4754880" cy="640080"/>
            <a:chOff x="0" y="0"/>
            <a:chExt cx="6339840" cy="85344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6339840" cy="853440"/>
            </a:xfrm>
            <a:custGeom>
              <a:avLst/>
              <a:gdLst/>
              <a:ahLst/>
              <a:cxnLst/>
              <a:rect l="l" t="t" r="r" b="b"/>
              <a:pathLst>
                <a:path w="6339840" h="853440">
                  <a:moveTo>
                    <a:pt x="0" y="0"/>
                  </a:moveTo>
                  <a:lnTo>
                    <a:pt x="6339840" y="0"/>
                  </a:lnTo>
                  <a:lnTo>
                    <a:pt x="63398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4745" b="-94745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-57150"/>
              <a:ext cx="6339840" cy="9105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19"/>
                </a:lnSpc>
              </a:pPr>
              <a:r>
                <a:rPr lang="en-US" sz="2599">
                  <a:solidFill>
                    <a:srgbClr val="B0B0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Manipulation Types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27383" y="6022343"/>
            <a:ext cx="4780283" cy="1634747"/>
            <a:chOff x="0" y="0"/>
            <a:chExt cx="6373711" cy="2179663"/>
          </a:xfrm>
        </p:grpSpPr>
        <p:sp>
          <p:nvSpPr>
            <p:cNvPr id="30" name="Freeform 30"/>
            <p:cNvSpPr/>
            <p:nvPr/>
          </p:nvSpPr>
          <p:spPr>
            <a:xfrm>
              <a:off x="16891" y="16891"/>
              <a:ext cx="6339840" cy="2145792"/>
            </a:xfrm>
            <a:custGeom>
              <a:avLst/>
              <a:gdLst/>
              <a:ahLst/>
              <a:cxnLst/>
              <a:rect l="l" t="t" r="r" b="b"/>
              <a:pathLst>
                <a:path w="6339840" h="2145792">
                  <a:moveTo>
                    <a:pt x="0" y="0"/>
                  </a:moveTo>
                  <a:lnTo>
                    <a:pt x="6339840" y="0"/>
                  </a:lnTo>
                  <a:lnTo>
                    <a:pt x="6339840" y="2145792"/>
                  </a:lnTo>
                  <a:lnTo>
                    <a:pt x="0" y="2145792"/>
                  </a:ln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31" name="Freeform 31"/>
            <p:cNvSpPr/>
            <p:nvPr/>
          </p:nvSpPr>
          <p:spPr>
            <a:xfrm>
              <a:off x="0" y="0"/>
              <a:ext cx="6373622" cy="2179574"/>
            </a:xfrm>
            <a:custGeom>
              <a:avLst/>
              <a:gdLst/>
              <a:ahLst/>
              <a:cxnLst/>
              <a:rect l="l" t="t" r="r" b="b"/>
              <a:pathLst>
                <a:path w="6373622" h="2179574">
                  <a:moveTo>
                    <a:pt x="16891" y="0"/>
                  </a:moveTo>
                  <a:lnTo>
                    <a:pt x="6356731" y="0"/>
                  </a:lnTo>
                  <a:cubicBezTo>
                    <a:pt x="6366129" y="0"/>
                    <a:pt x="6373622" y="7620"/>
                    <a:pt x="6373622" y="16891"/>
                  </a:cubicBezTo>
                  <a:lnTo>
                    <a:pt x="6373622" y="2162683"/>
                  </a:lnTo>
                  <a:cubicBezTo>
                    <a:pt x="6373622" y="2172081"/>
                    <a:pt x="6366002" y="2179574"/>
                    <a:pt x="6356731" y="2179574"/>
                  </a:cubicBezTo>
                  <a:lnTo>
                    <a:pt x="16891" y="2179574"/>
                  </a:lnTo>
                  <a:cubicBezTo>
                    <a:pt x="7493" y="2179574"/>
                    <a:pt x="0" y="2171954"/>
                    <a:pt x="0" y="21626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62683"/>
                  </a:lnTo>
                  <a:lnTo>
                    <a:pt x="16891" y="2162683"/>
                  </a:lnTo>
                  <a:lnTo>
                    <a:pt x="16891" y="2145792"/>
                  </a:lnTo>
                  <a:lnTo>
                    <a:pt x="6356731" y="2145792"/>
                  </a:lnTo>
                  <a:lnTo>
                    <a:pt x="6356731" y="2162683"/>
                  </a:lnTo>
                  <a:lnTo>
                    <a:pt x="6339840" y="2162683"/>
                  </a:lnTo>
                  <a:lnTo>
                    <a:pt x="6339840" y="16891"/>
                  </a:lnTo>
                  <a:lnTo>
                    <a:pt x="6356731" y="16891"/>
                  </a:lnTo>
                  <a:lnTo>
                    <a:pt x="63567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B1C2E"/>
            </a:solidFill>
          </p:spPr>
        </p:sp>
      </p:grpSp>
      <p:grpSp>
        <p:nvGrpSpPr>
          <p:cNvPr id="32" name="Group 32"/>
          <p:cNvGrpSpPr/>
          <p:nvPr/>
        </p:nvGrpSpPr>
        <p:grpSpPr>
          <a:xfrm>
            <a:off x="640080" y="6126480"/>
            <a:ext cx="4754880" cy="768096"/>
            <a:chOff x="0" y="0"/>
            <a:chExt cx="6339840" cy="1024128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6339840" cy="1024128"/>
            </a:xfrm>
            <a:custGeom>
              <a:avLst/>
              <a:gdLst/>
              <a:ahLst/>
              <a:cxnLst/>
              <a:rect l="l" t="t" r="r" b="b"/>
              <a:pathLst>
                <a:path w="6339840" h="1024128">
                  <a:moveTo>
                    <a:pt x="0" y="0"/>
                  </a:moveTo>
                  <a:lnTo>
                    <a:pt x="6339840" y="0"/>
                  </a:lnTo>
                  <a:lnTo>
                    <a:pt x="633984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0621" b="-70621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-19050"/>
              <a:ext cx="6339840" cy="104317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800"/>
                </a:lnSpc>
              </a:pPr>
              <a:r>
                <a:rPr lang="en-US" sz="4000" b="1">
                  <a:solidFill>
                    <a:srgbClr val="C9A96E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4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40080" y="6894576"/>
            <a:ext cx="4754880" cy="640080"/>
            <a:chOff x="0" y="0"/>
            <a:chExt cx="6339840" cy="85344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6339840" cy="853440"/>
            </a:xfrm>
            <a:custGeom>
              <a:avLst/>
              <a:gdLst/>
              <a:ahLst/>
              <a:cxnLst/>
              <a:rect l="l" t="t" r="r" b="b"/>
              <a:pathLst>
                <a:path w="6339840" h="853440">
                  <a:moveTo>
                    <a:pt x="0" y="0"/>
                  </a:moveTo>
                  <a:lnTo>
                    <a:pt x="6339840" y="0"/>
                  </a:lnTo>
                  <a:lnTo>
                    <a:pt x="63398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4745" b="-94745"/>
              </a:stretch>
            </a:blipFill>
          </p:spPr>
        </p:sp>
        <p:sp>
          <p:nvSpPr>
            <p:cNvPr id="37" name="TextBox 37"/>
            <p:cNvSpPr txBox="1"/>
            <p:nvPr/>
          </p:nvSpPr>
          <p:spPr>
            <a:xfrm>
              <a:off x="0" y="-57150"/>
              <a:ext cx="6339840" cy="9105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19"/>
                </a:lnSpc>
              </a:pPr>
              <a:r>
                <a:rPr lang="en-US" sz="2599">
                  <a:solidFill>
                    <a:srgbClr val="B0B0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Context Types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27383" y="7942583"/>
            <a:ext cx="4780283" cy="1634747"/>
            <a:chOff x="0" y="0"/>
            <a:chExt cx="6373711" cy="2179663"/>
          </a:xfrm>
        </p:grpSpPr>
        <p:sp>
          <p:nvSpPr>
            <p:cNvPr id="39" name="Freeform 39"/>
            <p:cNvSpPr/>
            <p:nvPr/>
          </p:nvSpPr>
          <p:spPr>
            <a:xfrm>
              <a:off x="16891" y="16891"/>
              <a:ext cx="6339840" cy="2145792"/>
            </a:xfrm>
            <a:custGeom>
              <a:avLst/>
              <a:gdLst/>
              <a:ahLst/>
              <a:cxnLst/>
              <a:rect l="l" t="t" r="r" b="b"/>
              <a:pathLst>
                <a:path w="6339840" h="2145792">
                  <a:moveTo>
                    <a:pt x="0" y="0"/>
                  </a:moveTo>
                  <a:lnTo>
                    <a:pt x="6339840" y="0"/>
                  </a:lnTo>
                  <a:lnTo>
                    <a:pt x="6339840" y="2145792"/>
                  </a:lnTo>
                  <a:lnTo>
                    <a:pt x="0" y="2145792"/>
                  </a:ln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40" name="Freeform 40"/>
            <p:cNvSpPr/>
            <p:nvPr/>
          </p:nvSpPr>
          <p:spPr>
            <a:xfrm>
              <a:off x="0" y="0"/>
              <a:ext cx="6373622" cy="2179574"/>
            </a:xfrm>
            <a:custGeom>
              <a:avLst/>
              <a:gdLst/>
              <a:ahLst/>
              <a:cxnLst/>
              <a:rect l="l" t="t" r="r" b="b"/>
              <a:pathLst>
                <a:path w="6373622" h="2179574">
                  <a:moveTo>
                    <a:pt x="16891" y="0"/>
                  </a:moveTo>
                  <a:lnTo>
                    <a:pt x="6356731" y="0"/>
                  </a:lnTo>
                  <a:cubicBezTo>
                    <a:pt x="6366129" y="0"/>
                    <a:pt x="6373622" y="7620"/>
                    <a:pt x="6373622" y="16891"/>
                  </a:cubicBezTo>
                  <a:lnTo>
                    <a:pt x="6373622" y="2162683"/>
                  </a:lnTo>
                  <a:cubicBezTo>
                    <a:pt x="6373622" y="2172081"/>
                    <a:pt x="6366002" y="2179574"/>
                    <a:pt x="6356731" y="2179574"/>
                  </a:cubicBezTo>
                  <a:lnTo>
                    <a:pt x="16891" y="2179574"/>
                  </a:lnTo>
                  <a:cubicBezTo>
                    <a:pt x="7493" y="2179574"/>
                    <a:pt x="0" y="2171954"/>
                    <a:pt x="0" y="21626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62683"/>
                  </a:lnTo>
                  <a:lnTo>
                    <a:pt x="16891" y="2162683"/>
                  </a:lnTo>
                  <a:lnTo>
                    <a:pt x="16891" y="2145792"/>
                  </a:lnTo>
                  <a:lnTo>
                    <a:pt x="6356731" y="2145792"/>
                  </a:lnTo>
                  <a:lnTo>
                    <a:pt x="6356731" y="2162683"/>
                  </a:lnTo>
                  <a:lnTo>
                    <a:pt x="6339840" y="2162683"/>
                  </a:lnTo>
                  <a:lnTo>
                    <a:pt x="6339840" y="16891"/>
                  </a:lnTo>
                  <a:lnTo>
                    <a:pt x="6356731" y="16891"/>
                  </a:lnTo>
                  <a:lnTo>
                    <a:pt x="63567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B1C2E"/>
            </a:solidFill>
          </p:spPr>
        </p:sp>
      </p:grpSp>
      <p:grpSp>
        <p:nvGrpSpPr>
          <p:cNvPr id="41" name="Group 41"/>
          <p:cNvGrpSpPr/>
          <p:nvPr/>
        </p:nvGrpSpPr>
        <p:grpSpPr>
          <a:xfrm>
            <a:off x="640080" y="8046720"/>
            <a:ext cx="4754880" cy="768096"/>
            <a:chOff x="0" y="0"/>
            <a:chExt cx="6339840" cy="1024128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6339840" cy="1024128"/>
            </a:xfrm>
            <a:custGeom>
              <a:avLst/>
              <a:gdLst/>
              <a:ahLst/>
              <a:cxnLst/>
              <a:rect l="l" t="t" r="r" b="b"/>
              <a:pathLst>
                <a:path w="6339840" h="1024128">
                  <a:moveTo>
                    <a:pt x="0" y="0"/>
                  </a:moveTo>
                  <a:lnTo>
                    <a:pt x="6339840" y="0"/>
                  </a:lnTo>
                  <a:lnTo>
                    <a:pt x="633984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0621" b="-70621"/>
              </a:stretch>
            </a:blipFill>
          </p:spPr>
        </p:sp>
        <p:sp>
          <p:nvSpPr>
            <p:cNvPr id="43" name="TextBox 43"/>
            <p:cNvSpPr txBox="1"/>
            <p:nvPr/>
          </p:nvSpPr>
          <p:spPr>
            <a:xfrm>
              <a:off x="0" y="-19050"/>
              <a:ext cx="6339840" cy="104317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800"/>
                </a:lnSpc>
              </a:pPr>
              <a:r>
                <a:rPr lang="en-US" sz="4000" b="1">
                  <a:solidFill>
                    <a:srgbClr val="C9A96E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80/20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640080" y="8814816"/>
            <a:ext cx="4754880" cy="640080"/>
            <a:chOff x="0" y="0"/>
            <a:chExt cx="6339840" cy="85344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6339840" cy="853440"/>
            </a:xfrm>
            <a:custGeom>
              <a:avLst/>
              <a:gdLst/>
              <a:ahLst/>
              <a:cxnLst/>
              <a:rect l="l" t="t" r="r" b="b"/>
              <a:pathLst>
                <a:path w="6339840" h="853440">
                  <a:moveTo>
                    <a:pt x="0" y="0"/>
                  </a:moveTo>
                  <a:lnTo>
                    <a:pt x="6339840" y="0"/>
                  </a:lnTo>
                  <a:lnTo>
                    <a:pt x="63398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4745" b="-94745"/>
              </a:stretch>
            </a:blipFill>
          </p:spPr>
        </p:sp>
        <p:sp>
          <p:nvSpPr>
            <p:cNvPr id="46" name="TextBox 46"/>
            <p:cNvSpPr txBox="1"/>
            <p:nvPr/>
          </p:nvSpPr>
          <p:spPr>
            <a:xfrm>
              <a:off x="0" y="-57150"/>
              <a:ext cx="6339840" cy="9105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19"/>
                </a:lnSpc>
              </a:pPr>
              <a:r>
                <a:rPr lang="en-US" sz="2599">
                  <a:solidFill>
                    <a:srgbClr val="B0B0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Train/Test Split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6035040" y="2011680"/>
            <a:ext cx="11521440" cy="821250"/>
            <a:chOff x="0" y="0"/>
            <a:chExt cx="15361920" cy="1095001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15361920" cy="1095001"/>
            </a:xfrm>
            <a:custGeom>
              <a:avLst/>
              <a:gdLst/>
              <a:ahLst/>
              <a:cxnLst/>
              <a:rect l="l" t="t" r="r" b="b"/>
              <a:pathLst>
                <a:path w="15361920" h="1095001">
                  <a:moveTo>
                    <a:pt x="0" y="0"/>
                  </a:moveTo>
                  <a:lnTo>
                    <a:pt x="15361920" y="0"/>
                  </a:lnTo>
                  <a:lnTo>
                    <a:pt x="15361920" y="1095001"/>
                  </a:lnTo>
                  <a:lnTo>
                    <a:pt x="0" y="109500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31048" b="-215668"/>
              </a:stretch>
            </a:blipFill>
          </p:spPr>
        </p:sp>
        <p:sp>
          <p:nvSpPr>
            <p:cNvPr id="49" name="TextBox 49"/>
            <p:cNvSpPr txBox="1"/>
            <p:nvPr/>
          </p:nvSpPr>
          <p:spPr>
            <a:xfrm>
              <a:off x="0" y="-85725"/>
              <a:ext cx="15361920" cy="118072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919"/>
                </a:lnSpc>
              </a:pPr>
              <a:r>
                <a:rPr lang="en-US" sz="4099" b="1">
                  <a:solidFill>
                    <a:srgbClr val="C9A96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Dataset Columns</a:t>
              </a:r>
            </a:p>
          </p:txBody>
        </p:sp>
      </p:grpSp>
      <p:graphicFrame>
        <p:nvGraphicFramePr>
          <p:cNvPr id="50" name="Table 50"/>
          <p:cNvGraphicFramePr>
            <a:graphicFrameLocks noGrp="1"/>
          </p:cNvGraphicFramePr>
          <p:nvPr/>
        </p:nvGraphicFramePr>
        <p:xfrm>
          <a:off x="6035040" y="2834640"/>
          <a:ext cx="11506200" cy="7121529"/>
        </p:xfrm>
        <a:graphic>
          <a:graphicData uri="http://schemas.openxmlformats.org/drawingml/2006/table">
            <a:tbl>
              <a:tblPr/>
              <a:tblGrid>
                <a:gridCol w="4025655"/>
                <a:gridCol w="7480545"/>
              </a:tblGrid>
              <a:tr h="791281">
                <a:tc>
                  <a:txBody>
                    <a:bodyPr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 b="1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Column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FF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C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599"/>
                        </a:lnSpc>
                        <a:defRPr/>
                      </a:pPr>
                      <a:r>
                        <a:rPr lang="en-US" sz="2999" b="1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Description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FF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C2E"/>
                    </a:solidFill>
                  </a:tcPr>
                </a:tc>
              </a:tr>
              <a:tr h="791281">
                <a:tc>
                  <a:txBody>
                    <a:bodyPr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B0B0B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conversation_id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FF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599"/>
                        </a:lnSpc>
                        <a:defRPr/>
                      </a:pPr>
                      <a:r>
                        <a:rPr lang="en-US" sz="2999">
                          <a:solidFill>
                            <a:srgbClr val="B0B0B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Unique ID for each conversation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FF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791281">
                <a:tc>
                  <a:txBody>
                    <a:bodyPr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B0B0B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manipulation_type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FF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599"/>
                        </a:lnSpc>
                        <a:defRPr/>
                      </a:pPr>
                      <a:r>
                        <a:rPr lang="en-US" sz="2999">
                          <a:solidFill>
                            <a:srgbClr val="B0B0B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Type of manipulation technique used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FF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791281">
                <a:tc>
                  <a:txBody>
                    <a:bodyPr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B0B0B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is_manipulation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FF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599"/>
                        </a:lnSpc>
                        <a:defRPr/>
                      </a:pPr>
                      <a:r>
                        <a:rPr lang="en-US" sz="2999">
                          <a:solidFill>
                            <a:srgbClr val="B0B0B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Binary label — TRUE / FALSE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FF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791281">
                <a:tc>
                  <a:txBody>
                    <a:bodyPr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B0B0B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context_type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FF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599"/>
                        </a:lnSpc>
                        <a:defRPr/>
                      </a:pPr>
                      <a:r>
                        <a:rPr lang="en-US" sz="2999">
                          <a:solidFill>
                            <a:srgbClr val="B0B0B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Relationship context (friend/family/etc.)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FF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791281">
                <a:tc>
                  <a:txBody>
                    <a:bodyPr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B0B0B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conversation_length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FF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599"/>
                        </a:lnSpc>
                        <a:defRPr/>
                      </a:pPr>
                      <a:r>
                        <a:rPr lang="en-US" sz="2999">
                          <a:solidFill>
                            <a:srgbClr val="B0B0B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Number of messages in conversation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FF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791281">
                <a:tc>
                  <a:txBody>
                    <a:bodyPr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B0B0B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manipulation_intensity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FF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599"/>
                        </a:lnSpc>
                        <a:defRPr/>
                      </a:pPr>
                      <a:r>
                        <a:rPr lang="en-US" sz="2999">
                          <a:solidFill>
                            <a:srgbClr val="B0B0B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Float score 0–1 indicating intensity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FF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791281">
                <a:tc>
                  <a:txBody>
                    <a:bodyPr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B0B0B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messages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FF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599"/>
                        </a:lnSpc>
                        <a:defRPr/>
                      </a:pPr>
                      <a:r>
                        <a:rPr lang="en-US" sz="2999">
                          <a:solidFill>
                            <a:srgbClr val="B0B0B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JSON array of speaker turns with sentiment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FF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791281">
                <a:tc>
                  <a:txBody>
                    <a:bodyPr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B0B0B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question_count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FF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599"/>
                        </a:lnSpc>
                        <a:defRPr/>
                      </a:pPr>
                      <a:r>
                        <a:rPr lang="en-US" sz="2999">
                          <a:solidFill>
                            <a:srgbClr val="B0B0B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Number of questions asked in chat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FF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18313403" cy="1854203"/>
            <a:chOff x="0" y="0"/>
            <a:chExt cx="24417871" cy="2472271"/>
          </a:xfrm>
        </p:grpSpPr>
        <p:sp>
          <p:nvSpPr>
            <p:cNvPr id="3" name="Freeform 3"/>
            <p:cNvSpPr/>
            <p:nvPr/>
          </p:nvSpPr>
          <p:spPr>
            <a:xfrm>
              <a:off x="16891" y="16891"/>
              <a:ext cx="24383999" cy="2438400"/>
            </a:xfrm>
            <a:custGeom>
              <a:avLst/>
              <a:gdLst/>
              <a:ahLst/>
              <a:cxnLst/>
              <a:rect l="l" t="t" r="r" b="b"/>
              <a:pathLst>
                <a:path w="24383999" h="2438400">
                  <a:moveTo>
                    <a:pt x="0" y="0"/>
                  </a:moveTo>
                  <a:lnTo>
                    <a:pt x="24383999" y="0"/>
                  </a:lnTo>
                  <a:lnTo>
                    <a:pt x="24383999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5A0D1E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24417782" cy="2472182"/>
            </a:xfrm>
            <a:custGeom>
              <a:avLst/>
              <a:gdLst/>
              <a:ahLst/>
              <a:cxnLst/>
              <a:rect l="l" t="t" r="r" b="b"/>
              <a:pathLst>
                <a:path w="24417782" h="24721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455291"/>
                  </a:lnTo>
                  <a:cubicBezTo>
                    <a:pt x="24417782" y="2464689"/>
                    <a:pt x="24410163" y="2472182"/>
                    <a:pt x="24400890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24400890" y="2438400"/>
                  </a:lnTo>
                  <a:lnTo>
                    <a:pt x="24400890" y="2455291"/>
                  </a:lnTo>
                  <a:lnTo>
                    <a:pt x="24384000" y="245529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5A0D1E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731520" y="146304"/>
            <a:ext cx="16459200" cy="1097280"/>
            <a:chOff x="0" y="0"/>
            <a:chExt cx="21945600" cy="146304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945600" cy="1463040"/>
            </a:xfrm>
            <a:custGeom>
              <a:avLst/>
              <a:gdLst/>
              <a:ahLst/>
              <a:cxnLst/>
              <a:rect l="l" t="t" r="r" b="b"/>
              <a:pathLst>
                <a:path w="21945600" h="146304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2275" b="-242275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21945600" cy="14725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240"/>
                </a:lnSpc>
              </a:pPr>
              <a:r>
                <a:rPr lang="en-US" sz="5200" b="1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Manipulation Techniques in Dataset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6093440" y="146304"/>
            <a:ext cx="1463040" cy="1097280"/>
            <a:chOff x="0" y="0"/>
            <a:chExt cx="1950720" cy="14630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950720" cy="1463040"/>
            </a:xfrm>
            <a:custGeom>
              <a:avLst/>
              <a:gdLst/>
              <a:ahLst/>
              <a:cxnLst/>
              <a:rect l="l" t="t" r="r" b="b"/>
              <a:pathLst>
                <a:path w="1950720" h="1463040">
                  <a:moveTo>
                    <a:pt x="0" y="0"/>
                  </a:moveTo>
                  <a:lnTo>
                    <a:pt x="1950720" y="0"/>
                  </a:lnTo>
                  <a:lnTo>
                    <a:pt x="19507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r="-46227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1950720" cy="14820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4800"/>
                </a:lnSpc>
              </a:pPr>
              <a:r>
                <a:rPr lang="en-US" sz="4000" b="1">
                  <a:solidFill>
                    <a:srgbClr val="C9A96E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04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27383" y="2035559"/>
            <a:ext cx="5511803" cy="2494283"/>
            <a:chOff x="0" y="0"/>
            <a:chExt cx="7349071" cy="3325711"/>
          </a:xfrm>
        </p:grpSpPr>
        <p:sp>
          <p:nvSpPr>
            <p:cNvPr id="12" name="Freeform 12"/>
            <p:cNvSpPr/>
            <p:nvPr/>
          </p:nvSpPr>
          <p:spPr>
            <a:xfrm>
              <a:off x="16891" y="16891"/>
              <a:ext cx="7315200" cy="3291840"/>
            </a:xfrm>
            <a:custGeom>
              <a:avLst/>
              <a:gdLst/>
              <a:ahLst/>
              <a:cxnLst/>
              <a:rect l="l" t="t" r="r" b="b"/>
              <a:pathLst>
                <a:path w="7315200" h="3291840">
                  <a:moveTo>
                    <a:pt x="0" y="0"/>
                  </a:moveTo>
                  <a:lnTo>
                    <a:pt x="7315200" y="0"/>
                  </a:lnTo>
                  <a:lnTo>
                    <a:pt x="7315200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0" y="0"/>
              <a:ext cx="7348982" cy="3325622"/>
            </a:xfrm>
            <a:custGeom>
              <a:avLst/>
              <a:gdLst/>
              <a:ahLst/>
              <a:cxnLst/>
              <a:rect l="l" t="t" r="r" b="b"/>
              <a:pathLst>
                <a:path w="7348982" h="332562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3308731"/>
                  </a:lnTo>
                  <a:cubicBezTo>
                    <a:pt x="7348982" y="3318129"/>
                    <a:pt x="7341362" y="3325622"/>
                    <a:pt x="7332091" y="3325622"/>
                  </a:cubicBezTo>
                  <a:lnTo>
                    <a:pt x="16891" y="3325622"/>
                  </a:lnTo>
                  <a:cubicBezTo>
                    <a:pt x="7493" y="3325622"/>
                    <a:pt x="0" y="3318002"/>
                    <a:pt x="0" y="3308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308731"/>
                  </a:lnTo>
                  <a:lnTo>
                    <a:pt x="16891" y="3308731"/>
                  </a:lnTo>
                  <a:lnTo>
                    <a:pt x="16891" y="3291840"/>
                  </a:lnTo>
                  <a:lnTo>
                    <a:pt x="7332091" y="3291840"/>
                  </a:lnTo>
                  <a:lnTo>
                    <a:pt x="7332091" y="3308731"/>
                  </a:lnTo>
                  <a:lnTo>
                    <a:pt x="7315200" y="330873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B1C2E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627383" y="2035559"/>
            <a:ext cx="5511803" cy="683771"/>
            <a:chOff x="0" y="0"/>
            <a:chExt cx="7349071" cy="911695"/>
          </a:xfrm>
        </p:grpSpPr>
        <p:sp>
          <p:nvSpPr>
            <p:cNvPr id="15" name="Freeform 15"/>
            <p:cNvSpPr/>
            <p:nvPr/>
          </p:nvSpPr>
          <p:spPr>
            <a:xfrm>
              <a:off x="16891" y="16891"/>
              <a:ext cx="7315200" cy="877824"/>
            </a:xfrm>
            <a:custGeom>
              <a:avLst/>
              <a:gdLst/>
              <a:ahLst/>
              <a:cxnLst/>
              <a:rect l="l" t="t" r="r" b="b"/>
              <a:pathLst>
                <a:path w="7315200" h="877824">
                  <a:moveTo>
                    <a:pt x="0" y="0"/>
                  </a:moveTo>
                  <a:lnTo>
                    <a:pt x="7315200" y="0"/>
                  </a:lnTo>
                  <a:lnTo>
                    <a:pt x="7315200" y="877824"/>
                  </a:lnTo>
                  <a:lnTo>
                    <a:pt x="0" y="877824"/>
                  </a:lnTo>
                  <a:close/>
                </a:path>
              </a:pathLst>
            </a:custGeom>
            <a:solidFill>
              <a:srgbClr val="7B1C2E"/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0" y="0"/>
              <a:ext cx="7348982" cy="911608"/>
            </a:xfrm>
            <a:custGeom>
              <a:avLst/>
              <a:gdLst/>
              <a:ahLst/>
              <a:cxnLst/>
              <a:rect l="l" t="t" r="r" b="b"/>
              <a:pathLst>
                <a:path w="7348982" h="911608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894715"/>
                  </a:lnTo>
                  <a:cubicBezTo>
                    <a:pt x="7348982" y="904113"/>
                    <a:pt x="7341362" y="911606"/>
                    <a:pt x="7332091" y="911606"/>
                  </a:cubicBezTo>
                  <a:lnTo>
                    <a:pt x="16891" y="911606"/>
                  </a:lnTo>
                  <a:cubicBezTo>
                    <a:pt x="7620" y="911733"/>
                    <a:pt x="0" y="904113"/>
                    <a:pt x="0" y="89471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94715"/>
                  </a:lnTo>
                  <a:lnTo>
                    <a:pt x="16891" y="894715"/>
                  </a:lnTo>
                  <a:lnTo>
                    <a:pt x="16891" y="877824"/>
                  </a:lnTo>
                  <a:lnTo>
                    <a:pt x="7332091" y="877824"/>
                  </a:lnTo>
                  <a:lnTo>
                    <a:pt x="7332091" y="894715"/>
                  </a:lnTo>
                  <a:lnTo>
                    <a:pt x="7315200" y="894715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B1C2E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822960" y="2103120"/>
            <a:ext cx="5120640" cy="595572"/>
            <a:chOff x="0" y="0"/>
            <a:chExt cx="6827520" cy="794096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827520" cy="794096"/>
            </a:xfrm>
            <a:custGeom>
              <a:avLst/>
              <a:gdLst/>
              <a:ahLst/>
              <a:cxnLst/>
              <a:rect l="l" t="t" r="r" b="b"/>
              <a:pathLst>
                <a:path w="6827520" h="794096">
                  <a:moveTo>
                    <a:pt x="0" y="0"/>
                  </a:moveTo>
                  <a:lnTo>
                    <a:pt x="6827520" y="0"/>
                  </a:lnTo>
                  <a:lnTo>
                    <a:pt x="6827520" y="794096"/>
                  </a:lnTo>
                  <a:lnTo>
                    <a:pt x="0" y="794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8398" b="-116660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57150"/>
              <a:ext cx="6827520" cy="85124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99"/>
                </a:lnSpc>
              </a:pPr>
              <a:r>
                <a:rPr lang="en-US" sz="29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😔  Guilt Tripping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822960" y="2816352"/>
            <a:ext cx="5120640" cy="1591056"/>
            <a:chOff x="0" y="0"/>
            <a:chExt cx="6827520" cy="212140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827520" cy="2121408"/>
            </a:xfrm>
            <a:custGeom>
              <a:avLst/>
              <a:gdLst/>
              <a:ahLst/>
              <a:cxnLst/>
              <a:rect l="l" t="t" r="r" b="b"/>
              <a:pathLst>
                <a:path w="6827520" h="2121408">
                  <a:moveTo>
                    <a:pt x="0" y="0"/>
                  </a:moveTo>
                  <a:lnTo>
                    <a:pt x="6827520" y="0"/>
                  </a:lnTo>
                  <a:lnTo>
                    <a:pt x="6827520" y="2121408"/>
                  </a:lnTo>
                  <a:lnTo>
                    <a:pt x="0" y="21214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710" b="-12710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-95250"/>
              <a:ext cx="6827520" cy="221665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49"/>
                </a:lnSpc>
              </a:pPr>
              <a:r>
                <a:rPr lang="en-US" sz="2499">
                  <a:solidFill>
                    <a:srgbClr val="B0B0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Making someone feel responsible for the manipulator's emotions to force compliance.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388103" y="2035559"/>
            <a:ext cx="5511803" cy="2494283"/>
            <a:chOff x="0" y="0"/>
            <a:chExt cx="7349071" cy="3325711"/>
          </a:xfrm>
        </p:grpSpPr>
        <p:sp>
          <p:nvSpPr>
            <p:cNvPr id="24" name="Freeform 24"/>
            <p:cNvSpPr/>
            <p:nvPr/>
          </p:nvSpPr>
          <p:spPr>
            <a:xfrm>
              <a:off x="16891" y="16891"/>
              <a:ext cx="7315200" cy="3291840"/>
            </a:xfrm>
            <a:custGeom>
              <a:avLst/>
              <a:gdLst/>
              <a:ahLst/>
              <a:cxnLst/>
              <a:rect l="l" t="t" r="r" b="b"/>
              <a:pathLst>
                <a:path w="7315200" h="3291840">
                  <a:moveTo>
                    <a:pt x="0" y="0"/>
                  </a:moveTo>
                  <a:lnTo>
                    <a:pt x="7315200" y="0"/>
                  </a:lnTo>
                  <a:lnTo>
                    <a:pt x="7315200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25" name="Freeform 25"/>
            <p:cNvSpPr/>
            <p:nvPr/>
          </p:nvSpPr>
          <p:spPr>
            <a:xfrm>
              <a:off x="0" y="0"/>
              <a:ext cx="7348982" cy="3325622"/>
            </a:xfrm>
            <a:custGeom>
              <a:avLst/>
              <a:gdLst/>
              <a:ahLst/>
              <a:cxnLst/>
              <a:rect l="l" t="t" r="r" b="b"/>
              <a:pathLst>
                <a:path w="7348982" h="332562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3308731"/>
                  </a:lnTo>
                  <a:cubicBezTo>
                    <a:pt x="7348982" y="3318129"/>
                    <a:pt x="7341362" y="3325622"/>
                    <a:pt x="7332091" y="3325622"/>
                  </a:cubicBezTo>
                  <a:lnTo>
                    <a:pt x="16891" y="3325622"/>
                  </a:lnTo>
                  <a:cubicBezTo>
                    <a:pt x="7493" y="3325622"/>
                    <a:pt x="0" y="3318002"/>
                    <a:pt x="0" y="3308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308731"/>
                  </a:lnTo>
                  <a:lnTo>
                    <a:pt x="16891" y="3308731"/>
                  </a:lnTo>
                  <a:lnTo>
                    <a:pt x="16891" y="3291840"/>
                  </a:lnTo>
                  <a:lnTo>
                    <a:pt x="7332091" y="3291840"/>
                  </a:lnTo>
                  <a:lnTo>
                    <a:pt x="7332091" y="3308731"/>
                  </a:lnTo>
                  <a:lnTo>
                    <a:pt x="7315200" y="330873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B1C2E"/>
            </a:solidFill>
          </p:spPr>
        </p:sp>
      </p:grpSp>
      <p:grpSp>
        <p:nvGrpSpPr>
          <p:cNvPr id="26" name="Group 26"/>
          <p:cNvGrpSpPr/>
          <p:nvPr/>
        </p:nvGrpSpPr>
        <p:grpSpPr>
          <a:xfrm>
            <a:off x="6388103" y="2035559"/>
            <a:ext cx="5511803" cy="683771"/>
            <a:chOff x="0" y="0"/>
            <a:chExt cx="7349071" cy="911695"/>
          </a:xfrm>
        </p:grpSpPr>
        <p:sp>
          <p:nvSpPr>
            <p:cNvPr id="27" name="Freeform 27"/>
            <p:cNvSpPr/>
            <p:nvPr/>
          </p:nvSpPr>
          <p:spPr>
            <a:xfrm>
              <a:off x="16891" y="16891"/>
              <a:ext cx="7315200" cy="877824"/>
            </a:xfrm>
            <a:custGeom>
              <a:avLst/>
              <a:gdLst/>
              <a:ahLst/>
              <a:cxnLst/>
              <a:rect l="l" t="t" r="r" b="b"/>
              <a:pathLst>
                <a:path w="7315200" h="877824">
                  <a:moveTo>
                    <a:pt x="0" y="0"/>
                  </a:moveTo>
                  <a:lnTo>
                    <a:pt x="7315200" y="0"/>
                  </a:lnTo>
                  <a:lnTo>
                    <a:pt x="7315200" y="877824"/>
                  </a:lnTo>
                  <a:lnTo>
                    <a:pt x="0" y="877824"/>
                  </a:lnTo>
                  <a:close/>
                </a:path>
              </a:pathLst>
            </a:custGeom>
            <a:solidFill>
              <a:srgbClr val="7B1C2E"/>
            </a:solidFill>
          </p:spPr>
        </p:sp>
        <p:sp>
          <p:nvSpPr>
            <p:cNvPr id="28" name="Freeform 28"/>
            <p:cNvSpPr/>
            <p:nvPr/>
          </p:nvSpPr>
          <p:spPr>
            <a:xfrm>
              <a:off x="0" y="0"/>
              <a:ext cx="7348982" cy="911608"/>
            </a:xfrm>
            <a:custGeom>
              <a:avLst/>
              <a:gdLst/>
              <a:ahLst/>
              <a:cxnLst/>
              <a:rect l="l" t="t" r="r" b="b"/>
              <a:pathLst>
                <a:path w="7348982" h="911608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894715"/>
                  </a:lnTo>
                  <a:cubicBezTo>
                    <a:pt x="7348982" y="904113"/>
                    <a:pt x="7341362" y="911606"/>
                    <a:pt x="7332091" y="911606"/>
                  </a:cubicBezTo>
                  <a:lnTo>
                    <a:pt x="16891" y="911606"/>
                  </a:lnTo>
                  <a:cubicBezTo>
                    <a:pt x="7620" y="911733"/>
                    <a:pt x="0" y="904113"/>
                    <a:pt x="0" y="89471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94715"/>
                  </a:lnTo>
                  <a:lnTo>
                    <a:pt x="16891" y="894715"/>
                  </a:lnTo>
                  <a:lnTo>
                    <a:pt x="16891" y="877824"/>
                  </a:lnTo>
                  <a:lnTo>
                    <a:pt x="7332091" y="877824"/>
                  </a:lnTo>
                  <a:lnTo>
                    <a:pt x="7332091" y="894715"/>
                  </a:lnTo>
                  <a:lnTo>
                    <a:pt x="7315200" y="894715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B1C2E"/>
            </a:solidFill>
          </p:spPr>
        </p:sp>
      </p:grpSp>
      <p:grpSp>
        <p:nvGrpSpPr>
          <p:cNvPr id="29" name="Group 29"/>
          <p:cNvGrpSpPr/>
          <p:nvPr/>
        </p:nvGrpSpPr>
        <p:grpSpPr>
          <a:xfrm>
            <a:off x="6583680" y="2103120"/>
            <a:ext cx="5120640" cy="595572"/>
            <a:chOff x="0" y="0"/>
            <a:chExt cx="6827520" cy="794096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6827520" cy="794096"/>
            </a:xfrm>
            <a:custGeom>
              <a:avLst/>
              <a:gdLst/>
              <a:ahLst/>
              <a:cxnLst/>
              <a:rect l="l" t="t" r="r" b="b"/>
              <a:pathLst>
                <a:path w="6827520" h="794096">
                  <a:moveTo>
                    <a:pt x="0" y="0"/>
                  </a:moveTo>
                  <a:lnTo>
                    <a:pt x="6827520" y="0"/>
                  </a:lnTo>
                  <a:lnTo>
                    <a:pt x="6827520" y="794096"/>
                  </a:lnTo>
                  <a:lnTo>
                    <a:pt x="0" y="794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8398" b="-116660"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0" y="-57150"/>
              <a:ext cx="6827520" cy="85124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99"/>
                </a:lnSpc>
              </a:pPr>
              <a:r>
                <a:rPr lang="en-US" sz="29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🌀  Gaslighting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583680" y="2816352"/>
            <a:ext cx="5120640" cy="1591056"/>
            <a:chOff x="0" y="0"/>
            <a:chExt cx="6827520" cy="2121408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6827520" cy="2121408"/>
            </a:xfrm>
            <a:custGeom>
              <a:avLst/>
              <a:gdLst/>
              <a:ahLst/>
              <a:cxnLst/>
              <a:rect l="l" t="t" r="r" b="b"/>
              <a:pathLst>
                <a:path w="6827520" h="2121408">
                  <a:moveTo>
                    <a:pt x="0" y="0"/>
                  </a:moveTo>
                  <a:lnTo>
                    <a:pt x="6827520" y="0"/>
                  </a:lnTo>
                  <a:lnTo>
                    <a:pt x="6827520" y="2121408"/>
                  </a:lnTo>
                  <a:lnTo>
                    <a:pt x="0" y="21214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710" b="-12710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-95250"/>
              <a:ext cx="6827520" cy="221665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49"/>
                </a:lnSpc>
              </a:pPr>
              <a:r>
                <a:rPr lang="en-US" sz="2499">
                  <a:solidFill>
                    <a:srgbClr val="B0B0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Causing the victim to question their own perception, memory, or sanity.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2148823" y="2035559"/>
            <a:ext cx="5511803" cy="2494283"/>
            <a:chOff x="0" y="0"/>
            <a:chExt cx="7349071" cy="3325711"/>
          </a:xfrm>
        </p:grpSpPr>
        <p:sp>
          <p:nvSpPr>
            <p:cNvPr id="36" name="Freeform 36"/>
            <p:cNvSpPr/>
            <p:nvPr/>
          </p:nvSpPr>
          <p:spPr>
            <a:xfrm>
              <a:off x="16891" y="16891"/>
              <a:ext cx="7315200" cy="3291840"/>
            </a:xfrm>
            <a:custGeom>
              <a:avLst/>
              <a:gdLst/>
              <a:ahLst/>
              <a:cxnLst/>
              <a:rect l="l" t="t" r="r" b="b"/>
              <a:pathLst>
                <a:path w="7315200" h="3291840">
                  <a:moveTo>
                    <a:pt x="0" y="0"/>
                  </a:moveTo>
                  <a:lnTo>
                    <a:pt x="7315200" y="0"/>
                  </a:lnTo>
                  <a:lnTo>
                    <a:pt x="7315200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37" name="Freeform 37"/>
            <p:cNvSpPr/>
            <p:nvPr/>
          </p:nvSpPr>
          <p:spPr>
            <a:xfrm>
              <a:off x="0" y="0"/>
              <a:ext cx="7348982" cy="3325622"/>
            </a:xfrm>
            <a:custGeom>
              <a:avLst/>
              <a:gdLst/>
              <a:ahLst/>
              <a:cxnLst/>
              <a:rect l="l" t="t" r="r" b="b"/>
              <a:pathLst>
                <a:path w="7348982" h="332562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3308731"/>
                  </a:lnTo>
                  <a:cubicBezTo>
                    <a:pt x="7348982" y="3318129"/>
                    <a:pt x="7341362" y="3325622"/>
                    <a:pt x="7332091" y="3325622"/>
                  </a:cubicBezTo>
                  <a:lnTo>
                    <a:pt x="16891" y="3325622"/>
                  </a:lnTo>
                  <a:cubicBezTo>
                    <a:pt x="7493" y="3325622"/>
                    <a:pt x="0" y="3318002"/>
                    <a:pt x="0" y="3308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308731"/>
                  </a:lnTo>
                  <a:lnTo>
                    <a:pt x="16891" y="3308731"/>
                  </a:lnTo>
                  <a:lnTo>
                    <a:pt x="16891" y="3291840"/>
                  </a:lnTo>
                  <a:lnTo>
                    <a:pt x="7332091" y="3291840"/>
                  </a:lnTo>
                  <a:lnTo>
                    <a:pt x="7332091" y="3308731"/>
                  </a:lnTo>
                  <a:lnTo>
                    <a:pt x="7315200" y="330873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B1C2E"/>
            </a:solidFill>
          </p:spPr>
        </p:sp>
      </p:grpSp>
      <p:grpSp>
        <p:nvGrpSpPr>
          <p:cNvPr id="38" name="Group 38"/>
          <p:cNvGrpSpPr/>
          <p:nvPr/>
        </p:nvGrpSpPr>
        <p:grpSpPr>
          <a:xfrm>
            <a:off x="12148823" y="2035559"/>
            <a:ext cx="5511803" cy="683771"/>
            <a:chOff x="0" y="0"/>
            <a:chExt cx="7349071" cy="911695"/>
          </a:xfrm>
        </p:grpSpPr>
        <p:sp>
          <p:nvSpPr>
            <p:cNvPr id="39" name="Freeform 39"/>
            <p:cNvSpPr/>
            <p:nvPr/>
          </p:nvSpPr>
          <p:spPr>
            <a:xfrm>
              <a:off x="16891" y="16891"/>
              <a:ext cx="7315200" cy="877824"/>
            </a:xfrm>
            <a:custGeom>
              <a:avLst/>
              <a:gdLst/>
              <a:ahLst/>
              <a:cxnLst/>
              <a:rect l="l" t="t" r="r" b="b"/>
              <a:pathLst>
                <a:path w="7315200" h="877824">
                  <a:moveTo>
                    <a:pt x="0" y="0"/>
                  </a:moveTo>
                  <a:lnTo>
                    <a:pt x="7315200" y="0"/>
                  </a:lnTo>
                  <a:lnTo>
                    <a:pt x="7315200" y="877824"/>
                  </a:lnTo>
                  <a:lnTo>
                    <a:pt x="0" y="877824"/>
                  </a:lnTo>
                  <a:close/>
                </a:path>
              </a:pathLst>
            </a:custGeom>
            <a:solidFill>
              <a:srgbClr val="7B1C2E"/>
            </a:solidFill>
          </p:spPr>
        </p:sp>
        <p:sp>
          <p:nvSpPr>
            <p:cNvPr id="40" name="Freeform 40"/>
            <p:cNvSpPr/>
            <p:nvPr/>
          </p:nvSpPr>
          <p:spPr>
            <a:xfrm>
              <a:off x="0" y="0"/>
              <a:ext cx="7348982" cy="911608"/>
            </a:xfrm>
            <a:custGeom>
              <a:avLst/>
              <a:gdLst/>
              <a:ahLst/>
              <a:cxnLst/>
              <a:rect l="l" t="t" r="r" b="b"/>
              <a:pathLst>
                <a:path w="7348982" h="911608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894715"/>
                  </a:lnTo>
                  <a:cubicBezTo>
                    <a:pt x="7348982" y="904113"/>
                    <a:pt x="7341362" y="911606"/>
                    <a:pt x="7332091" y="911606"/>
                  </a:cubicBezTo>
                  <a:lnTo>
                    <a:pt x="16891" y="911606"/>
                  </a:lnTo>
                  <a:cubicBezTo>
                    <a:pt x="7620" y="911733"/>
                    <a:pt x="0" y="904113"/>
                    <a:pt x="0" y="89471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94715"/>
                  </a:lnTo>
                  <a:lnTo>
                    <a:pt x="16891" y="894715"/>
                  </a:lnTo>
                  <a:lnTo>
                    <a:pt x="16891" y="877824"/>
                  </a:lnTo>
                  <a:lnTo>
                    <a:pt x="7332091" y="877824"/>
                  </a:lnTo>
                  <a:lnTo>
                    <a:pt x="7332091" y="894715"/>
                  </a:lnTo>
                  <a:lnTo>
                    <a:pt x="7315200" y="894715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B1C2E"/>
            </a:solidFill>
          </p:spPr>
        </p:sp>
      </p:grpSp>
      <p:grpSp>
        <p:nvGrpSpPr>
          <p:cNvPr id="41" name="Group 41"/>
          <p:cNvGrpSpPr/>
          <p:nvPr/>
        </p:nvGrpSpPr>
        <p:grpSpPr>
          <a:xfrm>
            <a:off x="12344400" y="2103120"/>
            <a:ext cx="5120640" cy="595572"/>
            <a:chOff x="0" y="0"/>
            <a:chExt cx="6827520" cy="794096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6827520" cy="794096"/>
            </a:xfrm>
            <a:custGeom>
              <a:avLst/>
              <a:gdLst/>
              <a:ahLst/>
              <a:cxnLst/>
              <a:rect l="l" t="t" r="r" b="b"/>
              <a:pathLst>
                <a:path w="6827520" h="794096">
                  <a:moveTo>
                    <a:pt x="0" y="0"/>
                  </a:moveTo>
                  <a:lnTo>
                    <a:pt x="6827520" y="0"/>
                  </a:lnTo>
                  <a:lnTo>
                    <a:pt x="6827520" y="794096"/>
                  </a:lnTo>
                  <a:lnTo>
                    <a:pt x="0" y="794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8398" b="-116660"/>
              </a:stretch>
            </a:blipFill>
          </p:spPr>
        </p:sp>
        <p:sp>
          <p:nvSpPr>
            <p:cNvPr id="43" name="TextBox 43"/>
            <p:cNvSpPr txBox="1"/>
            <p:nvPr/>
          </p:nvSpPr>
          <p:spPr>
            <a:xfrm>
              <a:off x="0" y="-57150"/>
              <a:ext cx="6827520" cy="85124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99"/>
                </a:lnSpc>
              </a:pPr>
              <a:r>
                <a:rPr lang="en-US" sz="29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✨  Charm &amp; Flattery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2344400" y="2816352"/>
            <a:ext cx="5120640" cy="1591056"/>
            <a:chOff x="0" y="0"/>
            <a:chExt cx="6827520" cy="2121408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6827520" cy="2121408"/>
            </a:xfrm>
            <a:custGeom>
              <a:avLst/>
              <a:gdLst/>
              <a:ahLst/>
              <a:cxnLst/>
              <a:rect l="l" t="t" r="r" b="b"/>
              <a:pathLst>
                <a:path w="6827520" h="2121408">
                  <a:moveTo>
                    <a:pt x="0" y="0"/>
                  </a:moveTo>
                  <a:lnTo>
                    <a:pt x="6827520" y="0"/>
                  </a:lnTo>
                  <a:lnTo>
                    <a:pt x="6827520" y="2121408"/>
                  </a:lnTo>
                  <a:lnTo>
                    <a:pt x="0" y="21214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710" b="-12710"/>
              </a:stretch>
            </a:blipFill>
          </p:spPr>
        </p:sp>
        <p:sp>
          <p:nvSpPr>
            <p:cNvPr id="46" name="TextBox 46"/>
            <p:cNvSpPr txBox="1"/>
            <p:nvPr/>
          </p:nvSpPr>
          <p:spPr>
            <a:xfrm>
              <a:off x="0" y="-95250"/>
              <a:ext cx="6827520" cy="221665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49"/>
                </a:lnSpc>
              </a:pPr>
              <a:r>
                <a:rPr lang="en-US" sz="2499">
                  <a:solidFill>
                    <a:srgbClr val="B0B0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Excessive praise or compliments to lower defenses and gain compliance.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627383" y="4778759"/>
            <a:ext cx="5511803" cy="2494283"/>
            <a:chOff x="0" y="0"/>
            <a:chExt cx="7349071" cy="3325711"/>
          </a:xfrm>
        </p:grpSpPr>
        <p:sp>
          <p:nvSpPr>
            <p:cNvPr id="48" name="Freeform 48"/>
            <p:cNvSpPr/>
            <p:nvPr/>
          </p:nvSpPr>
          <p:spPr>
            <a:xfrm>
              <a:off x="16891" y="16891"/>
              <a:ext cx="7315200" cy="3291840"/>
            </a:xfrm>
            <a:custGeom>
              <a:avLst/>
              <a:gdLst/>
              <a:ahLst/>
              <a:cxnLst/>
              <a:rect l="l" t="t" r="r" b="b"/>
              <a:pathLst>
                <a:path w="7315200" h="3291840">
                  <a:moveTo>
                    <a:pt x="0" y="0"/>
                  </a:moveTo>
                  <a:lnTo>
                    <a:pt x="7315200" y="0"/>
                  </a:lnTo>
                  <a:lnTo>
                    <a:pt x="7315200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49" name="Freeform 49"/>
            <p:cNvSpPr/>
            <p:nvPr/>
          </p:nvSpPr>
          <p:spPr>
            <a:xfrm>
              <a:off x="0" y="0"/>
              <a:ext cx="7348982" cy="3325622"/>
            </a:xfrm>
            <a:custGeom>
              <a:avLst/>
              <a:gdLst/>
              <a:ahLst/>
              <a:cxnLst/>
              <a:rect l="l" t="t" r="r" b="b"/>
              <a:pathLst>
                <a:path w="7348982" h="332562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3308731"/>
                  </a:lnTo>
                  <a:cubicBezTo>
                    <a:pt x="7348982" y="3318129"/>
                    <a:pt x="7341362" y="3325622"/>
                    <a:pt x="7332091" y="3325622"/>
                  </a:cubicBezTo>
                  <a:lnTo>
                    <a:pt x="16891" y="3325622"/>
                  </a:lnTo>
                  <a:cubicBezTo>
                    <a:pt x="7493" y="3325622"/>
                    <a:pt x="0" y="3318002"/>
                    <a:pt x="0" y="3308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308731"/>
                  </a:lnTo>
                  <a:lnTo>
                    <a:pt x="16891" y="3308731"/>
                  </a:lnTo>
                  <a:lnTo>
                    <a:pt x="16891" y="3291840"/>
                  </a:lnTo>
                  <a:lnTo>
                    <a:pt x="7332091" y="3291840"/>
                  </a:lnTo>
                  <a:lnTo>
                    <a:pt x="7332091" y="3308731"/>
                  </a:lnTo>
                  <a:lnTo>
                    <a:pt x="7315200" y="330873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B1C2E"/>
            </a:solidFill>
          </p:spPr>
        </p:sp>
      </p:grpSp>
      <p:grpSp>
        <p:nvGrpSpPr>
          <p:cNvPr id="50" name="Group 50"/>
          <p:cNvGrpSpPr/>
          <p:nvPr/>
        </p:nvGrpSpPr>
        <p:grpSpPr>
          <a:xfrm>
            <a:off x="627383" y="4778759"/>
            <a:ext cx="5511803" cy="683771"/>
            <a:chOff x="0" y="0"/>
            <a:chExt cx="7349071" cy="911695"/>
          </a:xfrm>
        </p:grpSpPr>
        <p:sp>
          <p:nvSpPr>
            <p:cNvPr id="51" name="Freeform 51"/>
            <p:cNvSpPr/>
            <p:nvPr/>
          </p:nvSpPr>
          <p:spPr>
            <a:xfrm>
              <a:off x="16891" y="16891"/>
              <a:ext cx="7315200" cy="877824"/>
            </a:xfrm>
            <a:custGeom>
              <a:avLst/>
              <a:gdLst/>
              <a:ahLst/>
              <a:cxnLst/>
              <a:rect l="l" t="t" r="r" b="b"/>
              <a:pathLst>
                <a:path w="7315200" h="877824">
                  <a:moveTo>
                    <a:pt x="0" y="0"/>
                  </a:moveTo>
                  <a:lnTo>
                    <a:pt x="7315200" y="0"/>
                  </a:lnTo>
                  <a:lnTo>
                    <a:pt x="7315200" y="877824"/>
                  </a:lnTo>
                  <a:lnTo>
                    <a:pt x="0" y="877824"/>
                  </a:lnTo>
                  <a:close/>
                </a:path>
              </a:pathLst>
            </a:custGeom>
            <a:solidFill>
              <a:srgbClr val="7B1C2E"/>
            </a:solidFill>
          </p:spPr>
        </p:sp>
        <p:sp>
          <p:nvSpPr>
            <p:cNvPr id="52" name="Freeform 52"/>
            <p:cNvSpPr/>
            <p:nvPr/>
          </p:nvSpPr>
          <p:spPr>
            <a:xfrm>
              <a:off x="0" y="0"/>
              <a:ext cx="7348982" cy="911608"/>
            </a:xfrm>
            <a:custGeom>
              <a:avLst/>
              <a:gdLst/>
              <a:ahLst/>
              <a:cxnLst/>
              <a:rect l="l" t="t" r="r" b="b"/>
              <a:pathLst>
                <a:path w="7348982" h="911608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894715"/>
                  </a:lnTo>
                  <a:cubicBezTo>
                    <a:pt x="7348982" y="904113"/>
                    <a:pt x="7341362" y="911606"/>
                    <a:pt x="7332091" y="911606"/>
                  </a:cubicBezTo>
                  <a:lnTo>
                    <a:pt x="16891" y="911606"/>
                  </a:lnTo>
                  <a:cubicBezTo>
                    <a:pt x="7620" y="911733"/>
                    <a:pt x="0" y="904113"/>
                    <a:pt x="0" y="89471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94715"/>
                  </a:lnTo>
                  <a:lnTo>
                    <a:pt x="16891" y="894715"/>
                  </a:lnTo>
                  <a:lnTo>
                    <a:pt x="16891" y="877824"/>
                  </a:lnTo>
                  <a:lnTo>
                    <a:pt x="7332091" y="877824"/>
                  </a:lnTo>
                  <a:lnTo>
                    <a:pt x="7332091" y="894715"/>
                  </a:lnTo>
                  <a:lnTo>
                    <a:pt x="7315200" y="894715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B1C2E"/>
            </a:solidFill>
          </p:spPr>
        </p:sp>
      </p:grpSp>
      <p:grpSp>
        <p:nvGrpSpPr>
          <p:cNvPr id="53" name="Group 53"/>
          <p:cNvGrpSpPr/>
          <p:nvPr/>
        </p:nvGrpSpPr>
        <p:grpSpPr>
          <a:xfrm>
            <a:off x="822960" y="4846320"/>
            <a:ext cx="5120640" cy="595572"/>
            <a:chOff x="0" y="0"/>
            <a:chExt cx="6827520" cy="794096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6827520" cy="794096"/>
            </a:xfrm>
            <a:custGeom>
              <a:avLst/>
              <a:gdLst/>
              <a:ahLst/>
              <a:cxnLst/>
              <a:rect l="l" t="t" r="r" b="b"/>
              <a:pathLst>
                <a:path w="6827520" h="794096">
                  <a:moveTo>
                    <a:pt x="0" y="0"/>
                  </a:moveTo>
                  <a:lnTo>
                    <a:pt x="6827520" y="0"/>
                  </a:lnTo>
                  <a:lnTo>
                    <a:pt x="6827520" y="794096"/>
                  </a:lnTo>
                  <a:lnTo>
                    <a:pt x="0" y="794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8398" b="-116660"/>
              </a:stretch>
            </a:blipFill>
          </p:spPr>
        </p:sp>
        <p:sp>
          <p:nvSpPr>
            <p:cNvPr id="55" name="TextBox 55"/>
            <p:cNvSpPr txBox="1"/>
            <p:nvPr/>
          </p:nvSpPr>
          <p:spPr>
            <a:xfrm>
              <a:off x="0" y="-57150"/>
              <a:ext cx="6827520" cy="85124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99"/>
                </a:lnSpc>
              </a:pPr>
              <a:r>
                <a:rPr lang="en-US" sz="29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💣  Love Bombing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822960" y="5559552"/>
            <a:ext cx="5120640" cy="1591056"/>
            <a:chOff x="0" y="0"/>
            <a:chExt cx="6827520" cy="2121408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6827520" cy="2121408"/>
            </a:xfrm>
            <a:custGeom>
              <a:avLst/>
              <a:gdLst/>
              <a:ahLst/>
              <a:cxnLst/>
              <a:rect l="l" t="t" r="r" b="b"/>
              <a:pathLst>
                <a:path w="6827520" h="2121408">
                  <a:moveTo>
                    <a:pt x="0" y="0"/>
                  </a:moveTo>
                  <a:lnTo>
                    <a:pt x="6827520" y="0"/>
                  </a:lnTo>
                  <a:lnTo>
                    <a:pt x="6827520" y="2121408"/>
                  </a:lnTo>
                  <a:lnTo>
                    <a:pt x="0" y="21214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710" b="-12710"/>
              </a:stretch>
            </a:blipFill>
          </p:spPr>
        </p:sp>
        <p:sp>
          <p:nvSpPr>
            <p:cNvPr id="58" name="TextBox 58"/>
            <p:cNvSpPr txBox="1"/>
            <p:nvPr/>
          </p:nvSpPr>
          <p:spPr>
            <a:xfrm>
              <a:off x="0" y="-95250"/>
              <a:ext cx="6827520" cy="221665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49"/>
                </a:lnSpc>
              </a:pPr>
              <a:r>
                <a:rPr lang="en-US" sz="2499">
                  <a:solidFill>
                    <a:srgbClr val="B0B0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Overwhelming someone with affection to create dependency and control.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6388103" y="4778759"/>
            <a:ext cx="5511803" cy="2494283"/>
            <a:chOff x="0" y="0"/>
            <a:chExt cx="7349071" cy="3325711"/>
          </a:xfrm>
        </p:grpSpPr>
        <p:sp>
          <p:nvSpPr>
            <p:cNvPr id="60" name="Freeform 60"/>
            <p:cNvSpPr/>
            <p:nvPr/>
          </p:nvSpPr>
          <p:spPr>
            <a:xfrm>
              <a:off x="16891" y="16891"/>
              <a:ext cx="7315200" cy="3291840"/>
            </a:xfrm>
            <a:custGeom>
              <a:avLst/>
              <a:gdLst/>
              <a:ahLst/>
              <a:cxnLst/>
              <a:rect l="l" t="t" r="r" b="b"/>
              <a:pathLst>
                <a:path w="7315200" h="3291840">
                  <a:moveTo>
                    <a:pt x="0" y="0"/>
                  </a:moveTo>
                  <a:lnTo>
                    <a:pt x="7315200" y="0"/>
                  </a:lnTo>
                  <a:lnTo>
                    <a:pt x="7315200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61" name="Freeform 61"/>
            <p:cNvSpPr/>
            <p:nvPr/>
          </p:nvSpPr>
          <p:spPr>
            <a:xfrm>
              <a:off x="0" y="0"/>
              <a:ext cx="7348982" cy="3325622"/>
            </a:xfrm>
            <a:custGeom>
              <a:avLst/>
              <a:gdLst/>
              <a:ahLst/>
              <a:cxnLst/>
              <a:rect l="l" t="t" r="r" b="b"/>
              <a:pathLst>
                <a:path w="7348982" h="332562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3308731"/>
                  </a:lnTo>
                  <a:cubicBezTo>
                    <a:pt x="7348982" y="3318129"/>
                    <a:pt x="7341362" y="3325622"/>
                    <a:pt x="7332091" y="3325622"/>
                  </a:cubicBezTo>
                  <a:lnTo>
                    <a:pt x="16891" y="3325622"/>
                  </a:lnTo>
                  <a:cubicBezTo>
                    <a:pt x="7493" y="3325622"/>
                    <a:pt x="0" y="3318002"/>
                    <a:pt x="0" y="3308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308731"/>
                  </a:lnTo>
                  <a:lnTo>
                    <a:pt x="16891" y="3308731"/>
                  </a:lnTo>
                  <a:lnTo>
                    <a:pt x="16891" y="3291840"/>
                  </a:lnTo>
                  <a:lnTo>
                    <a:pt x="7332091" y="3291840"/>
                  </a:lnTo>
                  <a:lnTo>
                    <a:pt x="7332091" y="3308731"/>
                  </a:lnTo>
                  <a:lnTo>
                    <a:pt x="7315200" y="330873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B1C2E"/>
            </a:solidFill>
          </p:spPr>
        </p:sp>
      </p:grpSp>
      <p:grpSp>
        <p:nvGrpSpPr>
          <p:cNvPr id="62" name="Group 62"/>
          <p:cNvGrpSpPr/>
          <p:nvPr/>
        </p:nvGrpSpPr>
        <p:grpSpPr>
          <a:xfrm>
            <a:off x="6388103" y="4778759"/>
            <a:ext cx="5511803" cy="683771"/>
            <a:chOff x="0" y="0"/>
            <a:chExt cx="7349071" cy="911695"/>
          </a:xfrm>
        </p:grpSpPr>
        <p:sp>
          <p:nvSpPr>
            <p:cNvPr id="63" name="Freeform 63"/>
            <p:cNvSpPr/>
            <p:nvPr/>
          </p:nvSpPr>
          <p:spPr>
            <a:xfrm>
              <a:off x="16891" y="16891"/>
              <a:ext cx="7315200" cy="877824"/>
            </a:xfrm>
            <a:custGeom>
              <a:avLst/>
              <a:gdLst/>
              <a:ahLst/>
              <a:cxnLst/>
              <a:rect l="l" t="t" r="r" b="b"/>
              <a:pathLst>
                <a:path w="7315200" h="877824">
                  <a:moveTo>
                    <a:pt x="0" y="0"/>
                  </a:moveTo>
                  <a:lnTo>
                    <a:pt x="7315200" y="0"/>
                  </a:lnTo>
                  <a:lnTo>
                    <a:pt x="7315200" y="877824"/>
                  </a:lnTo>
                  <a:lnTo>
                    <a:pt x="0" y="877824"/>
                  </a:lnTo>
                  <a:close/>
                </a:path>
              </a:pathLst>
            </a:custGeom>
            <a:solidFill>
              <a:srgbClr val="7B1C2E"/>
            </a:solidFill>
          </p:spPr>
        </p:sp>
        <p:sp>
          <p:nvSpPr>
            <p:cNvPr id="64" name="Freeform 64"/>
            <p:cNvSpPr/>
            <p:nvPr/>
          </p:nvSpPr>
          <p:spPr>
            <a:xfrm>
              <a:off x="0" y="0"/>
              <a:ext cx="7348982" cy="911608"/>
            </a:xfrm>
            <a:custGeom>
              <a:avLst/>
              <a:gdLst/>
              <a:ahLst/>
              <a:cxnLst/>
              <a:rect l="l" t="t" r="r" b="b"/>
              <a:pathLst>
                <a:path w="7348982" h="911608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894715"/>
                  </a:lnTo>
                  <a:cubicBezTo>
                    <a:pt x="7348982" y="904113"/>
                    <a:pt x="7341362" y="911606"/>
                    <a:pt x="7332091" y="911606"/>
                  </a:cubicBezTo>
                  <a:lnTo>
                    <a:pt x="16891" y="911606"/>
                  </a:lnTo>
                  <a:cubicBezTo>
                    <a:pt x="7620" y="911733"/>
                    <a:pt x="0" y="904113"/>
                    <a:pt x="0" y="89471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94715"/>
                  </a:lnTo>
                  <a:lnTo>
                    <a:pt x="16891" y="894715"/>
                  </a:lnTo>
                  <a:lnTo>
                    <a:pt x="16891" y="877824"/>
                  </a:lnTo>
                  <a:lnTo>
                    <a:pt x="7332091" y="877824"/>
                  </a:lnTo>
                  <a:lnTo>
                    <a:pt x="7332091" y="894715"/>
                  </a:lnTo>
                  <a:lnTo>
                    <a:pt x="7315200" y="894715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B1C2E"/>
            </a:solidFill>
          </p:spPr>
        </p:sp>
      </p:grpSp>
      <p:grpSp>
        <p:nvGrpSpPr>
          <p:cNvPr id="65" name="Group 65"/>
          <p:cNvGrpSpPr/>
          <p:nvPr/>
        </p:nvGrpSpPr>
        <p:grpSpPr>
          <a:xfrm>
            <a:off x="6583680" y="4846320"/>
            <a:ext cx="5120640" cy="595572"/>
            <a:chOff x="0" y="0"/>
            <a:chExt cx="6827520" cy="794096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6827520" cy="794096"/>
            </a:xfrm>
            <a:custGeom>
              <a:avLst/>
              <a:gdLst/>
              <a:ahLst/>
              <a:cxnLst/>
              <a:rect l="l" t="t" r="r" b="b"/>
              <a:pathLst>
                <a:path w="6827520" h="794096">
                  <a:moveTo>
                    <a:pt x="0" y="0"/>
                  </a:moveTo>
                  <a:lnTo>
                    <a:pt x="6827520" y="0"/>
                  </a:lnTo>
                  <a:lnTo>
                    <a:pt x="6827520" y="794096"/>
                  </a:lnTo>
                  <a:lnTo>
                    <a:pt x="0" y="794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8398" b="-116660"/>
              </a:stretch>
            </a:blipFill>
          </p:spPr>
        </p:sp>
        <p:sp>
          <p:nvSpPr>
            <p:cNvPr id="67" name="TextBox 67"/>
            <p:cNvSpPr txBox="1"/>
            <p:nvPr/>
          </p:nvSpPr>
          <p:spPr>
            <a:xfrm>
              <a:off x="0" y="-57150"/>
              <a:ext cx="6827520" cy="85124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99"/>
                </a:lnSpc>
              </a:pPr>
              <a:r>
                <a:rPr lang="en-US" sz="29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⚡  Direct Coercion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6583680" y="5559552"/>
            <a:ext cx="5120640" cy="1591056"/>
            <a:chOff x="0" y="0"/>
            <a:chExt cx="6827520" cy="2121408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6827520" cy="2121408"/>
            </a:xfrm>
            <a:custGeom>
              <a:avLst/>
              <a:gdLst/>
              <a:ahLst/>
              <a:cxnLst/>
              <a:rect l="l" t="t" r="r" b="b"/>
              <a:pathLst>
                <a:path w="6827520" h="2121408">
                  <a:moveTo>
                    <a:pt x="0" y="0"/>
                  </a:moveTo>
                  <a:lnTo>
                    <a:pt x="6827520" y="0"/>
                  </a:lnTo>
                  <a:lnTo>
                    <a:pt x="6827520" y="2121408"/>
                  </a:lnTo>
                  <a:lnTo>
                    <a:pt x="0" y="21214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710" b="-12710"/>
              </a:stretch>
            </a:blipFill>
          </p:spPr>
        </p:sp>
        <p:sp>
          <p:nvSpPr>
            <p:cNvPr id="70" name="TextBox 70"/>
            <p:cNvSpPr txBox="1"/>
            <p:nvPr/>
          </p:nvSpPr>
          <p:spPr>
            <a:xfrm>
              <a:off x="0" y="-95250"/>
              <a:ext cx="6827520" cy="221665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49"/>
                </a:lnSpc>
              </a:pPr>
              <a:r>
                <a:rPr lang="en-US" sz="2499">
                  <a:solidFill>
                    <a:srgbClr val="B0B0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Explicit threats or demands to force behavior through fear or pressure.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12148823" y="4778759"/>
            <a:ext cx="5511803" cy="2494283"/>
            <a:chOff x="0" y="0"/>
            <a:chExt cx="7349071" cy="3325711"/>
          </a:xfrm>
        </p:grpSpPr>
        <p:sp>
          <p:nvSpPr>
            <p:cNvPr id="72" name="Freeform 72"/>
            <p:cNvSpPr/>
            <p:nvPr/>
          </p:nvSpPr>
          <p:spPr>
            <a:xfrm>
              <a:off x="16891" y="16891"/>
              <a:ext cx="7315200" cy="3291840"/>
            </a:xfrm>
            <a:custGeom>
              <a:avLst/>
              <a:gdLst/>
              <a:ahLst/>
              <a:cxnLst/>
              <a:rect l="l" t="t" r="r" b="b"/>
              <a:pathLst>
                <a:path w="7315200" h="3291840">
                  <a:moveTo>
                    <a:pt x="0" y="0"/>
                  </a:moveTo>
                  <a:lnTo>
                    <a:pt x="7315200" y="0"/>
                  </a:lnTo>
                  <a:lnTo>
                    <a:pt x="7315200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73" name="Freeform 73"/>
            <p:cNvSpPr/>
            <p:nvPr/>
          </p:nvSpPr>
          <p:spPr>
            <a:xfrm>
              <a:off x="0" y="0"/>
              <a:ext cx="7348982" cy="3325622"/>
            </a:xfrm>
            <a:custGeom>
              <a:avLst/>
              <a:gdLst/>
              <a:ahLst/>
              <a:cxnLst/>
              <a:rect l="l" t="t" r="r" b="b"/>
              <a:pathLst>
                <a:path w="7348982" h="332562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3308731"/>
                  </a:lnTo>
                  <a:cubicBezTo>
                    <a:pt x="7348982" y="3318129"/>
                    <a:pt x="7341362" y="3325622"/>
                    <a:pt x="7332091" y="3325622"/>
                  </a:cubicBezTo>
                  <a:lnTo>
                    <a:pt x="16891" y="3325622"/>
                  </a:lnTo>
                  <a:cubicBezTo>
                    <a:pt x="7493" y="3325622"/>
                    <a:pt x="0" y="3318002"/>
                    <a:pt x="0" y="3308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308731"/>
                  </a:lnTo>
                  <a:lnTo>
                    <a:pt x="16891" y="3308731"/>
                  </a:lnTo>
                  <a:lnTo>
                    <a:pt x="16891" y="3291840"/>
                  </a:lnTo>
                  <a:lnTo>
                    <a:pt x="7332091" y="3291840"/>
                  </a:lnTo>
                  <a:lnTo>
                    <a:pt x="7332091" y="3308731"/>
                  </a:lnTo>
                  <a:lnTo>
                    <a:pt x="7315200" y="330873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B1C2E"/>
            </a:solidFill>
          </p:spPr>
        </p:sp>
      </p:grpSp>
      <p:grpSp>
        <p:nvGrpSpPr>
          <p:cNvPr id="74" name="Group 74"/>
          <p:cNvGrpSpPr/>
          <p:nvPr/>
        </p:nvGrpSpPr>
        <p:grpSpPr>
          <a:xfrm>
            <a:off x="12148823" y="4778759"/>
            <a:ext cx="5511803" cy="683771"/>
            <a:chOff x="0" y="0"/>
            <a:chExt cx="7349071" cy="911695"/>
          </a:xfrm>
        </p:grpSpPr>
        <p:sp>
          <p:nvSpPr>
            <p:cNvPr id="75" name="Freeform 75"/>
            <p:cNvSpPr/>
            <p:nvPr/>
          </p:nvSpPr>
          <p:spPr>
            <a:xfrm>
              <a:off x="16891" y="16891"/>
              <a:ext cx="7315200" cy="877824"/>
            </a:xfrm>
            <a:custGeom>
              <a:avLst/>
              <a:gdLst/>
              <a:ahLst/>
              <a:cxnLst/>
              <a:rect l="l" t="t" r="r" b="b"/>
              <a:pathLst>
                <a:path w="7315200" h="877824">
                  <a:moveTo>
                    <a:pt x="0" y="0"/>
                  </a:moveTo>
                  <a:lnTo>
                    <a:pt x="7315200" y="0"/>
                  </a:lnTo>
                  <a:lnTo>
                    <a:pt x="7315200" y="877824"/>
                  </a:lnTo>
                  <a:lnTo>
                    <a:pt x="0" y="877824"/>
                  </a:lnTo>
                  <a:close/>
                </a:path>
              </a:pathLst>
            </a:custGeom>
            <a:solidFill>
              <a:srgbClr val="7B1C2E"/>
            </a:solidFill>
          </p:spPr>
        </p:sp>
        <p:sp>
          <p:nvSpPr>
            <p:cNvPr id="76" name="Freeform 76"/>
            <p:cNvSpPr/>
            <p:nvPr/>
          </p:nvSpPr>
          <p:spPr>
            <a:xfrm>
              <a:off x="0" y="0"/>
              <a:ext cx="7348982" cy="911608"/>
            </a:xfrm>
            <a:custGeom>
              <a:avLst/>
              <a:gdLst/>
              <a:ahLst/>
              <a:cxnLst/>
              <a:rect l="l" t="t" r="r" b="b"/>
              <a:pathLst>
                <a:path w="7348982" h="911608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894715"/>
                  </a:lnTo>
                  <a:cubicBezTo>
                    <a:pt x="7348982" y="904113"/>
                    <a:pt x="7341362" y="911606"/>
                    <a:pt x="7332091" y="911606"/>
                  </a:cubicBezTo>
                  <a:lnTo>
                    <a:pt x="16891" y="911606"/>
                  </a:lnTo>
                  <a:cubicBezTo>
                    <a:pt x="7620" y="911733"/>
                    <a:pt x="0" y="904113"/>
                    <a:pt x="0" y="89471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94715"/>
                  </a:lnTo>
                  <a:lnTo>
                    <a:pt x="16891" y="894715"/>
                  </a:lnTo>
                  <a:lnTo>
                    <a:pt x="16891" y="877824"/>
                  </a:lnTo>
                  <a:lnTo>
                    <a:pt x="7332091" y="877824"/>
                  </a:lnTo>
                  <a:lnTo>
                    <a:pt x="7332091" y="894715"/>
                  </a:lnTo>
                  <a:lnTo>
                    <a:pt x="7315200" y="894715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B1C2E"/>
            </a:solidFill>
          </p:spPr>
        </p:sp>
      </p:grpSp>
      <p:grpSp>
        <p:nvGrpSpPr>
          <p:cNvPr id="77" name="Group 77"/>
          <p:cNvGrpSpPr/>
          <p:nvPr/>
        </p:nvGrpSpPr>
        <p:grpSpPr>
          <a:xfrm>
            <a:off x="12344400" y="4846320"/>
            <a:ext cx="5120640" cy="595572"/>
            <a:chOff x="0" y="0"/>
            <a:chExt cx="6827520" cy="794096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6827520" cy="794096"/>
            </a:xfrm>
            <a:custGeom>
              <a:avLst/>
              <a:gdLst/>
              <a:ahLst/>
              <a:cxnLst/>
              <a:rect l="l" t="t" r="r" b="b"/>
              <a:pathLst>
                <a:path w="6827520" h="794096">
                  <a:moveTo>
                    <a:pt x="0" y="0"/>
                  </a:moveTo>
                  <a:lnTo>
                    <a:pt x="6827520" y="0"/>
                  </a:lnTo>
                  <a:lnTo>
                    <a:pt x="6827520" y="794096"/>
                  </a:lnTo>
                  <a:lnTo>
                    <a:pt x="0" y="794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8398" b="-116660"/>
              </a:stretch>
            </a:blipFill>
          </p:spPr>
        </p:sp>
        <p:sp>
          <p:nvSpPr>
            <p:cNvPr id="79" name="TextBox 79"/>
            <p:cNvSpPr txBox="1"/>
            <p:nvPr/>
          </p:nvSpPr>
          <p:spPr>
            <a:xfrm>
              <a:off x="0" y="-57150"/>
              <a:ext cx="6827520" cy="85124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99"/>
                </a:lnSpc>
              </a:pPr>
              <a:r>
                <a:rPr lang="en-US" sz="29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🎭  Passive Aggression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12344400" y="5559552"/>
            <a:ext cx="5120640" cy="1591056"/>
            <a:chOff x="0" y="0"/>
            <a:chExt cx="6827520" cy="2121408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6827520" cy="2121408"/>
            </a:xfrm>
            <a:custGeom>
              <a:avLst/>
              <a:gdLst/>
              <a:ahLst/>
              <a:cxnLst/>
              <a:rect l="l" t="t" r="r" b="b"/>
              <a:pathLst>
                <a:path w="6827520" h="2121408">
                  <a:moveTo>
                    <a:pt x="0" y="0"/>
                  </a:moveTo>
                  <a:lnTo>
                    <a:pt x="6827520" y="0"/>
                  </a:lnTo>
                  <a:lnTo>
                    <a:pt x="6827520" y="2121408"/>
                  </a:lnTo>
                  <a:lnTo>
                    <a:pt x="0" y="21214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710" b="-12710"/>
              </a:stretch>
            </a:blipFill>
          </p:spPr>
        </p:sp>
        <p:sp>
          <p:nvSpPr>
            <p:cNvPr id="82" name="TextBox 82"/>
            <p:cNvSpPr txBox="1"/>
            <p:nvPr/>
          </p:nvSpPr>
          <p:spPr>
            <a:xfrm>
              <a:off x="0" y="-95250"/>
              <a:ext cx="6827520" cy="221665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49"/>
                </a:lnSpc>
              </a:pPr>
              <a:r>
                <a:rPr lang="en-US" sz="2499">
                  <a:solidFill>
                    <a:srgbClr val="B0B0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Indirect hostility — sarcasm, silent treatment, veiled insults.</a:t>
              </a: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6388103" y="7521959"/>
            <a:ext cx="5511803" cy="2494283"/>
            <a:chOff x="0" y="0"/>
            <a:chExt cx="7349071" cy="3325711"/>
          </a:xfrm>
        </p:grpSpPr>
        <p:sp>
          <p:nvSpPr>
            <p:cNvPr id="84" name="Freeform 84"/>
            <p:cNvSpPr/>
            <p:nvPr/>
          </p:nvSpPr>
          <p:spPr>
            <a:xfrm>
              <a:off x="16891" y="16891"/>
              <a:ext cx="7315200" cy="3291840"/>
            </a:xfrm>
            <a:custGeom>
              <a:avLst/>
              <a:gdLst/>
              <a:ahLst/>
              <a:cxnLst/>
              <a:rect l="l" t="t" r="r" b="b"/>
              <a:pathLst>
                <a:path w="7315200" h="3291840">
                  <a:moveTo>
                    <a:pt x="0" y="0"/>
                  </a:moveTo>
                  <a:lnTo>
                    <a:pt x="7315200" y="0"/>
                  </a:lnTo>
                  <a:lnTo>
                    <a:pt x="7315200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85" name="Freeform 85"/>
            <p:cNvSpPr/>
            <p:nvPr/>
          </p:nvSpPr>
          <p:spPr>
            <a:xfrm>
              <a:off x="0" y="0"/>
              <a:ext cx="7348982" cy="3325622"/>
            </a:xfrm>
            <a:custGeom>
              <a:avLst/>
              <a:gdLst/>
              <a:ahLst/>
              <a:cxnLst/>
              <a:rect l="l" t="t" r="r" b="b"/>
              <a:pathLst>
                <a:path w="7348982" h="332562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3308731"/>
                  </a:lnTo>
                  <a:cubicBezTo>
                    <a:pt x="7348982" y="3318129"/>
                    <a:pt x="7341362" y="3325622"/>
                    <a:pt x="7332091" y="3325622"/>
                  </a:cubicBezTo>
                  <a:lnTo>
                    <a:pt x="16891" y="3325622"/>
                  </a:lnTo>
                  <a:cubicBezTo>
                    <a:pt x="7493" y="3325622"/>
                    <a:pt x="0" y="3318002"/>
                    <a:pt x="0" y="3308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308731"/>
                  </a:lnTo>
                  <a:lnTo>
                    <a:pt x="16891" y="3308731"/>
                  </a:lnTo>
                  <a:lnTo>
                    <a:pt x="16891" y="3291840"/>
                  </a:lnTo>
                  <a:lnTo>
                    <a:pt x="7332091" y="3291840"/>
                  </a:lnTo>
                  <a:lnTo>
                    <a:pt x="7332091" y="3308731"/>
                  </a:lnTo>
                  <a:lnTo>
                    <a:pt x="7315200" y="330873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B1C2E"/>
            </a:solidFill>
          </p:spPr>
        </p:sp>
      </p:grpSp>
      <p:grpSp>
        <p:nvGrpSpPr>
          <p:cNvPr id="86" name="Group 86"/>
          <p:cNvGrpSpPr/>
          <p:nvPr/>
        </p:nvGrpSpPr>
        <p:grpSpPr>
          <a:xfrm>
            <a:off x="6388103" y="7521959"/>
            <a:ext cx="5511803" cy="683771"/>
            <a:chOff x="0" y="0"/>
            <a:chExt cx="7349071" cy="911695"/>
          </a:xfrm>
        </p:grpSpPr>
        <p:sp>
          <p:nvSpPr>
            <p:cNvPr id="87" name="Freeform 87"/>
            <p:cNvSpPr/>
            <p:nvPr/>
          </p:nvSpPr>
          <p:spPr>
            <a:xfrm>
              <a:off x="16891" y="16891"/>
              <a:ext cx="7315200" cy="877824"/>
            </a:xfrm>
            <a:custGeom>
              <a:avLst/>
              <a:gdLst/>
              <a:ahLst/>
              <a:cxnLst/>
              <a:rect l="l" t="t" r="r" b="b"/>
              <a:pathLst>
                <a:path w="7315200" h="877824">
                  <a:moveTo>
                    <a:pt x="0" y="0"/>
                  </a:moveTo>
                  <a:lnTo>
                    <a:pt x="7315200" y="0"/>
                  </a:lnTo>
                  <a:lnTo>
                    <a:pt x="7315200" y="877824"/>
                  </a:lnTo>
                  <a:lnTo>
                    <a:pt x="0" y="877824"/>
                  </a:lnTo>
                  <a:close/>
                </a:path>
              </a:pathLst>
            </a:custGeom>
            <a:solidFill>
              <a:srgbClr val="7B1C2E"/>
            </a:solidFill>
          </p:spPr>
        </p:sp>
        <p:sp>
          <p:nvSpPr>
            <p:cNvPr id="88" name="Freeform 88"/>
            <p:cNvSpPr/>
            <p:nvPr/>
          </p:nvSpPr>
          <p:spPr>
            <a:xfrm>
              <a:off x="0" y="0"/>
              <a:ext cx="7348982" cy="911608"/>
            </a:xfrm>
            <a:custGeom>
              <a:avLst/>
              <a:gdLst/>
              <a:ahLst/>
              <a:cxnLst/>
              <a:rect l="l" t="t" r="r" b="b"/>
              <a:pathLst>
                <a:path w="7348982" h="911608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894715"/>
                  </a:lnTo>
                  <a:cubicBezTo>
                    <a:pt x="7348982" y="904113"/>
                    <a:pt x="7341362" y="911606"/>
                    <a:pt x="7332091" y="911606"/>
                  </a:cubicBezTo>
                  <a:lnTo>
                    <a:pt x="16891" y="911606"/>
                  </a:lnTo>
                  <a:cubicBezTo>
                    <a:pt x="7620" y="911733"/>
                    <a:pt x="0" y="904113"/>
                    <a:pt x="0" y="89471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94715"/>
                  </a:lnTo>
                  <a:lnTo>
                    <a:pt x="16891" y="894715"/>
                  </a:lnTo>
                  <a:lnTo>
                    <a:pt x="16891" y="877824"/>
                  </a:lnTo>
                  <a:lnTo>
                    <a:pt x="7332091" y="877824"/>
                  </a:lnTo>
                  <a:lnTo>
                    <a:pt x="7332091" y="894715"/>
                  </a:lnTo>
                  <a:lnTo>
                    <a:pt x="7315200" y="894715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B1C2E"/>
            </a:solidFill>
          </p:spPr>
        </p:sp>
      </p:grpSp>
      <p:grpSp>
        <p:nvGrpSpPr>
          <p:cNvPr id="89" name="Group 89"/>
          <p:cNvGrpSpPr/>
          <p:nvPr/>
        </p:nvGrpSpPr>
        <p:grpSpPr>
          <a:xfrm>
            <a:off x="6583680" y="7589520"/>
            <a:ext cx="5120640" cy="595572"/>
            <a:chOff x="0" y="0"/>
            <a:chExt cx="6827520" cy="794096"/>
          </a:xfrm>
        </p:grpSpPr>
        <p:sp>
          <p:nvSpPr>
            <p:cNvPr id="90" name="Freeform 90"/>
            <p:cNvSpPr/>
            <p:nvPr/>
          </p:nvSpPr>
          <p:spPr>
            <a:xfrm>
              <a:off x="0" y="0"/>
              <a:ext cx="6827520" cy="794096"/>
            </a:xfrm>
            <a:custGeom>
              <a:avLst/>
              <a:gdLst/>
              <a:ahLst/>
              <a:cxnLst/>
              <a:rect l="l" t="t" r="r" b="b"/>
              <a:pathLst>
                <a:path w="6827520" h="794096">
                  <a:moveTo>
                    <a:pt x="0" y="0"/>
                  </a:moveTo>
                  <a:lnTo>
                    <a:pt x="6827520" y="0"/>
                  </a:lnTo>
                  <a:lnTo>
                    <a:pt x="6827520" y="794096"/>
                  </a:lnTo>
                  <a:lnTo>
                    <a:pt x="0" y="794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8398" b="-116660"/>
              </a:stretch>
            </a:blipFill>
          </p:spPr>
        </p:sp>
        <p:sp>
          <p:nvSpPr>
            <p:cNvPr id="91" name="TextBox 91"/>
            <p:cNvSpPr txBox="1"/>
            <p:nvPr/>
          </p:nvSpPr>
          <p:spPr>
            <a:xfrm>
              <a:off x="0" y="-57150"/>
              <a:ext cx="6827520" cy="85124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99"/>
                </a:lnSpc>
              </a:pPr>
              <a:r>
                <a:rPr lang="en-US" sz="29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✅  Neutral (Control)</a:t>
              </a:r>
            </a:p>
          </p:txBody>
        </p:sp>
      </p:grpSp>
      <p:grpSp>
        <p:nvGrpSpPr>
          <p:cNvPr id="92" name="Group 92"/>
          <p:cNvGrpSpPr/>
          <p:nvPr/>
        </p:nvGrpSpPr>
        <p:grpSpPr>
          <a:xfrm>
            <a:off x="6583680" y="8302752"/>
            <a:ext cx="5120640" cy="1591056"/>
            <a:chOff x="0" y="0"/>
            <a:chExt cx="6827520" cy="2121408"/>
          </a:xfrm>
        </p:grpSpPr>
        <p:sp>
          <p:nvSpPr>
            <p:cNvPr id="93" name="Freeform 93"/>
            <p:cNvSpPr/>
            <p:nvPr/>
          </p:nvSpPr>
          <p:spPr>
            <a:xfrm>
              <a:off x="0" y="0"/>
              <a:ext cx="6827520" cy="2121408"/>
            </a:xfrm>
            <a:custGeom>
              <a:avLst/>
              <a:gdLst/>
              <a:ahLst/>
              <a:cxnLst/>
              <a:rect l="l" t="t" r="r" b="b"/>
              <a:pathLst>
                <a:path w="6827520" h="2121408">
                  <a:moveTo>
                    <a:pt x="0" y="0"/>
                  </a:moveTo>
                  <a:lnTo>
                    <a:pt x="6827520" y="0"/>
                  </a:lnTo>
                  <a:lnTo>
                    <a:pt x="6827520" y="2121408"/>
                  </a:lnTo>
                  <a:lnTo>
                    <a:pt x="0" y="21214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710" b="-12710"/>
              </a:stretch>
            </a:blipFill>
          </p:spPr>
        </p:sp>
        <p:sp>
          <p:nvSpPr>
            <p:cNvPr id="94" name="TextBox 94"/>
            <p:cNvSpPr txBox="1"/>
            <p:nvPr/>
          </p:nvSpPr>
          <p:spPr>
            <a:xfrm>
              <a:off x="0" y="-95250"/>
              <a:ext cx="6827520" cy="221665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49"/>
                </a:lnSpc>
              </a:pPr>
              <a:r>
                <a:rPr lang="en-US" sz="2499">
                  <a:solidFill>
                    <a:srgbClr val="B0B0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Non-manipulative conversations used as the negative class baseline.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18313403" cy="1854203"/>
            <a:chOff x="0" y="0"/>
            <a:chExt cx="24417871" cy="2472271"/>
          </a:xfrm>
        </p:grpSpPr>
        <p:sp>
          <p:nvSpPr>
            <p:cNvPr id="3" name="Freeform 3"/>
            <p:cNvSpPr/>
            <p:nvPr/>
          </p:nvSpPr>
          <p:spPr>
            <a:xfrm>
              <a:off x="16891" y="16891"/>
              <a:ext cx="24383999" cy="2438400"/>
            </a:xfrm>
            <a:custGeom>
              <a:avLst/>
              <a:gdLst/>
              <a:ahLst/>
              <a:cxnLst/>
              <a:rect l="l" t="t" r="r" b="b"/>
              <a:pathLst>
                <a:path w="24383999" h="2438400">
                  <a:moveTo>
                    <a:pt x="0" y="0"/>
                  </a:moveTo>
                  <a:lnTo>
                    <a:pt x="24383999" y="0"/>
                  </a:lnTo>
                  <a:lnTo>
                    <a:pt x="24383999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5A0D1E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24417782" cy="2472182"/>
            </a:xfrm>
            <a:custGeom>
              <a:avLst/>
              <a:gdLst/>
              <a:ahLst/>
              <a:cxnLst/>
              <a:rect l="l" t="t" r="r" b="b"/>
              <a:pathLst>
                <a:path w="24417782" h="24721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455291"/>
                  </a:lnTo>
                  <a:cubicBezTo>
                    <a:pt x="24417782" y="2464689"/>
                    <a:pt x="24410163" y="2472182"/>
                    <a:pt x="24400890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24400890" y="2438400"/>
                  </a:lnTo>
                  <a:lnTo>
                    <a:pt x="24400890" y="2455291"/>
                  </a:lnTo>
                  <a:lnTo>
                    <a:pt x="24384000" y="245529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5A0D1E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731520" y="146304"/>
            <a:ext cx="16459200" cy="1097280"/>
            <a:chOff x="0" y="0"/>
            <a:chExt cx="21945600" cy="146304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945600" cy="1463040"/>
            </a:xfrm>
            <a:custGeom>
              <a:avLst/>
              <a:gdLst/>
              <a:ahLst/>
              <a:cxnLst/>
              <a:rect l="l" t="t" r="r" b="b"/>
              <a:pathLst>
                <a:path w="21945600" h="146304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2275" b="-242275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21945600" cy="14725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240"/>
                </a:lnSpc>
              </a:pPr>
              <a:r>
                <a:rPr lang="en-US" sz="5200" b="1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Project Pipeline — Data to Model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6093440" y="146304"/>
            <a:ext cx="1463040" cy="1097280"/>
            <a:chOff x="0" y="0"/>
            <a:chExt cx="1950720" cy="14630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950720" cy="1463040"/>
            </a:xfrm>
            <a:custGeom>
              <a:avLst/>
              <a:gdLst/>
              <a:ahLst/>
              <a:cxnLst/>
              <a:rect l="l" t="t" r="r" b="b"/>
              <a:pathLst>
                <a:path w="1950720" h="1463040">
                  <a:moveTo>
                    <a:pt x="0" y="0"/>
                  </a:moveTo>
                  <a:lnTo>
                    <a:pt x="1950720" y="0"/>
                  </a:lnTo>
                  <a:lnTo>
                    <a:pt x="19507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r="-46227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1950720" cy="14820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4800"/>
                </a:lnSpc>
              </a:pPr>
              <a:r>
                <a:rPr lang="en-US" sz="4000" b="1">
                  <a:solidFill>
                    <a:srgbClr val="C9A96E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05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113783" y="3187703"/>
            <a:ext cx="427739" cy="135131"/>
            <a:chOff x="0" y="0"/>
            <a:chExt cx="570319" cy="180175"/>
          </a:xfrm>
        </p:grpSpPr>
        <p:sp>
          <p:nvSpPr>
            <p:cNvPr id="12" name="Freeform 12"/>
            <p:cNvSpPr/>
            <p:nvPr/>
          </p:nvSpPr>
          <p:spPr>
            <a:xfrm>
              <a:off x="16891" y="16891"/>
              <a:ext cx="536448" cy="146304"/>
            </a:xfrm>
            <a:custGeom>
              <a:avLst/>
              <a:gdLst/>
              <a:ahLst/>
              <a:cxnLst/>
              <a:rect l="l" t="t" r="r" b="b"/>
              <a:pathLst>
                <a:path w="536448" h="146304">
                  <a:moveTo>
                    <a:pt x="0" y="0"/>
                  </a:moveTo>
                  <a:lnTo>
                    <a:pt x="536448" y="0"/>
                  </a:lnTo>
                  <a:lnTo>
                    <a:pt x="536448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C9A96E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0" y="0"/>
              <a:ext cx="570230" cy="180088"/>
            </a:xfrm>
            <a:custGeom>
              <a:avLst/>
              <a:gdLst/>
              <a:ahLst/>
              <a:cxnLst/>
              <a:rect l="l" t="t" r="r" b="b"/>
              <a:pathLst>
                <a:path w="570230" h="180088">
                  <a:moveTo>
                    <a:pt x="16891" y="0"/>
                  </a:moveTo>
                  <a:lnTo>
                    <a:pt x="553339" y="0"/>
                  </a:lnTo>
                  <a:cubicBezTo>
                    <a:pt x="562737" y="0"/>
                    <a:pt x="570230" y="7620"/>
                    <a:pt x="570230" y="16891"/>
                  </a:cubicBezTo>
                  <a:lnTo>
                    <a:pt x="570230" y="163195"/>
                  </a:lnTo>
                  <a:cubicBezTo>
                    <a:pt x="570230" y="172593"/>
                    <a:pt x="562610" y="180086"/>
                    <a:pt x="553339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553339" y="146304"/>
                  </a:lnTo>
                  <a:lnTo>
                    <a:pt x="553339" y="163195"/>
                  </a:lnTo>
                  <a:lnTo>
                    <a:pt x="536448" y="163195"/>
                  </a:lnTo>
                  <a:lnTo>
                    <a:pt x="536448" y="16891"/>
                  </a:lnTo>
                  <a:lnTo>
                    <a:pt x="553339" y="16891"/>
                  </a:lnTo>
                  <a:lnTo>
                    <a:pt x="5533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9A96E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624840" y="2179320"/>
            <a:ext cx="5242560" cy="3139440"/>
            <a:chOff x="0" y="0"/>
            <a:chExt cx="6990080" cy="4185920"/>
          </a:xfrm>
        </p:grpSpPr>
        <p:sp>
          <p:nvSpPr>
            <p:cNvPr id="15" name="Freeform 15"/>
            <p:cNvSpPr/>
            <p:nvPr/>
          </p:nvSpPr>
          <p:spPr>
            <a:xfrm>
              <a:off x="20320" y="20320"/>
              <a:ext cx="6949440" cy="4145280"/>
            </a:xfrm>
            <a:custGeom>
              <a:avLst/>
              <a:gdLst/>
              <a:ahLst/>
              <a:cxnLst/>
              <a:rect l="l" t="t" r="r" b="b"/>
              <a:pathLst>
                <a:path w="6949440" h="4145280">
                  <a:moveTo>
                    <a:pt x="0" y="0"/>
                  </a:moveTo>
                  <a:lnTo>
                    <a:pt x="6949440" y="0"/>
                  </a:lnTo>
                  <a:lnTo>
                    <a:pt x="6949440" y="4145280"/>
                  </a:lnTo>
                  <a:lnTo>
                    <a:pt x="0" y="4145280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0" y="0"/>
              <a:ext cx="6990080" cy="4185920"/>
            </a:xfrm>
            <a:custGeom>
              <a:avLst/>
              <a:gdLst/>
              <a:ahLst/>
              <a:cxnLst/>
              <a:rect l="l" t="t" r="r" b="b"/>
              <a:pathLst>
                <a:path w="6990080" h="4185920">
                  <a:moveTo>
                    <a:pt x="20320" y="0"/>
                  </a:moveTo>
                  <a:lnTo>
                    <a:pt x="6969760" y="0"/>
                  </a:lnTo>
                  <a:cubicBezTo>
                    <a:pt x="6980936" y="0"/>
                    <a:pt x="6990080" y="9144"/>
                    <a:pt x="6990080" y="20320"/>
                  </a:cubicBezTo>
                  <a:lnTo>
                    <a:pt x="6990080" y="4165600"/>
                  </a:lnTo>
                  <a:cubicBezTo>
                    <a:pt x="6990080" y="4176776"/>
                    <a:pt x="6980936" y="4185920"/>
                    <a:pt x="6969760" y="4185920"/>
                  </a:cubicBezTo>
                  <a:lnTo>
                    <a:pt x="20320" y="4185920"/>
                  </a:lnTo>
                  <a:cubicBezTo>
                    <a:pt x="9144" y="4185920"/>
                    <a:pt x="0" y="4176776"/>
                    <a:pt x="0" y="4165600"/>
                  </a:cubicBezTo>
                  <a:lnTo>
                    <a:pt x="0" y="20320"/>
                  </a:lnTo>
                  <a:cubicBezTo>
                    <a:pt x="0" y="9144"/>
                    <a:pt x="9144" y="0"/>
                    <a:pt x="20320" y="0"/>
                  </a:cubicBezTo>
                  <a:moveTo>
                    <a:pt x="20320" y="40640"/>
                  </a:moveTo>
                  <a:lnTo>
                    <a:pt x="20320" y="20320"/>
                  </a:lnTo>
                  <a:lnTo>
                    <a:pt x="40640" y="20320"/>
                  </a:lnTo>
                  <a:lnTo>
                    <a:pt x="40640" y="4165600"/>
                  </a:lnTo>
                  <a:lnTo>
                    <a:pt x="20320" y="4165600"/>
                  </a:lnTo>
                  <a:lnTo>
                    <a:pt x="20320" y="4145280"/>
                  </a:lnTo>
                  <a:lnTo>
                    <a:pt x="6969760" y="4145280"/>
                  </a:lnTo>
                  <a:lnTo>
                    <a:pt x="6969760" y="4165600"/>
                  </a:lnTo>
                  <a:lnTo>
                    <a:pt x="6949440" y="4165600"/>
                  </a:lnTo>
                  <a:lnTo>
                    <a:pt x="6949440" y="20320"/>
                  </a:lnTo>
                  <a:lnTo>
                    <a:pt x="6969760" y="20320"/>
                  </a:lnTo>
                  <a:lnTo>
                    <a:pt x="6969760" y="40640"/>
                  </a:lnTo>
                  <a:lnTo>
                    <a:pt x="20320" y="40640"/>
                  </a:lnTo>
                  <a:close/>
                </a:path>
              </a:pathLst>
            </a:custGeom>
            <a:solidFill>
              <a:srgbClr val="7B1C2E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812797" y="2367277"/>
            <a:ext cx="1026157" cy="1026157"/>
            <a:chOff x="0" y="0"/>
            <a:chExt cx="1368209" cy="1368209"/>
          </a:xfrm>
        </p:grpSpPr>
        <p:sp>
          <p:nvSpPr>
            <p:cNvPr id="18" name="Freeform 18"/>
            <p:cNvSpPr/>
            <p:nvPr/>
          </p:nvSpPr>
          <p:spPr>
            <a:xfrm>
              <a:off x="13589" y="13589"/>
              <a:ext cx="1341120" cy="1341120"/>
            </a:xfrm>
            <a:custGeom>
              <a:avLst/>
              <a:gdLst/>
              <a:ahLst/>
              <a:cxnLst/>
              <a:rect l="l" t="t" r="r" b="b"/>
              <a:pathLst>
                <a:path w="1341120" h="1341120">
                  <a:moveTo>
                    <a:pt x="0" y="670560"/>
                  </a:moveTo>
                  <a:cubicBezTo>
                    <a:pt x="0" y="300228"/>
                    <a:pt x="300228" y="0"/>
                    <a:pt x="670560" y="0"/>
                  </a:cubicBezTo>
                  <a:cubicBezTo>
                    <a:pt x="1040892" y="0"/>
                    <a:pt x="1341120" y="300228"/>
                    <a:pt x="1341120" y="670560"/>
                  </a:cubicBezTo>
                  <a:cubicBezTo>
                    <a:pt x="1341120" y="1040892"/>
                    <a:pt x="1040892" y="1341120"/>
                    <a:pt x="670560" y="1341120"/>
                  </a:cubicBezTo>
                  <a:cubicBezTo>
                    <a:pt x="300228" y="1341120"/>
                    <a:pt x="0" y="1040892"/>
                    <a:pt x="0" y="670560"/>
                  </a:cubicBezTo>
                  <a:close/>
                </a:path>
              </a:pathLst>
            </a:custGeom>
            <a:solidFill>
              <a:srgbClr val="7B1C2E"/>
            </a:solidFill>
          </p:spPr>
        </p:sp>
        <p:sp>
          <p:nvSpPr>
            <p:cNvPr id="19" name="Freeform 19"/>
            <p:cNvSpPr/>
            <p:nvPr/>
          </p:nvSpPr>
          <p:spPr>
            <a:xfrm>
              <a:off x="0" y="0"/>
              <a:ext cx="1368298" cy="1368298"/>
            </a:xfrm>
            <a:custGeom>
              <a:avLst/>
              <a:gdLst/>
              <a:ahLst/>
              <a:cxnLst/>
              <a:rect l="l" t="t" r="r" b="b"/>
              <a:pathLst>
                <a:path w="1368298" h="1368298">
                  <a:moveTo>
                    <a:pt x="0" y="684149"/>
                  </a:moveTo>
                  <a:cubicBezTo>
                    <a:pt x="0" y="306324"/>
                    <a:pt x="306324" y="0"/>
                    <a:pt x="684149" y="0"/>
                  </a:cubicBezTo>
                  <a:lnTo>
                    <a:pt x="684149" y="13589"/>
                  </a:lnTo>
                  <a:lnTo>
                    <a:pt x="684149" y="0"/>
                  </a:lnTo>
                  <a:cubicBezTo>
                    <a:pt x="1061974" y="0"/>
                    <a:pt x="1368298" y="306324"/>
                    <a:pt x="1368298" y="684149"/>
                  </a:cubicBezTo>
                  <a:lnTo>
                    <a:pt x="1354709" y="684149"/>
                  </a:lnTo>
                  <a:lnTo>
                    <a:pt x="1368298" y="684149"/>
                  </a:lnTo>
                  <a:cubicBezTo>
                    <a:pt x="1368298" y="1061974"/>
                    <a:pt x="1061974" y="1368298"/>
                    <a:pt x="684149" y="1368298"/>
                  </a:cubicBezTo>
                  <a:lnTo>
                    <a:pt x="684149" y="1354709"/>
                  </a:lnTo>
                  <a:lnTo>
                    <a:pt x="684149" y="1368298"/>
                  </a:lnTo>
                  <a:cubicBezTo>
                    <a:pt x="306324" y="1368171"/>
                    <a:pt x="0" y="1061974"/>
                    <a:pt x="0" y="684149"/>
                  </a:cubicBezTo>
                  <a:lnTo>
                    <a:pt x="13589" y="684149"/>
                  </a:lnTo>
                  <a:lnTo>
                    <a:pt x="27051" y="684149"/>
                  </a:lnTo>
                  <a:lnTo>
                    <a:pt x="13589" y="684149"/>
                  </a:lnTo>
                  <a:lnTo>
                    <a:pt x="0" y="684149"/>
                  </a:lnTo>
                  <a:moveTo>
                    <a:pt x="27051" y="684149"/>
                  </a:moveTo>
                  <a:cubicBezTo>
                    <a:pt x="27051" y="691642"/>
                    <a:pt x="20955" y="697738"/>
                    <a:pt x="13462" y="697738"/>
                  </a:cubicBezTo>
                  <a:cubicBezTo>
                    <a:pt x="5969" y="697738"/>
                    <a:pt x="0" y="691642"/>
                    <a:pt x="0" y="684149"/>
                  </a:cubicBezTo>
                  <a:cubicBezTo>
                    <a:pt x="0" y="676656"/>
                    <a:pt x="6096" y="670560"/>
                    <a:pt x="13589" y="670560"/>
                  </a:cubicBezTo>
                  <a:cubicBezTo>
                    <a:pt x="21082" y="670560"/>
                    <a:pt x="27178" y="676656"/>
                    <a:pt x="27178" y="684149"/>
                  </a:cubicBezTo>
                  <a:cubicBezTo>
                    <a:pt x="27178" y="1046988"/>
                    <a:pt x="321310" y="1341120"/>
                    <a:pt x="684149" y="1341120"/>
                  </a:cubicBezTo>
                  <a:cubicBezTo>
                    <a:pt x="1046988" y="1341120"/>
                    <a:pt x="1341120" y="1046988"/>
                    <a:pt x="1341120" y="684149"/>
                  </a:cubicBezTo>
                  <a:cubicBezTo>
                    <a:pt x="1341120" y="321310"/>
                    <a:pt x="1046988" y="27051"/>
                    <a:pt x="684149" y="27051"/>
                  </a:cubicBezTo>
                  <a:lnTo>
                    <a:pt x="684149" y="13589"/>
                  </a:lnTo>
                  <a:lnTo>
                    <a:pt x="684149" y="27051"/>
                  </a:lnTo>
                  <a:cubicBezTo>
                    <a:pt x="321310" y="27051"/>
                    <a:pt x="27051" y="321310"/>
                    <a:pt x="27051" y="684149"/>
                  </a:cubicBezTo>
                  <a:close/>
                </a:path>
              </a:pathLst>
            </a:custGeom>
            <a:solidFill>
              <a:srgbClr val="C9A96E"/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822960" y="2377440"/>
            <a:ext cx="1005840" cy="1005840"/>
            <a:chOff x="0" y="0"/>
            <a:chExt cx="1341120" cy="134112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341120" cy="1341120"/>
            </a:xfrm>
            <a:custGeom>
              <a:avLst/>
              <a:gdLst/>
              <a:ahLst/>
              <a:cxnLst/>
              <a:rect l="l" t="t" r="r" b="b"/>
              <a:pathLst>
                <a:path w="1341120" h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-9525"/>
              <a:ext cx="1341120" cy="13506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 b="1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01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2011680" y="2450592"/>
            <a:ext cx="3657600" cy="768096"/>
            <a:chOff x="0" y="0"/>
            <a:chExt cx="4876800" cy="1024128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4876800" cy="1024128"/>
            </a:xfrm>
            <a:custGeom>
              <a:avLst/>
              <a:gdLst/>
              <a:ahLst/>
              <a:cxnLst/>
              <a:rect l="l" t="t" r="r" b="b"/>
              <a:pathLst>
                <a:path w="4876800" h="1024128">
                  <a:moveTo>
                    <a:pt x="0" y="0"/>
                  </a:moveTo>
                  <a:lnTo>
                    <a:pt x="4876800" y="0"/>
                  </a:lnTo>
                  <a:lnTo>
                    <a:pt x="48768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2785" b="-42785"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0" y="-66675"/>
              <a:ext cx="4876800" cy="10908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719"/>
                </a:lnSpc>
              </a:pPr>
              <a:r>
                <a:rPr lang="en-US" sz="30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Load Dataset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59536" y="3511296"/>
            <a:ext cx="4846320" cy="1554480"/>
            <a:chOff x="0" y="0"/>
            <a:chExt cx="6461760" cy="207264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6461760" cy="2072640"/>
            </a:xfrm>
            <a:custGeom>
              <a:avLst/>
              <a:gdLst/>
              <a:ahLst/>
              <a:cxnLst/>
              <a:rect l="l" t="t" r="r" b="b"/>
              <a:pathLst>
                <a:path w="6461760" h="2072640">
                  <a:moveTo>
                    <a:pt x="0" y="0"/>
                  </a:moveTo>
                  <a:lnTo>
                    <a:pt x="6461760" y="0"/>
                  </a:lnTo>
                  <a:lnTo>
                    <a:pt x="646176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747" b="-10747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-123825"/>
              <a:ext cx="6461760" cy="21964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175"/>
                </a:lnSpc>
              </a:pPr>
              <a:r>
                <a:rPr lang="en-US" sz="2899">
                  <a:solidFill>
                    <a:srgbClr val="B0B0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pandas read_csv</a:t>
              </a:r>
            </a:p>
            <a:p>
              <a:pPr algn="l">
                <a:lnSpc>
                  <a:spcPts val="4175"/>
                </a:lnSpc>
              </a:pPr>
              <a:r>
                <a:rPr lang="en-US" sz="2899">
                  <a:solidFill>
                    <a:srgbClr val="B0B0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10,000 rows, 8 columns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2002519" y="3187703"/>
            <a:ext cx="427739" cy="135131"/>
            <a:chOff x="0" y="0"/>
            <a:chExt cx="570319" cy="180175"/>
          </a:xfrm>
        </p:grpSpPr>
        <p:sp>
          <p:nvSpPr>
            <p:cNvPr id="30" name="Freeform 30"/>
            <p:cNvSpPr/>
            <p:nvPr/>
          </p:nvSpPr>
          <p:spPr>
            <a:xfrm>
              <a:off x="16891" y="16891"/>
              <a:ext cx="536448" cy="146304"/>
            </a:xfrm>
            <a:custGeom>
              <a:avLst/>
              <a:gdLst/>
              <a:ahLst/>
              <a:cxnLst/>
              <a:rect l="l" t="t" r="r" b="b"/>
              <a:pathLst>
                <a:path w="536448" h="146304">
                  <a:moveTo>
                    <a:pt x="0" y="0"/>
                  </a:moveTo>
                  <a:lnTo>
                    <a:pt x="536448" y="0"/>
                  </a:lnTo>
                  <a:lnTo>
                    <a:pt x="536448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C9A96E"/>
            </a:solidFill>
          </p:spPr>
        </p:sp>
        <p:sp>
          <p:nvSpPr>
            <p:cNvPr id="31" name="Freeform 31"/>
            <p:cNvSpPr/>
            <p:nvPr/>
          </p:nvSpPr>
          <p:spPr>
            <a:xfrm>
              <a:off x="0" y="0"/>
              <a:ext cx="570230" cy="180088"/>
            </a:xfrm>
            <a:custGeom>
              <a:avLst/>
              <a:gdLst/>
              <a:ahLst/>
              <a:cxnLst/>
              <a:rect l="l" t="t" r="r" b="b"/>
              <a:pathLst>
                <a:path w="570230" h="180088">
                  <a:moveTo>
                    <a:pt x="16891" y="0"/>
                  </a:moveTo>
                  <a:lnTo>
                    <a:pt x="553339" y="0"/>
                  </a:lnTo>
                  <a:cubicBezTo>
                    <a:pt x="562737" y="0"/>
                    <a:pt x="570230" y="7620"/>
                    <a:pt x="570230" y="16891"/>
                  </a:cubicBezTo>
                  <a:lnTo>
                    <a:pt x="570230" y="163195"/>
                  </a:lnTo>
                  <a:cubicBezTo>
                    <a:pt x="570230" y="172593"/>
                    <a:pt x="562610" y="180086"/>
                    <a:pt x="553339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553339" y="146304"/>
                  </a:lnTo>
                  <a:lnTo>
                    <a:pt x="553339" y="163195"/>
                  </a:lnTo>
                  <a:lnTo>
                    <a:pt x="536448" y="163195"/>
                  </a:lnTo>
                  <a:lnTo>
                    <a:pt x="536448" y="16891"/>
                  </a:lnTo>
                  <a:lnTo>
                    <a:pt x="553339" y="16891"/>
                  </a:lnTo>
                  <a:lnTo>
                    <a:pt x="5533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9A96E"/>
            </a:solidFill>
          </p:spPr>
        </p:sp>
      </p:grpSp>
      <p:grpSp>
        <p:nvGrpSpPr>
          <p:cNvPr id="32" name="Group 32"/>
          <p:cNvGrpSpPr/>
          <p:nvPr/>
        </p:nvGrpSpPr>
        <p:grpSpPr>
          <a:xfrm>
            <a:off x="6513576" y="2179320"/>
            <a:ext cx="5242560" cy="3139440"/>
            <a:chOff x="0" y="0"/>
            <a:chExt cx="6990080" cy="4185920"/>
          </a:xfrm>
        </p:grpSpPr>
        <p:sp>
          <p:nvSpPr>
            <p:cNvPr id="33" name="Freeform 33"/>
            <p:cNvSpPr/>
            <p:nvPr/>
          </p:nvSpPr>
          <p:spPr>
            <a:xfrm>
              <a:off x="20320" y="20320"/>
              <a:ext cx="6949440" cy="4145280"/>
            </a:xfrm>
            <a:custGeom>
              <a:avLst/>
              <a:gdLst/>
              <a:ahLst/>
              <a:cxnLst/>
              <a:rect l="l" t="t" r="r" b="b"/>
              <a:pathLst>
                <a:path w="6949440" h="4145280">
                  <a:moveTo>
                    <a:pt x="0" y="0"/>
                  </a:moveTo>
                  <a:lnTo>
                    <a:pt x="6949440" y="0"/>
                  </a:lnTo>
                  <a:lnTo>
                    <a:pt x="6949440" y="4145280"/>
                  </a:lnTo>
                  <a:lnTo>
                    <a:pt x="0" y="4145280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id="34" name="Freeform 34"/>
            <p:cNvSpPr/>
            <p:nvPr/>
          </p:nvSpPr>
          <p:spPr>
            <a:xfrm>
              <a:off x="0" y="0"/>
              <a:ext cx="6990080" cy="4185920"/>
            </a:xfrm>
            <a:custGeom>
              <a:avLst/>
              <a:gdLst/>
              <a:ahLst/>
              <a:cxnLst/>
              <a:rect l="l" t="t" r="r" b="b"/>
              <a:pathLst>
                <a:path w="6990080" h="4185920">
                  <a:moveTo>
                    <a:pt x="20320" y="0"/>
                  </a:moveTo>
                  <a:lnTo>
                    <a:pt x="6969760" y="0"/>
                  </a:lnTo>
                  <a:cubicBezTo>
                    <a:pt x="6980936" y="0"/>
                    <a:pt x="6990080" y="9144"/>
                    <a:pt x="6990080" y="20320"/>
                  </a:cubicBezTo>
                  <a:lnTo>
                    <a:pt x="6990080" y="4165600"/>
                  </a:lnTo>
                  <a:cubicBezTo>
                    <a:pt x="6990080" y="4176776"/>
                    <a:pt x="6980936" y="4185920"/>
                    <a:pt x="6969760" y="4185920"/>
                  </a:cubicBezTo>
                  <a:lnTo>
                    <a:pt x="20320" y="4185920"/>
                  </a:lnTo>
                  <a:cubicBezTo>
                    <a:pt x="9144" y="4185920"/>
                    <a:pt x="0" y="4176776"/>
                    <a:pt x="0" y="4165600"/>
                  </a:cubicBezTo>
                  <a:lnTo>
                    <a:pt x="0" y="20320"/>
                  </a:lnTo>
                  <a:cubicBezTo>
                    <a:pt x="0" y="9144"/>
                    <a:pt x="9144" y="0"/>
                    <a:pt x="20320" y="0"/>
                  </a:cubicBezTo>
                  <a:moveTo>
                    <a:pt x="20320" y="40640"/>
                  </a:moveTo>
                  <a:lnTo>
                    <a:pt x="20320" y="20320"/>
                  </a:lnTo>
                  <a:lnTo>
                    <a:pt x="40640" y="20320"/>
                  </a:lnTo>
                  <a:lnTo>
                    <a:pt x="40640" y="4165600"/>
                  </a:lnTo>
                  <a:lnTo>
                    <a:pt x="20320" y="4165600"/>
                  </a:lnTo>
                  <a:lnTo>
                    <a:pt x="20320" y="4145280"/>
                  </a:lnTo>
                  <a:lnTo>
                    <a:pt x="6969760" y="4145280"/>
                  </a:lnTo>
                  <a:lnTo>
                    <a:pt x="6969760" y="4165600"/>
                  </a:lnTo>
                  <a:lnTo>
                    <a:pt x="6949440" y="4165600"/>
                  </a:lnTo>
                  <a:lnTo>
                    <a:pt x="6949440" y="20320"/>
                  </a:lnTo>
                  <a:lnTo>
                    <a:pt x="6969760" y="20320"/>
                  </a:lnTo>
                  <a:lnTo>
                    <a:pt x="6969760" y="40640"/>
                  </a:lnTo>
                  <a:lnTo>
                    <a:pt x="20320" y="40640"/>
                  </a:lnTo>
                  <a:close/>
                </a:path>
              </a:pathLst>
            </a:custGeom>
            <a:solidFill>
              <a:srgbClr val="7B1C2E"/>
            </a:solidFill>
          </p:spPr>
        </p:sp>
      </p:grpSp>
      <p:grpSp>
        <p:nvGrpSpPr>
          <p:cNvPr id="35" name="Group 35"/>
          <p:cNvGrpSpPr/>
          <p:nvPr/>
        </p:nvGrpSpPr>
        <p:grpSpPr>
          <a:xfrm>
            <a:off x="6701533" y="2367277"/>
            <a:ext cx="1026157" cy="1026157"/>
            <a:chOff x="0" y="0"/>
            <a:chExt cx="1368209" cy="1368209"/>
          </a:xfrm>
        </p:grpSpPr>
        <p:sp>
          <p:nvSpPr>
            <p:cNvPr id="36" name="Freeform 36"/>
            <p:cNvSpPr/>
            <p:nvPr/>
          </p:nvSpPr>
          <p:spPr>
            <a:xfrm>
              <a:off x="13589" y="13589"/>
              <a:ext cx="1341120" cy="1341120"/>
            </a:xfrm>
            <a:custGeom>
              <a:avLst/>
              <a:gdLst/>
              <a:ahLst/>
              <a:cxnLst/>
              <a:rect l="l" t="t" r="r" b="b"/>
              <a:pathLst>
                <a:path w="1341120" h="1341120">
                  <a:moveTo>
                    <a:pt x="0" y="670560"/>
                  </a:moveTo>
                  <a:cubicBezTo>
                    <a:pt x="0" y="300228"/>
                    <a:pt x="300228" y="0"/>
                    <a:pt x="670560" y="0"/>
                  </a:cubicBezTo>
                  <a:cubicBezTo>
                    <a:pt x="1040892" y="0"/>
                    <a:pt x="1341120" y="300228"/>
                    <a:pt x="1341120" y="670560"/>
                  </a:cubicBezTo>
                  <a:cubicBezTo>
                    <a:pt x="1341120" y="1040892"/>
                    <a:pt x="1040892" y="1341120"/>
                    <a:pt x="670560" y="1341120"/>
                  </a:cubicBezTo>
                  <a:cubicBezTo>
                    <a:pt x="300228" y="1341120"/>
                    <a:pt x="0" y="1040892"/>
                    <a:pt x="0" y="670560"/>
                  </a:cubicBezTo>
                  <a:close/>
                </a:path>
              </a:pathLst>
            </a:custGeom>
            <a:solidFill>
              <a:srgbClr val="7B1C2E"/>
            </a:solidFill>
          </p:spPr>
        </p:sp>
        <p:sp>
          <p:nvSpPr>
            <p:cNvPr id="37" name="Freeform 37"/>
            <p:cNvSpPr/>
            <p:nvPr/>
          </p:nvSpPr>
          <p:spPr>
            <a:xfrm>
              <a:off x="0" y="0"/>
              <a:ext cx="1368298" cy="1368298"/>
            </a:xfrm>
            <a:custGeom>
              <a:avLst/>
              <a:gdLst/>
              <a:ahLst/>
              <a:cxnLst/>
              <a:rect l="l" t="t" r="r" b="b"/>
              <a:pathLst>
                <a:path w="1368298" h="1368298">
                  <a:moveTo>
                    <a:pt x="0" y="684149"/>
                  </a:moveTo>
                  <a:cubicBezTo>
                    <a:pt x="0" y="306324"/>
                    <a:pt x="306324" y="0"/>
                    <a:pt x="684149" y="0"/>
                  </a:cubicBezTo>
                  <a:lnTo>
                    <a:pt x="684149" y="13589"/>
                  </a:lnTo>
                  <a:lnTo>
                    <a:pt x="684149" y="0"/>
                  </a:lnTo>
                  <a:cubicBezTo>
                    <a:pt x="1061974" y="0"/>
                    <a:pt x="1368298" y="306324"/>
                    <a:pt x="1368298" y="684149"/>
                  </a:cubicBezTo>
                  <a:lnTo>
                    <a:pt x="1354709" y="684149"/>
                  </a:lnTo>
                  <a:lnTo>
                    <a:pt x="1368298" y="684149"/>
                  </a:lnTo>
                  <a:cubicBezTo>
                    <a:pt x="1368298" y="1061974"/>
                    <a:pt x="1061974" y="1368298"/>
                    <a:pt x="684149" y="1368298"/>
                  </a:cubicBezTo>
                  <a:lnTo>
                    <a:pt x="684149" y="1354709"/>
                  </a:lnTo>
                  <a:lnTo>
                    <a:pt x="684149" y="1368298"/>
                  </a:lnTo>
                  <a:cubicBezTo>
                    <a:pt x="306324" y="1368171"/>
                    <a:pt x="0" y="1061974"/>
                    <a:pt x="0" y="684149"/>
                  </a:cubicBezTo>
                  <a:lnTo>
                    <a:pt x="13589" y="684149"/>
                  </a:lnTo>
                  <a:lnTo>
                    <a:pt x="27051" y="684149"/>
                  </a:lnTo>
                  <a:lnTo>
                    <a:pt x="13589" y="684149"/>
                  </a:lnTo>
                  <a:lnTo>
                    <a:pt x="0" y="684149"/>
                  </a:lnTo>
                  <a:moveTo>
                    <a:pt x="27051" y="684149"/>
                  </a:moveTo>
                  <a:cubicBezTo>
                    <a:pt x="27051" y="691642"/>
                    <a:pt x="20955" y="697738"/>
                    <a:pt x="13462" y="697738"/>
                  </a:cubicBezTo>
                  <a:cubicBezTo>
                    <a:pt x="5969" y="697738"/>
                    <a:pt x="0" y="691642"/>
                    <a:pt x="0" y="684149"/>
                  </a:cubicBezTo>
                  <a:cubicBezTo>
                    <a:pt x="0" y="676656"/>
                    <a:pt x="6096" y="670560"/>
                    <a:pt x="13589" y="670560"/>
                  </a:cubicBezTo>
                  <a:cubicBezTo>
                    <a:pt x="21082" y="670560"/>
                    <a:pt x="27178" y="676656"/>
                    <a:pt x="27178" y="684149"/>
                  </a:cubicBezTo>
                  <a:cubicBezTo>
                    <a:pt x="27178" y="1046988"/>
                    <a:pt x="321310" y="1341120"/>
                    <a:pt x="684149" y="1341120"/>
                  </a:cubicBezTo>
                  <a:cubicBezTo>
                    <a:pt x="1046988" y="1341120"/>
                    <a:pt x="1341120" y="1046988"/>
                    <a:pt x="1341120" y="684149"/>
                  </a:cubicBezTo>
                  <a:cubicBezTo>
                    <a:pt x="1341120" y="321310"/>
                    <a:pt x="1046988" y="27051"/>
                    <a:pt x="684149" y="27051"/>
                  </a:cubicBezTo>
                  <a:lnTo>
                    <a:pt x="684149" y="13589"/>
                  </a:lnTo>
                  <a:lnTo>
                    <a:pt x="684149" y="27051"/>
                  </a:lnTo>
                  <a:cubicBezTo>
                    <a:pt x="321310" y="27051"/>
                    <a:pt x="27051" y="321310"/>
                    <a:pt x="27051" y="684149"/>
                  </a:cubicBezTo>
                  <a:close/>
                </a:path>
              </a:pathLst>
            </a:custGeom>
            <a:solidFill>
              <a:srgbClr val="C9A96E"/>
            </a:solidFill>
          </p:spPr>
        </p:sp>
      </p:grpSp>
      <p:grpSp>
        <p:nvGrpSpPr>
          <p:cNvPr id="38" name="Group 38"/>
          <p:cNvGrpSpPr/>
          <p:nvPr/>
        </p:nvGrpSpPr>
        <p:grpSpPr>
          <a:xfrm>
            <a:off x="6711696" y="2377440"/>
            <a:ext cx="1005840" cy="1005840"/>
            <a:chOff x="0" y="0"/>
            <a:chExt cx="1341120" cy="134112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341120" cy="1341120"/>
            </a:xfrm>
            <a:custGeom>
              <a:avLst/>
              <a:gdLst/>
              <a:ahLst/>
              <a:cxnLst/>
              <a:rect l="l" t="t" r="r" b="b"/>
              <a:pathLst>
                <a:path w="1341120" h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40" name="TextBox 40"/>
            <p:cNvSpPr txBox="1"/>
            <p:nvPr/>
          </p:nvSpPr>
          <p:spPr>
            <a:xfrm>
              <a:off x="0" y="-9525"/>
              <a:ext cx="1341120" cy="13506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 b="1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02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7900416" y="2450592"/>
            <a:ext cx="3657600" cy="768096"/>
            <a:chOff x="0" y="0"/>
            <a:chExt cx="4876800" cy="1024128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4876800" cy="1024128"/>
            </a:xfrm>
            <a:custGeom>
              <a:avLst/>
              <a:gdLst/>
              <a:ahLst/>
              <a:cxnLst/>
              <a:rect l="l" t="t" r="r" b="b"/>
              <a:pathLst>
                <a:path w="4876800" h="1024128">
                  <a:moveTo>
                    <a:pt x="0" y="0"/>
                  </a:moveTo>
                  <a:lnTo>
                    <a:pt x="4876800" y="0"/>
                  </a:lnTo>
                  <a:lnTo>
                    <a:pt x="48768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2785" b="-42785"/>
              </a:stretch>
            </a:blipFill>
          </p:spPr>
        </p:sp>
        <p:sp>
          <p:nvSpPr>
            <p:cNvPr id="43" name="TextBox 43"/>
            <p:cNvSpPr txBox="1"/>
            <p:nvPr/>
          </p:nvSpPr>
          <p:spPr>
            <a:xfrm>
              <a:off x="0" y="-66675"/>
              <a:ext cx="4876800" cy="10908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719"/>
                </a:lnSpc>
              </a:pPr>
              <a:r>
                <a:rPr lang="en-US" sz="30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EDA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6748272" y="3511296"/>
            <a:ext cx="4846320" cy="1554480"/>
            <a:chOff x="0" y="0"/>
            <a:chExt cx="6461760" cy="207264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6461760" cy="2072640"/>
            </a:xfrm>
            <a:custGeom>
              <a:avLst/>
              <a:gdLst/>
              <a:ahLst/>
              <a:cxnLst/>
              <a:rect l="l" t="t" r="r" b="b"/>
              <a:pathLst>
                <a:path w="6461760" h="2072640">
                  <a:moveTo>
                    <a:pt x="0" y="0"/>
                  </a:moveTo>
                  <a:lnTo>
                    <a:pt x="6461760" y="0"/>
                  </a:lnTo>
                  <a:lnTo>
                    <a:pt x="646176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747" b="-10747"/>
              </a:stretch>
            </a:blipFill>
          </p:spPr>
        </p:sp>
        <p:sp>
          <p:nvSpPr>
            <p:cNvPr id="46" name="TextBox 46"/>
            <p:cNvSpPr txBox="1"/>
            <p:nvPr/>
          </p:nvSpPr>
          <p:spPr>
            <a:xfrm>
              <a:off x="0" y="-123825"/>
              <a:ext cx="6461760" cy="21964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175"/>
                </a:lnSpc>
              </a:pPr>
              <a:r>
                <a:rPr lang="en-US" sz="2899">
                  <a:solidFill>
                    <a:srgbClr val="B0B0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Distribution plots, class</a:t>
              </a:r>
            </a:p>
            <a:p>
              <a:pPr algn="l">
                <a:lnSpc>
                  <a:spcPts val="4175"/>
                </a:lnSpc>
              </a:pPr>
              <a:r>
                <a:rPr lang="en-US" sz="2899">
                  <a:solidFill>
                    <a:srgbClr val="B0B0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balance check, histograms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2402312" y="2179320"/>
            <a:ext cx="5242560" cy="3139440"/>
            <a:chOff x="0" y="0"/>
            <a:chExt cx="6990080" cy="4185920"/>
          </a:xfrm>
        </p:grpSpPr>
        <p:sp>
          <p:nvSpPr>
            <p:cNvPr id="48" name="Freeform 48"/>
            <p:cNvSpPr/>
            <p:nvPr/>
          </p:nvSpPr>
          <p:spPr>
            <a:xfrm>
              <a:off x="20320" y="20320"/>
              <a:ext cx="6949440" cy="4145280"/>
            </a:xfrm>
            <a:custGeom>
              <a:avLst/>
              <a:gdLst/>
              <a:ahLst/>
              <a:cxnLst/>
              <a:rect l="l" t="t" r="r" b="b"/>
              <a:pathLst>
                <a:path w="6949440" h="4145280">
                  <a:moveTo>
                    <a:pt x="0" y="0"/>
                  </a:moveTo>
                  <a:lnTo>
                    <a:pt x="6949440" y="0"/>
                  </a:lnTo>
                  <a:lnTo>
                    <a:pt x="6949440" y="4145280"/>
                  </a:lnTo>
                  <a:lnTo>
                    <a:pt x="0" y="4145280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id="49" name="Freeform 49"/>
            <p:cNvSpPr/>
            <p:nvPr/>
          </p:nvSpPr>
          <p:spPr>
            <a:xfrm>
              <a:off x="0" y="0"/>
              <a:ext cx="6990080" cy="4185920"/>
            </a:xfrm>
            <a:custGeom>
              <a:avLst/>
              <a:gdLst/>
              <a:ahLst/>
              <a:cxnLst/>
              <a:rect l="l" t="t" r="r" b="b"/>
              <a:pathLst>
                <a:path w="6990080" h="4185920">
                  <a:moveTo>
                    <a:pt x="20320" y="0"/>
                  </a:moveTo>
                  <a:lnTo>
                    <a:pt x="6969760" y="0"/>
                  </a:lnTo>
                  <a:cubicBezTo>
                    <a:pt x="6980936" y="0"/>
                    <a:pt x="6990080" y="9144"/>
                    <a:pt x="6990080" y="20320"/>
                  </a:cubicBezTo>
                  <a:lnTo>
                    <a:pt x="6990080" y="4165600"/>
                  </a:lnTo>
                  <a:cubicBezTo>
                    <a:pt x="6990080" y="4176776"/>
                    <a:pt x="6980936" y="4185920"/>
                    <a:pt x="6969760" y="4185920"/>
                  </a:cubicBezTo>
                  <a:lnTo>
                    <a:pt x="20320" y="4185920"/>
                  </a:lnTo>
                  <a:cubicBezTo>
                    <a:pt x="9144" y="4185920"/>
                    <a:pt x="0" y="4176776"/>
                    <a:pt x="0" y="4165600"/>
                  </a:cubicBezTo>
                  <a:lnTo>
                    <a:pt x="0" y="20320"/>
                  </a:lnTo>
                  <a:cubicBezTo>
                    <a:pt x="0" y="9144"/>
                    <a:pt x="9144" y="0"/>
                    <a:pt x="20320" y="0"/>
                  </a:cubicBezTo>
                  <a:moveTo>
                    <a:pt x="20320" y="40640"/>
                  </a:moveTo>
                  <a:lnTo>
                    <a:pt x="20320" y="20320"/>
                  </a:lnTo>
                  <a:lnTo>
                    <a:pt x="40640" y="20320"/>
                  </a:lnTo>
                  <a:lnTo>
                    <a:pt x="40640" y="4165600"/>
                  </a:lnTo>
                  <a:lnTo>
                    <a:pt x="20320" y="4165600"/>
                  </a:lnTo>
                  <a:lnTo>
                    <a:pt x="20320" y="4145280"/>
                  </a:lnTo>
                  <a:lnTo>
                    <a:pt x="6969760" y="4145280"/>
                  </a:lnTo>
                  <a:lnTo>
                    <a:pt x="6969760" y="4165600"/>
                  </a:lnTo>
                  <a:lnTo>
                    <a:pt x="6949440" y="4165600"/>
                  </a:lnTo>
                  <a:lnTo>
                    <a:pt x="6949440" y="20320"/>
                  </a:lnTo>
                  <a:lnTo>
                    <a:pt x="6969760" y="20320"/>
                  </a:lnTo>
                  <a:lnTo>
                    <a:pt x="6969760" y="40640"/>
                  </a:lnTo>
                  <a:lnTo>
                    <a:pt x="20320" y="40640"/>
                  </a:lnTo>
                  <a:close/>
                </a:path>
              </a:pathLst>
            </a:custGeom>
            <a:solidFill>
              <a:srgbClr val="7B1C2E"/>
            </a:solidFill>
          </p:spPr>
        </p:sp>
      </p:grpSp>
      <p:grpSp>
        <p:nvGrpSpPr>
          <p:cNvPr id="50" name="Group 50"/>
          <p:cNvGrpSpPr/>
          <p:nvPr/>
        </p:nvGrpSpPr>
        <p:grpSpPr>
          <a:xfrm>
            <a:off x="12590269" y="2367277"/>
            <a:ext cx="1026157" cy="1026157"/>
            <a:chOff x="0" y="0"/>
            <a:chExt cx="1368209" cy="1368209"/>
          </a:xfrm>
        </p:grpSpPr>
        <p:sp>
          <p:nvSpPr>
            <p:cNvPr id="51" name="Freeform 51"/>
            <p:cNvSpPr/>
            <p:nvPr/>
          </p:nvSpPr>
          <p:spPr>
            <a:xfrm>
              <a:off x="13589" y="13589"/>
              <a:ext cx="1341120" cy="1341120"/>
            </a:xfrm>
            <a:custGeom>
              <a:avLst/>
              <a:gdLst/>
              <a:ahLst/>
              <a:cxnLst/>
              <a:rect l="l" t="t" r="r" b="b"/>
              <a:pathLst>
                <a:path w="1341120" h="1341120">
                  <a:moveTo>
                    <a:pt x="0" y="670560"/>
                  </a:moveTo>
                  <a:cubicBezTo>
                    <a:pt x="0" y="300228"/>
                    <a:pt x="300228" y="0"/>
                    <a:pt x="670560" y="0"/>
                  </a:cubicBezTo>
                  <a:cubicBezTo>
                    <a:pt x="1040892" y="0"/>
                    <a:pt x="1341120" y="300228"/>
                    <a:pt x="1341120" y="670560"/>
                  </a:cubicBezTo>
                  <a:cubicBezTo>
                    <a:pt x="1341120" y="1040892"/>
                    <a:pt x="1040892" y="1341120"/>
                    <a:pt x="670560" y="1341120"/>
                  </a:cubicBezTo>
                  <a:cubicBezTo>
                    <a:pt x="300228" y="1341120"/>
                    <a:pt x="0" y="1040892"/>
                    <a:pt x="0" y="670560"/>
                  </a:cubicBezTo>
                  <a:close/>
                </a:path>
              </a:pathLst>
            </a:custGeom>
            <a:solidFill>
              <a:srgbClr val="7B1C2E"/>
            </a:solidFill>
          </p:spPr>
        </p:sp>
        <p:sp>
          <p:nvSpPr>
            <p:cNvPr id="52" name="Freeform 52"/>
            <p:cNvSpPr/>
            <p:nvPr/>
          </p:nvSpPr>
          <p:spPr>
            <a:xfrm>
              <a:off x="0" y="0"/>
              <a:ext cx="1368298" cy="1368298"/>
            </a:xfrm>
            <a:custGeom>
              <a:avLst/>
              <a:gdLst/>
              <a:ahLst/>
              <a:cxnLst/>
              <a:rect l="l" t="t" r="r" b="b"/>
              <a:pathLst>
                <a:path w="1368298" h="1368298">
                  <a:moveTo>
                    <a:pt x="0" y="684149"/>
                  </a:moveTo>
                  <a:cubicBezTo>
                    <a:pt x="0" y="306324"/>
                    <a:pt x="306324" y="0"/>
                    <a:pt x="684149" y="0"/>
                  </a:cubicBezTo>
                  <a:lnTo>
                    <a:pt x="684149" y="13589"/>
                  </a:lnTo>
                  <a:lnTo>
                    <a:pt x="684149" y="0"/>
                  </a:lnTo>
                  <a:cubicBezTo>
                    <a:pt x="1061974" y="0"/>
                    <a:pt x="1368298" y="306324"/>
                    <a:pt x="1368298" y="684149"/>
                  </a:cubicBezTo>
                  <a:lnTo>
                    <a:pt x="1354709" y="684149"/>
                  </a:lnTo>
                  <a:lnTo>
                    <a:pt x="1368298" y="684149"/>
                  </a:lnTo>
                  <a:cubicBezTo>
                    <a:pt x="1368298" y="1061974"/>
                    <a:pt x="1061974" y="1368298"/>
                    <a:pt x="684149" y="1368298"/>
                  </a:cubicBezTo>
                  <a:lnTo>
                    <a:pt x="684149" y="1354709"/>
                  </a:lnTo>
                  <a:lnTo>
                    <a:pt x="684149" y="1368298"/>
                  </a:lnTo>
                  <a:cubicBezTo>
                    <a:pt x="306324" y="1368171"/>
                    <a:pt x="0" y="1061974"/>
                    <a:pt x="0" y="684149"/>
                  </a:cubicBezTo>
                  <a:lnTo>
                    <a:pt x="13589" y="684149"/>
                  </a:lnTo>
                  <a:lnTo>
                    <a:pt x="27051" y="684149"/>
                  </a:lnTo>
                  <a:lnTo>
                    <a:pt x="13589" y="684149"/>
                  </a:lnTo>
                  <a:lnTo>
                    <a:pt x="0" y="684149"/>
                  </a:lnTo>
                  <a:moveTo>
                    <a:pt x="27051" y="684149"/>
                  </a:moveTo>
                  <a:cubicBezTo>
                    <a:pt x="27051" y="691642"/>
                    <a:pt x="20955" y="697738"/>
                    <a:pt x="13462" y="697738"/>
                  </a:cubicBezTo>
                  <a:cubicBezTo>
                    <a:pt x="5969" y="697738"/>
                    <a:pt x="0" y="691642"/>
                    <a:pt x="0" y="684149"/>
                  </a:cubicBezTo>
                  <a:cubicBezTo>
                    <a:pt x="0" y="676656"/>
                    <a:pt x="6096" y="670560"/>
                    <a:pt x="13589" y="670560"/>
                  </a:cubicBezTo>
                  <a:cubicBezTo>
                    <a:pt x="21082" y="670560"/>
                    <a:pt x="27178" y="676656"/>
                    <a:pt x="27178" y="684149"/>
                  </a:cubicBezTo>
                  <a:cubicBezTo>
                    <a:pt x="27178" y="1046988"/>
                    <a:pt x="321310" y="1341120"/>
                    <a:pt x="684149" y="1341120"/>
                  </a:cubicBezTo>
                  <a:cubicBezTo>
                    <a:pt x="1046988" y="1341120"/>
                    <a:pt x="1341120" y="1046988"/>
                    <a:pt x="1341120" y="684149"/>
                  </a:cubicBezTo>
                  <a:cubicBezTo>
                    <a:pt x="1341120" y="321310"/>
                    <a:pt x="1046988" y="27051"/>
                    <a:pt x="684149" y="27051"/>
                  </a:cubicBezTo>
                  <a:lnTo>
                    <a:pt x="684149" y="13589"/>
                  </a:lnTo>
                  <a:lnTo>
                    <a:pt x="684149" y="27051"/>
                  </a:lnTo>
                  <a:cubicBezTo>
                    <a:pt x="321310" y="27051"/>
                    <a:pt x="27051" y="321310"/>
                    <a:pt x="27051" y="684149"/>
                  </a:cubicBezTo>
                  <a:close/>
                </a:path>
              </a:pathLst>
            </a:custGeom>
            <a:solidFill>
              <a:srgbClr val="C9A96E"/>
            </a:solidFill>
          </p:spPr>
        </p:sp>
      </p:grpSp>
      <p:grpSp>
        <p:nvGrpSpPr>
          <p:cNvPr id="53" name="Group 53"/>
          <p:cNvGrpSpPr/>
          <p:nvPr/>
        </p:nvGrpSpPr>
        <p:grpSpPr>
          <a:xfrm>
            <a:off x="12600432" y="2377440"/>
            <a:ext cx="1005840" cy="1005840"/>
            <a:chOff x="0" y="0"/>
            <a:chExt cx="1341120" cy="134112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1341120" cy="1341120"/>
            </a:xfrm>
            <a:custGeom>
              <a:avLst/>
              <a:gdLst/>
              <a:ahLst/>
              <a:cxnLst/>
              <a:rect l="l" t="t" r="r" b="b"/>
              <a:pathLst>
                <a:path w="1341120" h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55" name="TextBox 55"/>
            <p:cNvSpPr txBox="1"/>
            <p:nvPr/>
          </p:nvSpPr>
          <p:spPr>
            <a:xfrm>
              <a:off x="0" y="-9525"/>
              <a:ext cx="1341120" cy="13506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 b="1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03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13789152" y="2450592"/>
            <a:ext cx="3657600" cy="768096"/>
            <a:chOff x="0" y="0"/>
            <a:chExt cx="4876800" cy="1024128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4876800" cy="1024128"/>
            </a:xfrm>
            <a:custGeom>
              <a:avLst/>
              <a:gdLst/>
              <a:ahLst/>
              <a:cxnLst/>
              <a:rect l="l" t="t" r="r" b="b"/>
              <a:pathLst>
                <a:path w="4876800" h="1024128">
                  <a:moveTo>
                    <a:pt x="0" y="0"/>
                  </a:moveTo>
                  <a:lnTo>
                    <a:pt x="4876800" y="0"/>
                  </a:lnTo>
                  <a:lnTo>
                    <a:pt x="48768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2785" b="-42785"/>
              </a:stretch>
            </a:blipFill>
          </p:spPr>
        </p:sp>
        <p:sp>
          <p:nvSpPr>
            <p:cNvPr id="58" name="TextBox 58"/>
            <p:cNvSpPr txBox="1"/>
            <p:nvPr/>
          </p:nvSpPr>
          <p:spPr>
            <a:xfrm>
              <a:off x="0" y="-66675"/>
              <a:ext cx="4876800" cy="10908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719"/>
                </a:lnSpc>
              </a:pPr>
              <a:r>
                <a:rPr lang="en-US" sz="30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Label Encoding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12637008" y="3511296"/>
            <a:ext cx="4846320" cy="1554480"/>
            <a:chOff x="0" y="0"/>
            <a:chExt cx="6461760" cy="2072640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6461760" cy="2072640"/>
            </a:xfrm>
            <a:custGeom>
              <a:avLst/>
              <a:gdLst/>
              <a:ahLst/>
              <a:cxnLst/>
              <a:rect l="l" t="t" r="r" b="b"/>
              <a:pathLst>
                <a:path w="6461760" h="2072640">
                  <a:moveTo>
                    <a:pt x="0" y="0"/>
                  </a:moveTo>
                  <a:lnTo>
                    <a:pt x="6461760" y="0"/>
                  </a:lnTo>
                  <a:lnTo>
                    <a:pt x="646176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747" b="-10747"/>
              </a:stretch>
            </a:blipFill>
          </p:spPr>
        </p:sp>
        <p:sp>
          <p:nvSpPr>
            <p:cNvPr id="61" name="TextBox 61"/>
            <p:cNvSpPr txBox="1"/>
            <p:nvPr/>
          </p:nvSpPr>
          <p:spPr>
            <a:xfrm>
              <a:off x="0" y="-123825"/>
              <a:ext cx="6461760" cy="21964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175"/>
                </a:lnSpc>
              </a:pPr>
              <a:r>
                <a:rPr lang="en-US" sz="2899">
                  <a:solidFill>
                    <a:srgbClr val="B0B0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LabelEncoder on</a:t>
              </a:r>
            </a:p>
            <a:p>
              <a:pPr algn="l">
                <a:lnSpc>
                  <a:spcPts val="4175"/>
                </a:lnSpc>
              </a:pPr>
              <a:r>
                <a:rPr lang="en-US" sz="2899">
                  <a:solidFill>
                    <a:srgbClr val="B0B0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manipulation_type column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6113783" y="6845303"/>
            <a:ext cx="427739" cy="135131"/>
            <a:chOff x="0" y="0"/>
            <a:chExt cx="570319" cy="180175"/>
          </a:xfrm>
        </p:grpSpPr>
        <p:sp>
          <p:nvSpPr>
            <p:cNvPr id="63" name="Freeform 63"/>
            <p:cNvSpPr/>
            <p:nvPr/>
          </p:nvSpPr>
          <p:spPr>
            <a:xfrm>
              <a:off x="16891" y="16891"/>
              <a:ext cx="536448" cy="146304"/>
            </a:xfrm>
            <a:custGeom>
              <a:avLst/>
              <a:gdLst/>
              <a:ahLst/>
              <a:cxnLst/>
              <a:rect l="l" t="t" r="r" b="b"/>
              <a:pathLst>
                <a:path w="536448" h="146304">
                  <a:moveTo>
                    <a:pt x="0" y="0"/>
                  </a:moveTo>
                  <a:lnTo>
                    <a:pt x="536448" y="0"/>
                  </a:lnTo>
                  <a:lnTo>
                    <a:pt x="536448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C9A96E"/>
            </a:solidFill>
          </p:spPr>
        </p:sp>
        <p:sp>
          <p:nvSpPr>
            <p:cNvPr id="64" name="Freeform 64"/>
            <p:cNvSpPr/>
            <p:nvPr/>
          </p:nvSpPr>
          <p:spPr>
            <a:xfrm>
              <a:off x="0" y="0"/>
              <a:ext cx="570230" cy="180088"/>
            </a:xfrm>
            <a:custGeom>
              <a:avLst/>
              <a:gdLst/>
              <a:ahLst/>
              <a:cxnLst/>
              <a:rect l="l" t="t" r="r" b="b"/>
              <a:pathLst>
                <a:path w="570230" h="180088">
                  <a:moveTo>
                    <a:pt x="16891" y="0"/>
                  </a:moveTo>
                  <a:lnTo>
                    <a:pt x="553339" y="0"/>
                  </a:lnTo>
                  <a:cubicBezTo>
                    <a:pt x="562737" y="0"/>
                    <a:pt x="570230" y="7620"/>
                    <a:pt x="570230" y="16891"/>
                  </a:cubicBezTo>
                  <a:lnTo>
                    <a:pt x="570230" y="163195"/>
                  </a:lnTo>
                  <a:cubicBezTo>
                    <a:pt x="570230" y="172593"/>
                    <a:pt x="562610" y="180086"/>
                    <a:pt x="553339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553339" y="146304"/>
                  </a:lnTo>
                  <a:lnTo>
                    <a:pt x="553339" y="163195"/>
                  </a:lnTo>
                  <a:lnTo>
                    <a:pt x="536448" y="163195"/>
                  </a:lnTo>
                  <a:lnTo>
                    <a:pt x="536448" y="16891"/>
                  </a:lnTo>
                  <a:lnTo>
                    <a:pt x="553339" y="16891"/>
                  </a:lnTo>
                  <a:lnTo>
                    <a:pt x="5533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9A96E"/>
            </a:solidFill>
          </p:spPr>
        </p:sp>
      </p:grpSp>
      <p:grpSp>
        <p:nvGrpSpPr>
          <p:cNvPr id="65" name="Group 65"/>
          <p:cNvGrpSpPr/>
          <p:nvPr/>
        </p:nvGrpSpPr>
        <p:grpSpPr>
          <a:xfrm>
            <a:off x="624840" y="5836920"/>
            <a:ext cx="5242560" cy="3139440"/>
            <a:chOff x="0" y="0"/>
            <a:chExt cx="6990080" cy="4185920"/>
          </a:xfrm>
        </p:grpSpPr>
        <p:sp>
          <p:nvSpPr>
            <p:cNvPr id="66" name="Freeform 66"/>
            <p:cNvSpPr/>
            <p:nvPr/>
          </p:nvSpPr>
          <p:spPr>
            <a:xfrm>
              <a:off x="20320" y="20320"/>
              <a:ext cx="6949440" cy="4145280"/>
            </a:xfrm>
            <a:custGeom>
              <a:avLst/>
              <a:gdLst/>
              <a:ahLst/>
              <a:cxnLst/>
              <a:rect l="l" t="t" r="r" b="b"/>
              <a:pathLst>
                <a:path w="6949440" h="4145280">
                  <a:moveTo>
                    <a:pt x="0" y="0"/>
                  </a:moveTo>
                  <a:lnTo>
                    <a:pt x="6949440" y="0"/>
                  </a:lnTo>
                  <a:lnTo>
                    <a:pt x="6949440" y="4145280"/>
                  </a:lnTo>
                  <a:lnTo>
                    <a:pt x="0" y="4145280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id="67" name="Freeform 67"/>
            <p:cNvSpPr/>
            <p:nvPr/>
          </p:nvSpPr>
          <p:spPr>
            <a:xfrm>
              <a:off x="0" y="0"/>
              <a:ext cx="6990080" cy="4185920"/>
            </a:xfrm>
            <a:custGeom>
              <a:avLst/>
              <a:gdLst/>
              <a:ahLst/>
              <a:cxnLst/>
              <a:rect l="l" t="t" r="r" b="b"/>
              <a:pathLst>
                <a:path w="6990080" h="4185920">
                  <a:moveTo>
                    <a:pt x="20320" y="0"/>
                  </a:moveTo>
                  <a:lnTo>
                    <a:pt x="6969760" y="0"/>
                  </a:lnTo>
                  <a:cubicBezTo>
                    <a:pt x="6980936" y="0"/>
                    <a:pt x="6990080" y="9144"/>
                    <a:pt x="6990080" y="20320"/>
                  </a:cubicBezTo>
                  <a:lnTo>
                    <a:pt x="6990080" y="4165600"/>
                  </a:lnTo>
                  <a:cubicBezTo>
                    <a:pt x="6990080" y="4176776"/>
                    <a:pt x="6980936" y="4185920"/>
                    <a:pt x="6969760" y="4185920"/>
                  </a:cubicBezTo>
                  <a:lnTo>
                    <a:pt x="20320" y="4185920"/>
                  </a:lnTo>
                  <a:cubicBezTo>
                    <a:pt x="9144" y="4185920"/>
                    <a:pt x="0" y="4176776"/>
                    <a:pt x="0" y="4165600"/>
                  </a:cubicBezTo>
                  <a:lnTo>
                    <a:pt x="0" y="20320"/>
                  </a:lnTo>
                  <a:cubicBezTo>
                    <a:pt x="0" y="9144"/>
                    <a:pt x="9144" y="0"/>
                    <a:pt x="20320" y="0"/>
                  </a:cubicBezTo>
                  <a:moveTo>
                    <a:pt x="20320" y="40640"/>
                  </a:moveTo>
                  <a:lnTo>
                    <a:pt x="20320" y="20320"/>
                  </a:lnTo>
                  <a:lnTo>
                    <a:pt x="40640" y="20320"/>
                  </a:lnTo>
                  <a:lnTo>
                    <a:pt x="40640" y="4165600"/>
                  </a:lnTo>
                  <a:lnTo>
                    <a:pt x="20320" y="4165600"/>
                  </a:lnTo>
                  <a:lnTo>
                    <a:pt x="20320" y="4145280"/>
                  </a:lnTo>
                  <a:lnTo>
                    <a:pt x="6969760" y="4145280"/>
                  </a:lnTo>
                  <a:lnTo>
                    <a:pt x="6969760" y="4165600"/>
                  </a:lnTo>
                  <a:lnTo>
                    <a:pt x="6949440" y="4165600"/>
                  </a:lnTo>
                  <a:lnTo>
                    <a:pt x="6949440" y="20320"/>
                  </a:lnTo>
                  <a:lnTo>
                    <a:pt x="6969760" y="20320"/>
                  </a:lnTo>
                  <a:lnTo>
                    <a:pt x="6969760" y="40640"/>
                  </a:lnTo>
                  <a:lnTo>
                    <a:pt x="20320" y="40640"/>
                  </a:lnTo>
                  <a:close/>
                </a:path>
              </a:pathLst>
            </a:custGeom>
            <a:solidFill>
              <a:srgbClr val="7B1C2E"/>
            </a:solidFill>
          </p:spPr>
        </p:sp>
      </p:grpSp>
      <p:grpSp>
        <p:nvGrpSpPr>
          <p:cNvPr id="68" name="Group 68"/>
          <p:cNvGrpSpPr/>
          <p:nvPr/>
        </p:nvGrpSpPr>
        <p:grpSpPr>
          <a:xfrm>
            <a:off x="812797" y="6024877"/>
            <a:ext cx="1026157" cy="1026157"/>
            <a:chOff x="0" y="0"/>
            <a:chExt cx="1368209" cy="1368209"/>
          </a:xfrm>
        </p:grpSpPr>
        <p:sp>
          <p:nvSpPr>
            <p:cNvPr id="69" name="Freeform 69"/>
            <p:cNvSpPr/>
            <p:nvPr/>
          </p:nvSpPr>
          <p:spPr>
            <a:xfrm>
              <a:off x="13589" y="13589"/>
              <a:ext cx="1341120" cy="1341120"/>
            </a:xfrm>
            <a:custGeom>
              <a:avLst/>
              <a:gdLst/>
              <a:ahLst/>
              <a:cxnLst/>
              <a:rect l="l" t="t" r="r" b="b"/>
              <a:pathLst>
                <a:path w="1341120" h="1341120">
                  <a:moveTo>
                    <a:pt x="0" y="670560"/>
                  </a:moveTo>
                  <a:cubicBezTo>
                    <a:pt x="0" y="300228"/>
                    <a:pt x="300228" y="0"/>
                    <a:pt x="670560" y="0"/>
                  </a:cubicBezTo>
                  <a:cubicBezTo>
                    <a:pt x="1040892" y="0"/>
                    <a:pt x="1341120" y="300228"/>
                    <a:pt x="1341120" y="670560"/>
                  </a:cubicBezTo>
                  <a:cubicBezTo>
                    <a:pt x="1341120" y="1040892"/>
                    <a:pt x="1040892" y="1341120"/>
                    <a:pt x="670560" y="1341120"/>
                  </a:cubicBezTo>
                  <a:cubicBezTo>
                    <a:pt x="300228" y="1341120"/>
                    <a:pt x="0" y="1040892"/>
                    <a:pt x="0" y="670560"/>
                  </a:cubicBezTo>
                  <a:close/>
                </a:path>
              </a:pathLst>
            </a:custGeom>
            <a:solidFill>
              <a:srgbClr val="7B1C2E"/>
            </a:solidFill>
          </p:spPr>
        </p:sp>
        <p:sp>
          <p:nvSpPr>
            <p:cNvPr id="70" name="Freeform 70"/>
            <p:cNvSpPr/>
            <p:nvPr/>
          </p:nvSpPr>
          <p:spPr>
            <a:xfrm>
              <a:off x="0" y="0"/>
              <a:ext cx="1368298" cy="1368298"/>
            </a:xfrm>
            <a:custGeom>
              <a:avLst/>
              <a:gdLst/>
              <a:ahLst/>
              <a:cxnLst/>
              <a:rect l="l" t="t" r="r" b="b"/>
              <a:pathLst>
                <a:path w="1368298" h="1368298">
                  <a:moveTo>
                    <a:pt x="0" y="684149"/>
                  </a:moveTo>
                  <a:cubicBezTo>
                    <a:pt x="0" y="306324"/>
                    <a:pt x="306324" y="0"/>
                    <a:pt x="684149" y="0"/>
                  </a:cubicBezTo>
                  <a:lnTo>
                    <a:pt x="684149" y="13589"/>
                  </a:lnTo>
                  <a:lnTo>
                    <a:pt x="684149" y="0"/>
                  </a:lnTo>
                  <a:cubicBezTo>
                    <a:pt x="1061974" y="0"/>
                    <a:pt x="1368298" y="306324"/>
                    <a:pt x="1368298" y="684149"/>
                  </a:cubicBezTo>
                  <a:lnTo>
                    <a:pt x="1354709" y="684149"/>
                  </a:lnTo>
                  <a:lnTo>
                    <a:pt x="1368298" y="684149"/>
                  </a:lnTo>
                  <a:cubicBezTo>
                    <a:pt x="1368298" y="1061974"/>
                    <a:pt x="1061974" y="1368298"/>
                    <a:pt x="684149" y="1368298"/>
                  </a:cubicBezTo>
                  <a:lnTo>
                    <a:pt x="684149" y="1354709"/>
                  </a:lnTo>
                  <a:lnTo>
                    <a:pt x="684149" y="1368298"/>
                  </a:lnTo>
                  <a:cubicBezTo>
                    <a:pt x="306324" y="1368171"/>
                    <a:pt x="0" y="1061974"/>
                    <a:pt x="0" y="684149"/>
                  </a:cubicBezTo>
                  <a:lnTo>
                    <a:pt x="13589" y="684149"/>
                  </a:lnTo>
                  <a:lnTo>
                    <a:pt x="27051" y="684149"/>
                  </a:lnTo>
                  <a:lnTo>
                    <a:pt x="13589" y="684149"/>
                  </a:lnTo>
                  <a:lnTo>
                    <a:pt x="0" y="684149"/>
                  </a:lnTo>
                  <a:moveTo>
                    <a:pt x="27051" y="684149"/>
                  </a:moveTo>
                  <a:cubicBezTo>
                    <a:pt x="27051" y="691642"/>
                    <a:pt x="20955" y="697738"/>
                    <a:pt x="13462" y="697738"/>
                  </a:cubicBezTo>
                  <a:cubicBezTo>
                    <a:pt x="5969" y="697738"/>
                    <a:pt x="0" y="691642"/>
                    <a:pt x="0" y="684149"/>
                  </a:cubicBezTo>
                  <a:cubicBezTo>
                    <a:pt x="0" y="676656"/>
                    <a:pt x="6096" y="670560"/>
                    <a:pt x="13589" y="670560"/>
                  </a:cubicBezTo>
                  <a:cubicBezTo>
                    <a:pt x="21082" y="670560"/>
                    <a:pt x="27178" y="676656"/>
                    <a:pt x="27178" y="684149"/>
                  </a:cubicBezTo>
                  <a:cubicBezTo>
                    <a:pt x="27178" y="1046988"/>
                    <a:pt x="321310" y="1341120"/>
                    <a:pt x="684149" y="1341120"/>
                  </a:cubicBezTo>
                  <a:cubicBezTo>
                    <a:pt x="1046988" y="1341120"/>
                    <a:pt x="1341120" y="1046988"/>
                    <a:pt x="1341120" y="684149"/>
                  </a:cubicBezTo>
                  <a:cubicBezTo>
                    <a:pt x="1341120" y="321310"/>
                    <a:pt x="1046988" y="27051"/>
                    <a:pt x="684149" y="27051"/>
                  </a:cubicBezTo>
                  <a:lnTo>
                    <a:pt x="684149" y="13589"/>
                  </a:lnTo>
                  <a:lnTo>
                    <a:pt x="684149" y="27051"/>
                  </a:lnTo>
                  <a:cubicBezTo>
                    <a:pt x="321310" y="27051"/>
                    <a:pt x="27051" y="321310"/>
                    <a:pt x="27051" y="684149"/>
                  </a:cubicBezTo>
                  <a:close/>
                </a:path>
              </a:pathLst>
            </a:custGeom>
            <a:solidFill>
              <a:srgbClr val="C9A96E"/>
            </a:solidFill>
          </p:spPr>
        </p:sp>
      </p:grpSp>
      <p:grpSp>
        <p:nvGrpSpPr>
          <p:cNvPr id="71" name="Group 71"/>
          <p:cNvGrpSpPr/>
          <p:nvPr/>
        </p:nvGrpSpPr>
        <p:grpSpPr>
          <a:xfrm>
            <a:off x="822960" y="6035040"/>
            <a:ext cx="1005840" cy="1005840"/>
            <a:chOff x="0" y="0"/>
            <a:chExt cx="1341120" cy="1341120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1341120" cy="1341120"/>
            </a:xfrm>
            <a:custGeom>
              <a:avLst/>
              <a:gdLst/>
              <a:ahLst/>
              <a:cxnLst/>
              <a:rect l="l" t="t" r="r" b="b"/>
              <a:pathLst>
                <a:path w="1341120" h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73" name="TextBox 73"/>
            <p:cNvSpPr txBox="1"/>
            <p:nvPr/>
          </p:nvSpPr>
          <p:spPr>
            <a:xfrm>
              <a:off x="0" y="-9525"/>
              <a:ext cx="1341120" cy="13506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 b="1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04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2011680" y="6108192"/>
            <a:ext cx="3657600" cy="768096"/>
            <a:chOff x="0" y="0"/>
            <a:chExt cx="4876800" cy="1024128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4876800" cy="1024128"/>
            </a:xfrm>
            <a:custGeom>
              <a:avLst/>
              <a:gdLst/>
              <a:ahLst/>
              <a:cxnLst/>
              <a:rect l="l" t="t" r="r" b="b"/>
              <a:pathLst>
                <a:path w="4876800" h="1024128">
                  <a:moveTo>
                    <a:pt x="0" y="0"/>
                  </a:moveTo>
                  <a:lnTo>
                    <a:pt x="4876800" y="0"/>
                  </a:lnTo>
                  <a:lnTo>
                    <a:pt x="48768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2785" b="-42785"/>
              </a:stretch>
            </a:blipFill>
          </p:spPr>
        </p:sp>
        <p:sp>
          <p:nvSpPr>
            <p:cNvPr id="76" name="TextBox 76"/>
            <p:cNvSpPr txBox="1"/>
            <p:nvPr/>
          </p:nvSpPr>
          <p:spPr>
            <a:xfrm>
              <a:off x="0" y="-66675"/>
              <a:ext cx="4876800" cy="10908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719"/>
                </a:lnSpc>
              </a:pPr>
              <a:r>
                <a:rPr lang="en-US" sz="30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Train-Test Split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859536" y="7168896"/>
            <a:ext cx="4846320" cy="1554480"/>
            <a:chOff x="0" y="0"/>
            <a:chExt cx="6461760" cy="2072640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6461760" cy="2072640"/>
            </a:xfrm>
            <a:custGeom>
              <a:avLst/>
              <a:gdLst/>
              <a:ahLst/>
              <a:cxnLst/>
              <a:rect l="l" t="t" r="r" b="b"/>
              <a:pathLst>
                <a:path w="6461760" h="2072640">
                  <a:moveTo>
                    <a:pt x="0" y="0"/>
                  </a:moveTo>
                  <a:lnTo>
                    <a:pt x="6461760" y="0"/>
                  </a:lnTo>
                  <a:lnTo>
                    <a:pt x="646176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747" b="-10747"/>
              </a:stretch>
            </a:blipFill>
          </p:spPr>
        </p:sp>
        <p:sp>
          <p:nvSpPr>
            <p:cNvPr id="79" name="TextBox 79"/>
            <p:cNvSpPr txBox="1"/>
            <p:nvPr/>
          </p:nvSpPr>
          <p:spPr>
            <a:xfrm>
              <a:off x="0" y="-123825"/>
              <a:ext cx="6461760" cy="21964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175"/>
                </a:lnSpc>
              </a:pPr>
              <a:r>
                <a:rPr lang="en-US" sz="2899">
                  <a:solidFill>
                    <a:srgbClr val="B0B0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80/20 stratified split</a:t>
              </a:r>
            </a:p>
            <a:p>
              <a:pPr algn="l">
                <a:lnSpc>
                  <a:spcPts val="4175"/>
                </a:lnSpc>
              </a:pPr>
              <a:r>
                <a:rPr lang="en-US" sz="2899">
                  <a:solidFill>
                    <a:srgbClr val="B0B0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random_state=42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12002519" y="6845303"/>
            <a:ext cx="427739" cy="135131"/>
            <a:chOff x="0" y="0"/>
            <a:chExt cx="570319" cy="180175"/>
          </a:xfrm>
        </p:grpSpPr>
        <p:sp>
          <p:nvSpPr>
            <p:cNvPr id="81" name="Freeform 81"/>
            <p:cNvSpPr/>
            <p:nvPr/>
          </p:nvSpPr>
          <p:spPr>
            <a:xfrm>
              <a:off x="16891" y="16891"/>
              <a:ext cx="536448" cy="146304"/>
            </a:xfrm>
            <a:custGeom>
              <a:avLst/>
              <a:gdLst/>
              <a:ahLst/>
              <a:cxnLst/>
              <a:rect l="l" t="t" r="r" b="b"/>
              <a:pathLst>
                <a:path w="536448" h="146304">
                  <a:moveTo>
                    <a:pt x="0" y="0"/>
                  </a:moveTo>
                  <a:lnTo>
                    <a:pt x="536448" y="0"/>
                  </a:lnTo>
                  <a:lnTo>
                    <a:pt x="536448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C9A96E"/>
            </a:solidFill>
          </p:spPr>
        </p:sp>
        <p:sp>
          <p:nvSpPr>
            <p:cNvPr id="82" name="Freeform 82"/>
            <p:cNvSpPr/>
            <p:nvPr/>
          </p:nvSpPr>
          <p:spPr>
            <a:xfrm>
              <a:off x="0" y="0"/>
              <a:ext cx="570230" cy="180088"/>
            </a:xfrm>
            <a:custGeom>
              <a:avLst/>
              <a:gdLst/>
              <a:ahLst/>
              <a:cxnLst/>
              <a:rect l="l" t="t" r="r" b="b"/>
              <a:pathLst>
                <a:path w="570230" h="180088">
                  <a:moveTo>
                    <a:pt x="16891" y="0"/>
                  </a:moveTo>
                  <a:lnTo>
                    <a:pt x="553339" y="0"/>
                  </a:lnTo>
                  <a:cubicBezTo>
                    <a:pt x="562737" y="0"/>
                    <a:pt x="570230" y="7620"/>
                    <a:pt x="570230" y="16891"/>
                  </a:cubicBezTo>
                  <a:lnTo>
                    <a:pt x="570230" y="163195"/>
                  </a:lnTo>
                  <a:cubicBezTo>
                    <a:pt x="570230" y="172593"/>
                    <a:pt x="562610" y="180086"/>
                    <a:pt x="553339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553339" y="146304"/>
                  </a:lnTo>
                  <a:lnTo>
                    <a:pt x="553339" y="163195"/>
                  </a:lnTo>
                  <a:lnTo>
                    <a:pt x="536448" y="163195"/>
                  </a:lnTo>
                  <a:lnTo>
                    <a:pt x="536448" y="16891"/>
                  </a:lnTo>
                  <a:lnTo>
                    <a:pt x="553339" y="16891"/>
                  </a:lnTo>
                  <a:lnTo>
                    <a:pt x="5533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9A96E"/>
            </a:solidFill>
          </p:spPr>
        </p:sp>
      </p:grpSp>
      <p:grpSp>
        <p:nvGrpSpPr>
          <p:cNvPr id="83" name="Group 83"/>
          <p:cNvGrpSpPr/>
          <p:nvPr/>
        </p:nvGrpSpPr>
        <p:grpSpPr>
          <a:xfrm>
            <a:off x="6513576" y="5836920"/>
            <a:ext cx="5242560" cy="3139440"/>
            <a:chOff x="0" y="0"/>
            <a:chExt cx="6990080" cy="4185920"/>
          </a:xfrm>
        </p:grpSpPr>
        <p:sp>
          <p:nvSpPr>
            <p:cNvPr id="84" name="Freeform 84"/>
            <p:cNvSpPr/>
            <p:nvPr/>
          </p:nvSpPr>
          <p:spPr>
            <a:xfrm>
              <a:off x="20320" y="20320"/>
              <a:ext cx="6949440" cy="4145280"/>
            </a:xfrm>
            <a:custGeom>
              <a:avLst/>
              <a:gdLst/>
              <a:ahLst/>
              <a:cxnLst/>
              <a:rect l="l" t="t" r="r" b="b"/>
              <a:pathLst>
                <a:path w="6949440" h="4145280">
                  <a:moveTo>
                    <a:pt x="0" y="0"/>
                  </a:moveTo>
                  <a:lnTo>
                    <a:pt x="6949440" y="0"/>
                  </a:lnTo>
                  <a:lnTo>
                    <a:pt x="6949440" y="4145280"/>
                  </a:lnTo>
                  <a:lnTo>
                    <a:pt x="0" y="4145280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id="85" name="Freeform 85"/>
            <p:cNvSpPr/>
            <p:nvPr/>
          </p:nvSpPr>
          <p:spPr>
            <a:xfrm>
              <a:off x="0" y="0"/>
              <a:ext cx="6990080" cy="4185920"/>
            </a:xfrm>
            <a:custGeom>
              <a:avLst/>
              <a:gdLst/>
              <a:ahLst/>
              <a:cxnLst/>
              <a:rect l="l" t="t" r="r" b="b"/>
              <a:pathLst>
                <a:path w="6990080" h="4185920">
                  <a:moveTo>
                    <a:pt x="20320" y="0"/>
                  </a:moveTo>
                  <a:lnTo>
                    <a:pt x="6969760" y="0"/>
                  </a:lnTo>
                  <a:cubicBezTo>
                    <a:pt x="6980936" y="0"/>
                    <a:pt x="6990080" y="9144"/>
                    <a:pt x="6990080" y="20320"/>
                  </a:cubicBezTo>
                  <a:lnTo>
                    <a:pt x="6990080" y="4165600"/>
                  </a:lnTo>
                  <a:cubicBezTo>
                    <a:pt x="6990080" y="4176776"/>
                    <a:pt x="6980936" y="4185920"/>
                    <a:pt x="6969760" y="4185920"/>
                  </a:cubicBezTo>
                  <a:lnTo>
                    <a:pt x="20320" y="4185920"/>
                  </a:lnTo>
                  <a:cubicBezTo>
                    <a:pt x="9144" y="4185920"/>
                    <a:pt x="0" y="4176776"/>
                    <a:pt x="0" y="4165600"/>
                  </a:cubicBezTo>
                  <a:lnTo>
                    <a:pt x="0" y="20320"/>
                  </a:lnTo>
                  <a:cubicBezTo>
                    <a:pt x="0" y="9144"/>
                    <a:pt x="9144" y="0"/>
                    <a:pt x="20320" y="0"/>
                  </a:cubicBezTo>
                  <a:moveTo>
                    <a:pt x="20320" y="40640"/>
                  </a:moveTo>
                  <a:lnTo>
                    <a:pt x="20320" y="20320"/>
                  </a:lnTo>
                  <a:lnTo>
                    <a:pt x="40640" y="20320"/>
                  </a:lnTo>
                  <a:lnTo>
                    <a:pt x="40640" y="4165600"/>
                  </a:lnTo>
                  <a:lnTo>
                    <a:pt x="20320" y="4165600"/>
                  </a:lnTo>
                  <a:lnTo>
                    <a:pt x="20320" y="4145280"/>
                  </a:lnTo>
                  <a:lnTo>
                    <a:pt x="6969760" y="4145280"/>
                  </a:lnTo>
                  <a:lnTo>
                    <a:pt x="6969760" y="4165600"/>
                  </a:lnTo>
                  <a:lnTo>
                    <a:pt x="6949440" y="4165600"/>
                  </a:lnTo>
                  <a:lnTo>
                    <a:pt x="6949440" y="20320"/>
                  </a:lnTo>
                  <a:lnTo>
                    <a:pt x="6969760" y="20320"/>
                  </a:lnTo>
                  <a:lnTo>
                    <a:pt x="6969760" y="40640"/>
                  </a:lnTo>
                  <a:lnTo>
                    <a:pt x="20320" y="40640"/>
                  </a:lnTo>
                  <a:close/>
                </a:path>
              </a:pathLst>
            </a:custGeom>
            <a:solidFill>
              <a:srgbClr val="7B1C2E"/>
            </a:solidFill>
          </p:spPr>
        </p:sp>
      </p:grpSp>
      <p:grpSp>
        <p:nvGrpSpPr>
          <p:cNvPr id="86" name="Group 86"/>
          <p:cNvGrpSpPr/>
          <p:nvPr/>
        </p:nvGrpSpPr>
        <p:grpSpPr>
          <a:xfrm>
            <a:off x="6701533" y="6024877"/>
            <a:ext cx="1026157" cy="1026157"/>
            <a:chOff x="0" y="0"/>
            <a:chExt cx="1368209" cy="1368209"/>
          </a:xfrm>
        </p:grpSpPr>
        <p:sp>
          <p:nvSpPr>
            <p:cNvPr id="87" name="Freeform 87"/>
            <p:cNvSpPr/>
            <p:nvPr/>
          </p:nvSpPr>
          <p:spPr>
            <a:xfrm>
              <a:off x="13589" y="13589"/>
              <a:ext cx="1341120" cy="1341120"/>
            </a:xfrm>
            <a:custGeom>
              <a:avLst/>
              <a:gdLst/>
              <a:ahLst/>
              <a:cxnLst/>
              <a:rect l="l" t="t" r="r" b="b"/>
              <a:pathLst>
                <a:path w="1341120" h="1341120">
                  <a:moveTo>
                    <a:pt x="0" y="670560"/>
                  </a:moveTo>
                  <a:cubicBezTo>
                    <a:pt x="0" y="300228"/>
                    <a:pt x="300228" y="0"/>
                    <a:pt x="670560" y="0"/>
                  </a:cubicBezTo>
                  <a:cubicBezTo>
                    <a:pt x="1040892" y="0"/>
                    <a:pt x="1341120" y="300228"/>
                    <a:pt x="1341120" y="670560"/>
                  </a:cubicBezTo>
                  <a:cubicBezTo>
                    <a:pt x="1341120" y="1040892"/>
                    <a:pt x="1040892" y="1341120"/>
                    <a:pt x="670560" y="1341120"/>
                  </a:cubicBezTo>
                  <a:cubicBezTo>
                    <a:pt x="300228" y="1341120"/>
                    <a:pt x="0" y="1040892"/>
                    <a:pt x="0" y="670560"/>
                  </a:cubicBezTo>
                  <a:close/>
                </a:path>
              </a:pathLst>
            </a:custGeom>
            <a:solidFill>
              <a:srgbClr val="7B1C2E"/>
            </a:solidFill>
          </p:spPr>
        </p:sp>
        <p:sp>
          <p:nvSpPr>
            <p:cNvPr id="88" name="Freeform 88"/>
            <p:cNvSpPr/>
            <p:nvPr/>
          </p:nvSpPr>
          <p:spPr>
            <a:xfrm>
              <a:off x="0" y="0"/>
              <a:ext cx="1368298" cy="1368298"/>
            </a:xfrm>
            <a:custGeom>
              <a:avLst/>
              <a:gdLst/>
              <a:ahLst/>
              <a:cxnLst/>
              <a:rect l="l" t="t" r="r" b="b"/>
              <a:pathLst>
                <a:path w="1368298" h="1368298">
                  <a:moveTo>
                    <a:pt x="0" y="684149"/>
                  </a:moveTo>
                  <a:cubicBezTo>
                    <a:pt x="0" y="306324"/>
                    <a:pt x="306324" y="0"/>
                    <a:pt x="684149" y="0"/>
                  </a:cubicBezTo>
                  <a:lnTo>
                    <a:pt x="684149" y="13589"/>
                  </a:lnTo>
                  <a:lnTo>
                    <a:pt x="684149" y="0"/>
                  </a:lnTo>
                  <a:cubicBezTo>
                    <a:pt x="1061974" y="0"/>
                    <a:pt x="1368298" y="306324"/>
                    <a:pt x="1368298" y="684149"/>
                  </a:cubicBezTo>
                  <a:lnTo>
                    <a:pt x="1354709" y="684149"/>
                  </a:lnTo>
                  <a:lnTo>
                    <a:pt x="1368298" y="684149"/>
                  </a:lnTo>
                  <a:cubicBezTo>
                    <a:pt x="1368298" y="1061974"/>
                    <a:pt x="1061974" y="1368298"/>
                    <a:pt x="684149" y="1368298"/>
                  </a:cubicBezTo>
                  <a:lnTo>
                    <a:pt x="684149" y="1354709"/>
                  </a:lnTo>
                  <a:lnTo>
                    <a:pt x="684149" y="1368298"/>
                  </a:lnTo>
                  <a:cubicBezTo>
                    <a:pt x="306324" y="1368171"/>
                    <a:pt x="0" y="1061974"/>
                    <a:pt x="0" y="684149"/>
                  </a:cubicBezTo>
                  <a:lnTo>
                    <a:pt x="13589" y="684149"/>
                  </a:lnTo>
                  <a:lnTo>
                    <a:pt x="27051" y="684149"/>
                  </a:lnTo>
                  <a:lnTo>
                    <a:pt x="13589" y="684149"/>
                  </a:lnTo>
                  <a:lnTo>
                    <a:pt x="0" y="684149"/>
                  </a:lnTo>
                  <a:moveTo>
                    <a:pt x="27051" y="684149"/>
                  </a:moveTo>
                  <a:cubicBezTo>
                    <a:pt x="27051" y="691642"/>
                    <a:pt x="20955" y="697738"/>
                    <a:pt x="13462" y="697738"/>
                  </a:cubicBezTo>
                  <a:cubicBezTo>
                    <a:pt x="5969" y="697738"/>
                    <a:pt x="0" y="691642"/>
                    <a:pt x="0" y="684149"/>
                  </a:cubicBezTo>
                  <a:cubicBezTo>
                    <a:pt x="0" y="676656"/>
                    <a:pt x="6096" y="670560"/>
                    <a:pt x="13589" y="670560"/>
                  </a:cubicBezTo>
                  <a:cubicBezTo>
                    <a:pt x="21082" y="670560"/>
                    <a:pt x="27178" y="676656"/>
                    <a:pt x="27178" y="684149"/>
                  </a:cubicBezTo>
                  <a:cubicBezTo>
                    <a:pt x="27178" y="1046988"/>
                    <a:pt x="321310" y="1341120"/>
                    <a:pt x="684149" y="1341120"/>
                  </a:cubicBezTo>
                  <a:cubicBezTo>
                    <a:pt x="1046988" y="1341120"/>
                    <a:pt x="1341120" y="1046988"/>
                    <a:pt x="1341120" y="684149"/>
                  </a:cubicBezTo>
                  <a:cubicBezTo>
                    <a:pt x="1341120" y="321310"/>
                    <a:pt x="1046988" y="27051"/>
                    <a:pt x="684149" y="27051"/>
                  </a:cubicBezTo>
                  <a:lnTo>
                    <a:pt x="684149" y="13589"/>
                  </a:lnTo>
                  <a:lnTo>
                    <a:pt x="684149" y="27051"/>
                  </a:lnTo>
                  <a:cubicBezTo>
                    <a:pt x="321310" y="27051"/>
                    <a:pt x="27051" y="321310"/>
                    <a:pt x="27051" y="684149"/>
                  </a:cubicBezTo>
                  <a:close/>
                </a:path>
              </a:pathLst>
            </a:custGeom>
            <a:solidFill>
              <a:srgbClr val="C9A96E"/>
            </a:solidFill>
          </p:spPr>
        </p:sp>
      </p:grpSp>
      <p:grpSp>
        <p:nvGrpSpPr>
          <p:cNvPr id="89" name="Group 89"/>
          <p:cNvGrpSpPr/>
          <p:nvPr/>
        </p:nvGrpSpPr>
        <p:grpSpPr>
          <a:xfrm>
            <a:off x="6711696" y="6035040"/>
            <a:ext cx="1005840" cy="1005840"/>
            <a:chOff x="0" y="0"/>
            <a:chExt cx="1341120" cy="1341120"/>
          </a:xfrm>
        </p:grpSpPr>
        <p:sp>
          <p:nvSpPr>
            <p:cNvPr id="90" name="Freeform 90"/>
            <p:cNvSpPr/>
            <p:nvPr/>
          </p:nvSpPr>
          <p:spPr>
            <a:xfrm>
              <a:off x="0" y="0"/>
              <a:ext cx="1341120" cy="1341120"/>
            </a:xfrm>
            <a:custGeom>
              <a:avLst/>
              <a:gdLst/>
              <a:ahLst/>
              <a:cxnLst/>
              <a:rect l="l" t="t" r="r" b="b"/>
              <a:pathLst>
                <a:path w="1341120" h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91" name="TextBox 91"/>
            <p:cNvSpPr txBox="1"/>
            <p:nvPr/>
          </p:nvSpPr>
          <p:spPr>
            <a:xfrm>
              <a:off x="0" y="-9525"/>
              <a:ext cx="1341120" cy="13506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 b="1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05</a:t>
              </a:r>
            </a:p>
          </p:txBody>
        </p:sp>
      </p:grpSp>
      <p:grpSp>
        <p:nvGrpSpPr>
          <p:cNvPr id="92" name="Group 92"/>
          <p:cNvGrpSpPr/>
          <p:nvPr/>
        </p:nvGrpSpPr>
        <p:grpSpPr>
          <a:xfrm>
            <a:off x="7900416" y="6108192"/>
            <a:ext cx="3657600" cy="768096"/>
            <a:chOff x="0" y="0"/>
            <a:chExt cx="4876800" cy="1024128"/>
          </a:xfrm>
        </p:grpSpPr>
        <p:sp>
          <p:nvSpPr>
            <p:cNvPr id="93" name="Freeform 93"/>
            <p:cNvSpPr/>
            <p:nvPr/>
          </p:nvSpPr>
          <p:spPr>
            <a:xfrm>
              <a:off x="0" y="0"/>
              <a:ext cx="4876800" cy="1024128"/>
            </a:xfrm>
            <a:custGeom>
              <a:avLst/>
              <a:gdLst/>
              <a:ahLst/>
              <a:cxnLst/>
              <a:rect l="l" t="t" r="r" b="b"/>
              <a:pathLst>
                <a:path w="4876800" h="1024128">
                  <a:moveTo>
                    <a:pt x="0" y="0"/>
                  </a:moveTo>
                  <a:lnTo>
                    <a:pt x="4876800" y="0"/>
                  </a:lnTo>
                  <a:lnTo>
                    <a:pt x="48768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2785" b="-42785"/>
              </a:stretch>
            </a:blipFill>
          </p:spPr>
        </p:sp>
        <p:sp>
          <p:nvSpPr>
            <p:cNvPr id="94" name="TextBox 94"/>
            <p:cNvSpPr txBox="1"/>
            <p:nvPr/>
          </p:nvSpPr>
          <p:spPr>
            <a:xfrm>
              <a:off x="0" y="-66675"/>
              <a:ext cx="4876800" cy="10908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719"/>
                </a:lnSpc>
              </a:pPr>
              <a:r>
                <a:rPr lang="en-US" sz="30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Tokenization</a:t>
              </a:r>
            </a:p>
          </p:txBody>
        </p:sp>
      </p:grpSp>
      <p:grpSp>
        <p:nvGrpSpPr>
          <p:cNvPr id="95" name="Group 95"/>
          <p:cNvGrpSpPr/>
          <p:nvPr/>
        </p:nvGrpSpPr>
        <p:grpSpPr>
          <a:xfrm>
            <a:off x="6748272" y="7168896"/>
            <a:ext cx="4846320" cy="1554480"/>
            <a:chOff x="0" y="0"/>
            <a:chExt cx="6461760" cy="2072640"/>
          </a:xfrm>
        </p:grpSpPr>
        <p:sp>
          <p:nvSpPr>
            <p:cNvPr id="96" name="Freeform 96"/>
            <p:cNvSpPr/>
            <p:nvPr/>
          </p:nvSpPr>
          <p:spPr>
            <a:xfrm>
              <a:off x="0" y="0"/>
              <a:ext cx="6461760" cy="2072640"/>
            </a:xfrm>
            <a:custGeom>
              <a:avLst/>
              <a:gdLst/>
              <a:ahLst/>
              <a:cxnLst/>
              <a:rect l="l" t="t" r="r" b="b"/>
              <a:pathLst>
                <a:path w="6461760" h="2072640">
                  <a:moveTo>
                    <a:pt x="0" y="0"/>
                  </a:moveTo>
                  <a:lnTo>
                    <a:pt x="6461760" y="0"/>
                  </a:lnTo>
                  <a:lnTo>
                    <a:pt x="646176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747" b="-10747"/>
              </a:stretch>
            </a:blipFill>
          </p:spPr>
        </p:sp>
        <p:sp>
          <p:nvSpPr>
            <p:cNvPr id="97" name="TextBox 97"/>
            <p:cNvSpPr txBox="1"/>
            <p:nvPr/>
          </p:nvSpPr>
          <p:spPr>
            <a:xfrm>
              <a:off x="0" y="-123825"/>
              <a:ext cx="6461760" cy="21964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175"/>
                </a:lnSpc>
              </a:pPr>
              <a:r>
                <a:rPr lang="en-US" sz="2899">
                  <a:solidFill>
                    <a:srgbClr val="B0B0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Keras Tokenizer</a:t>
              </a:r>
            </a:p>
            <a:p>
              <a:pPr algn="l">
                <a:lnSpc>
                  <a:spcPts val="4175"/>
                </a:lnSpc>
              </a:pPr>
              <a:r>
                <a:rPr lang="en-US" sz="2899">
                  <a:solidFill>
                    <a:srgbClr val="B0B0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num_words=5000, maxlen=100</a:t>
              </a:r>
            </a:p>
          </p:txBody>
        </p:sp>
      </p:grpSp>
      <p:grpSp>
        <p:nvGrpSpPr>
          <p:cNvPr id="98" name="Group 98"/>
          <p:cNvGrpSpPr/>
          <p:nvPr/>
        </p:nvGrpSpPr>
        <p:grpSpPr>
          <a:xfrm>
            <a:off x="12402312" y="5836920"/>
            <a:ext cx="5242560" cy="3139440"/>
            <a:chOff x="0" y="0"/>
            <a:chExt cx="6990080" cy="4185920"/>
          </a:xfrm>
        </p:grpSpPr>
        <p:sp>
          <p:nvSpPr>
            <p:cNvPr id="99" name="Freeform 99"/>
            <p:cNvSpPr/>
            <p:nvPr/>
          </p:nvSpPr>
          <p:spPr>
            <a:xfrm>
              <a:off x="20320" y="20320"/>
              <a:ext cx="6949440" cy="4145280"/>
            </a:xfrm>
            <a:custGeom>
              <a:avLst/>
              <a:gdLst/>
              <a:ahLst/>
              <a:cxnLst/>
              <a:rect l="l" t="t" r="r" b="b"/>
              <a:pathLst>
                <a:path w="6949440" h="4145280">
                  <a:moveTo>
                    <a:pt x="0" y="0"/>
                  </a:moveTo>
                  <a:lnTo>
                    <a:pt x="6949440" y="0"/>
                  </a:lnTo>
                  <a:lnTo>
                    <a:pt x="6949440" y="4145280"/>
                  </a:lnTo>
                  <a:lnTo>
                    <a:pt x="0" y="4145280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id="100" name="Freeform 100"/>
            <p:cNvSpPr/>
            <p:nvPr/>
          </p:nvSpPr>
          <p:spPr>
            <a:xfrm>
              <a:off x="0" y="0"/>
              <a:ext cx="6990080" cy="4185920"/>
            </a:xfrm>
            <a:custGeom>
              <a:avLst/>
              <a:gdLst/>
              <a:ahLst/>
              <a:cxnLst/>
              <a:rect l="l" t="t" r="r" b="b"/>
              <a:pathLst>
                <a:path w="6990080" h="4185920">
                  <a:moveTo>
                    <a:pt x="20320" y="0"/>
                  </a:moveTo>
                  <a:lnTo>
                    <a:pt x="6969760" y="0"/>
                  </a:lnTo>
                  <a:cubicBezTo>
                    <a:pt x="6980936" y="0"/>
                    <a:pt x="6990080" y="9144"/>
                    <a:pt x="6990080" y="20320"/>
                  </a:cubicBezTo>
                  <a:lnTo>
                    <a:pt x="6990080" y="4165600"/>
                  </a:lnTo>
                  <a:cubicBezTo>
                    <a:pt x="6990080" y="4176776"/>
                    <a:pt x="6980936" y="4185920"/>
                    <a:pt x="6969760" y="4185920"/>
                  </a:cubicBezTo>
                  <a:lnTo>
                    <a:pt x="20320" y="4185920"/>
                  </a:lnTo>
                  <a:cubicBezTo>
                    <a:pt x="9144" y="4185920"/>
                    <a:pt x="0" y="4176776"/>
                    <a:pt x="0" y="4165600"/>
                  </a:cubicBezTo>
                  <a:lnTo>
                    <a:pt x="0" y="20320"/>
                  </a:lnTo>
                  <a:cubicBezTo>
                    <a:pt x="0" y="9144"/>
                    <a:pt x="9144" y="0"/>
                    <a:pt x="20320" y="0"/>
                  </a:cubicBezTo>
                  <a:moveTo>
                    <a:pt x="20320" y="40640"/>
                  </a:moveTo>
                  <a:lnTo>
                    <a:pt x="20320" y="20320"/>
                  </a:lnTo>
                  <a:lnTo>
                    <a:pt x="40640" y="20320"/>
                  </a:lnTo>
                  <a:lnTo>
                    <a:pt x="40640" y="4165600"/>
                  </a:lnTo>
                  <a:lnTo>
                    <a:pt x="20320" y="4165600"/>
                  </a:lnTo>
                  <a:lnTo>
                    <a:pt x="20320" y="4145280"/>
                  </a:lnTo>
                  <a:lnTo>
                    <a:pt x="6969760" y="4145280"/>
                  </a:lnTo>
                  <a:lnTo>
                    <a:pt x="6969760" y="4165600"/>
                  </a:lnTo>
                  <a:lnTo>
                    <a:pt x="6949440" y="4165600"/>
                  </a:lnTo>
                  <a:lnTo>
                    <a:pt x="6949440" y="20320"/>
                  </a:lnTo>
                  <a:lnTo>
                    <a:pt x="6969760" y="20320"/>
                  </a:lnTo>
                  <a:lnTo>
                    <a:pt x="6969760" y="40640"/>
                  </a:lnTo>
                  <a:lnTo>
                    <a:pt x="20320" y="40640"/>
                  </a:lnTo>
                  <a:close/>
                </a:path>
              </a:pathLst>
            </a:custGeom>
            <a:solidFill>
              <a:srgbClr val="7B1C2E"/>
            </a:solidFill>
          </p:spPr>
        </p:sp>
      </p:grpSp>
      <p:grpSp>
        <p:nvGrpSpPr>
          <p:cNvPr id="101" name="Group 101"/>
          <p:cNvGrpSpPr/>
          <p:nvPr/>
        </p:nvGrpSpPr>
        <p:grpSpPr>
          <a:xfrm>
            <a:off x="12590269" y="6024877"/>
            <a:ext cx="1026157" cy="1026157"/>
            <a:chOff x="0" y="0"/>
            <a:chExt cx="1368209" cy="1368209"/>
          </a:xfrm>
        </p:grpSpPr>
        <p:sp>
          <p:nvSpPr>
            <p:cNvPr id="102" name="Freeform 102"/>
            <p:cNvSpPr/>
            <p:nvPr/>
          </p:nvSpPr>
          <p:spPr>
            <a:xfrm>
              <a:off x="13589" y="13589"/>
              <a:ext cx="1341120" cy="1341120"/>
            </a:xfrm>
            <a:custGeom>
              <a:avLst/>
              <a:gdLst/>
              <a:ahLst/>
              <a:cxnLst/>
              <a:rect l="l" t="t" r="r" b="b"/>
              <a:pathLst>
                <a:path w="1341120" h="1341120">
                  <a:moveTo>
                    <a:pt x="0" y="670560"/>
                  </a:moveTo>
                  <a:cubicBezTo>
                    <a:pt x="0" y="300228"/>
                    <a:pt x="300228" y="0"/>
                    <a:pt x="670560" y="0"/>
                  </a:cubicBezTo>
                  <a:cubicBezTo>
                    <a:pt x="1040892" y="0"/>
                    <a:pt x="1341120" y="300228"/>
                    <a:pt x="1341120" y="670560"/>
                  </a:cubicBezTo>
                  <a:cubicBezTo>
                    <a:pt x="1341120" y="1040892"/>
                    <a:pt x="1040892" y="1341120"/>
                    <a:pt x="670560" y="1341120"/>
                  </a:cubicBezTo>
                  <a:cubicBezTo>
                    <a:pt x="300228" y="1341120"/>
                    <a:pt x="0" y="1040892"/>
                    <a:pt x="0" y="670560"/>
                  </a:cubicBezTo>
                  <a:close/>
                </a:path>
              </a:pathLst>
            </a:custGeom>
            <a:solidFill>
              <a:srgbClr val="7B1C2E"/>
            </a:solidFill>
          </p:spPr>
        </p:sp>
        <p:sp>
          <p:nvSpPr>
            <p:cNvPr id="103" name="Freeform 103"/>
            <p:cNvSpPr/>
            <p:nvPr/>
          </p:nvSpPr>
          <p:spPr>
            <a:xfrm>
              <a:off x="0" y="0"/>
              <a:ext cx="1368298" cy="1368298"/>
            </a:xfrm>
            <a:custGeom>
              <a:avLst/>
              <a:gdLst/>
              <a:ahLst/>
              <a:cxnLst/>
              <a:rect l="l" t="t" r="r" b="b"/>
              <a:pathLst>
                <a:path w="1368298" h="1368298">
                  <a:moveTo>
                    <a:pt x="0" y="684149"/>
                  </a:moveTo>
                  <a:cubicBezTo>
                    <a:pt x="0" y="306324"/>
                    <a:pt x="306324" y="0"/>
                    <a:pt x="684149" y="0"/>
                  </a:cubicBezTo>
                  <a:lnTo>
                    <a:pt x="684149" y="13589"/>
                  </a:lnTo>
                  <a:lnTo>
                    <a:pt x="684149" y="0"/>
                  </a:lnTo>
                  <a:cubicBezTo>
                    <a:pt x="1061974" y="0"/>
                    <a:pt x="1368298" y="306324"/>
                    <a:pt x="1368298" y="684149"/>
                  </a:cubicBezTo>
                  <a:lnTo>
                    <a:pt x="1354709" y="684149"/>
                  </a:lnTo>
                  <a:lnTo>
                    <a:pt x="1368298" y="684149"/>
                  </a:lnTo>
                  <a:cubicBezTo>
                    <a:pt x="1368298" y="1061974"/>
                    <a:pt x="1061974" y="1368298"/>
                    <a:pt x="684149" y="1368298"/>
                  </a:cubicBezTo>
                  <a:lnTo>
                    <a:pt x="684149" y="1354709"/>
                  </a:lnTo>
                  <a:lnTo>
                    <a:pt x="684149" y="1368298"/>
                  </a:lnTo>
                  <a:cubicBezTo>
                    <a:pt x="306324" y="1368171"/>
                    <a:pt x="0" y="1061974"/>
                    <a:pt x="0" y="684149"/>
                  </a:cubicBezTo>
                  <a:lnTo>
                    <a:pt x="13589" y="684149"/>
                  </a:lnTo>
                  <a:lnTo>
                    <a:pt x="27051" y="684149"/>
                  </a:lnTo>
                  <a:lnTo>
                    <a:pt x="13589" y="684149"/>
                  </a:lnTo>
                  <a:lnTo>
                    <a:pt x="0" y="684149"/>
                  </a:lnTo>
                  <a:moveTo>
                    <a:pt x="27051" y="684149"/>
                  </a:moveTo>
                  <a:cubicBezTo>
                    <a:pt x="27051" y="691642"/>
                    <a:pt x="20955" y="697738"/>
                    <a:pt x="13462" y="697738"/>
                  </a:cubicBezTo>
                  <a:cubicBezTo>
                    <a:pt x="5969" y="697738"/>
                    <a:pt x="0" y="691642"/>
                    <a:pt x="0" y="684149"/>
                  </a:cubicBezTo>
                  <a:cubicBezTo>
                    <a:pt x="0" y="676656"/>
                    <a:pt x="6096" y="670560"/>
                    <a:pt x="13589" y="670560"/>
                  </a:cubicBezTo>
                  <a:cubicBezTo>
                    <a:pt x="21082" y="670560"/>
                    <a:pt x="27178" y="676656"/>
                    <a:pt x="27178" y="684149"/>
                  </a:cubicBezTo>
                  <a:cubicBezTo>
                    <a:pt x="27178" y="1046988"/>
                    <a:pt x="321310" y="1341120"/>
                    <a:pt x="684149" y="1341120"/>
                  </a:cubicBezTo>
                  <a:cubicBezTo>
                    <a:pt x="1046988" y="1341120"/>
                    <a:pt x="1341120" y="1046988"/>
                    <a:pt x="1341120" y="684149"/>
                  </a:cubicBezTo>
                  <a:cubicBezTo>
                    <a:pt x="1341120" y="321310"/>
                    <a:pt x="1046988" y="27051"/>
                    <a:pt x="684149" y="27051"/>
                  </a:cubicBezTo>
                  <a:lnTo>
                    <a:pt x="684149" y="13589"/>
                  </a:lnTo>
                  <a:lnTo>
                    <a:pt x="684149" y="27051"/>
                  </a:lnTo>
                  <a:cubicBezTo>
                    <a:pt x="321310" y="27051"/>
                    <a:pt x="27051" y="321310"/>
                    <a:pt x="27051" y="684149"/>
                  </a:cubicBezTo>
                  <a:close/>
                </a:path>
              </a:pathLst>
            </a:custGeom>
            <a:solidFill>
              <a:srgbClr val="C9A96E"/>
            </a:solidFill>
          </p:spPr>
        </p:sp>
      </p:grpSp>
      <p:grpSp>
        <p:nvGrpSpPr>
          <p:cNvPr id="104" name="Group 104"/>
          <p:cNvGrpSpPr/>
          <p:nvPr/>
        </p:nvGrpSpPr>
        <p:grpSpPr>
          <a:xfrm>
            <a:off x="12600432" y="6035040"/>
            <a:ext cx="1005840" cy="1005840"/>
            <a:chOff x="0" y="0"/>
            <a:chExt cx="1341120" cy="1341120"/>
          </a:xfrm>
        </p:grpSpPr>
        <p:sp>
          <p:nvSpPr>
            <p:cNvPr id="105" name="Freeform 105"/>
            <p:cNvSpPr/>
            <p:nvPr/>
          </p:nvSpPr>
          <p:spPr>
            <a:xfrm>
              <a:off x="0" y="0"/>
              <a:ext cx="1341120" cy="1341120"/>
            </a:xfrm>
            <a:custGeom>
              <a:avLst/>
              <a:gdLst/>
              <a:ahLst/>
              <a:cxnLst/>
              <a:rect l="l" t="t" r="r" b="b"/>
              <a:pathLst>
                <a:path w="1341120" h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106" name="TextBox 106"/>
            <p:cNvSpPr txBox="1"/>
            <p:nvPr/>
          </p:nvSpPr>
          <p:spPr>
            <a:xfrm>
              <a:off x="0" y="-9525"/>
              <a:ext cx="1341120" cy="13506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 b="1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06</a:t>
              </a:r>
            </a:p>
          </p:txBody>
        </p:sp>
      </p:grpSp>
      <p:grpSp>
        <p:nvGrpSpPr>
          <p:cNvPr id="107" name="Group 107"/>
          <p:cNvGrpSpPr/>
          <p:nvPr/>
        </p:nvGrpSpPr>
        <p:grpSpPr>
          <a:xfrm>
            <a:off x="13789152" y="6108192"/>
            <a:ext cx="3657600" cy="768096"/>
            <a:chOff x="0" y="0"/>
            <a:chExt cx="4876800" cy="1024128"/>
          </a:xfrm>
        </p:grpSpPr>
        <p:sp>
          <p:nvSpPr>
            <p:cNvPr id="108" name="Freeform 108"/>
            <p:cNvSpPr/>
            <p:nvPr/>
          </p:nvSpPr>
          <p:spPr>
            <a:xfrm>
              <a:off x="0" y="0"/>
              <a:ext cx="4876800" cy="1024128"/>
            </a:xfrm>
            <a:custGeom>
              <a:avLst/>
              <a:gdLst/>
              <a:ahLst/>
              <a:cxnLst/>
              <a:rect l="l" t="t" r="r" b="b"/>
              <a:pathLst>
                <a:path w="4876800" h="1024128">
                  <a:moveTo>
                    <a:pt x="0" y="0"/>
                  </a:moveTo>
                  <a:lnTo>
                    <a:pt x="4876800" y="0"/>
                  </a:lnTo>
                  <a:lnTo>
                    <a:pt x="48768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2785" b="-42785"/>
              </a:stretch>
            </a:blipFill>
          </p:spPr>
        </p:sp>
        <p:sp>
          <p:nvSpPr>
            <p:cNvPr id="109" name="TextBox 109"/>
            <p:cNvSpPr txBox="1"/>
            <p:nvPr/>
          </p:nvSpPr>
          <p:spPr>
            <a:xfrm>
              <a:off x="0" y="-66675"/>
              <a:ext cx="4876800" cy="10908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719"/>
                </a:lnSpc>
              </a:pPr>
              <a:r>
                <a:rPr lang="en-US" sz="30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Class Weighting</a:t>
              </a:r>
            </a:p>
          </p:txBody>
        </p:sp>
      </p:grpSp>
      <p:grpSp>
        <p:nvGrpSpPr>
          <p:cNvPr id="110" name="Group 110"/>
          <p:cNvGrpSpPr/>
          <p:nvPr/>
        </p:nvGrpSpPr>
        <p:grpSpPr>
          <a:xfrm>
            <a:off x="12637008" y="7168896"/>
            <a:ext cx="4846320" cy="1554480"/>
            <a:chOff x="0" y="0"/>
            <a:chExt cx="6461760" cy="2072640"/>
          </a:xfrm>
        </p:grpSpPr>
        <p:sp>
          <p:nvSpPr>
            <p:cNvPr id="111" name="Freeform 111"/>
            <p:cNvSpPr/>
            <p:nvPr/>
          </p:nvSpPr>
          <p:spPr>
            <a:xfrm>
              <a:off x="0" y="0"/>
              <a:ext cx="6461760" cy="2072640"/>
            </a:xfrm>
            <a:custGeom>
              <a:avLst/>
              <a:gdLst/>
              <a:ahLst/>
              <a:cxnLst/>
              <a:rect l="l" t="t" r="r" b="b"/>
              <a:pathLst>
                <a:path w="6461760" h="2072640">
                  <a:moveTo>
                    <a:pt x="0" y="0"/>
                  </a:moveTo>
                  <a:lnTo>
                    <a:pt x="6461760" y="0"/>
                  </a:lnTo>
                  <a:lnTo>
                    <a:pt x="646176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747" b="-10747"/>
              </a:stretch>
            </a:blipFill>
          </p:spPr>
        </p:sp>
        <p:sp>
          <p:nvSpPr>
            <p:cNvPr id="112" name="TextBox 112"/>
            <p:cNvSpPr txBox="1"/>
            <p:nvPr/>
          </p:nvSpPr>
          <p:spPr>
            <a:xfrm>
              <a:off x="0" y="-123825"/>
              <a:ext cx="6461760" cy="21964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175"/>
                </a:lnSpc>
              </a:pPr>
              <a:r>
                <a:rPr lang="en-US" sz="2899">
                  <a:solidFill>
                    <a:srgbClr val="B0B0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compute_class_weight</a:t>
              </a:r>
            </a:p>
            <a:p>
              <a:pPr algn="l">
                <a:lnSpc>
                  <a:spcPts val="4175"/>
                </a:lnSpc>
              </a:pPr>
              <a:r>
                <a:rPr lang="en-US" sz="2899">
                  <a:solidFill>
                    <a:srgbClr val="B0B0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 handle class imbalance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18313403" cy="1854203"/>
            <a:chOff x="0" y="0"/>
            <a:chExt cx="24417871" cy="2472271"/>
          </a:xfrm>
        </p:grpSpPr>
        <p:sp>
          <p:nvSpPr>
            <p:cNvPr id="3" name="Freeform 3"/>
            <p:cNvSpPr/>
            <p:nvPr/>
          </p:nvSpPr>
          <p:spPr>
            <a:xfrm>
              <a:off x="16891" y="16891"/>
              <a:ext cx="24383999" cy="2438400"/>
            </a:xfrm>
            <a:custGeom>
              <a:avLst/>
              <a:gdLst/>
              <a:ahLst/>
              <a:cxnLst/>
              <a:rect l="l" t="t" r="r" b="b"/>
              <a:pathLst>
                <a:path w="24383999" h="2438400">
                  <a:moveTo>
                    <a:pt x="0" y="0"/>
                  </a:moveTo>
                  <a:lnTo>
                    <a:pt x="24383999" y="0"/>
                  </a:lnTo>
                  <a:lnTo>
                    <a:pt x="24383999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5A0D1E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24417782" cy="2472182"/>
            </a:xfrm>
            <a:custGeom>
              <a:avLst/>
              <a:gdLst/>
              <a:ahLst/>
              <a:cxnLst/>
              <a:rect l="l" t="t" r="r" b="b"/>
              <a:pathLst>
                <a:path w="24417782" h="24721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455291"/>
                  </a:lnTo>
                  <a:cubicBezTo>
                    <a:pt x="24417782" y="2464689"/>
                    <a:pt x="24410163" y="2472182"/>
                    <a:pt x="24400890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24400890" y="2438400"/>
                  </a:lnTo>
                  <a:lnTo>
                    <a:pt x="24400890" y="2455291"/>
                  </a:lnTo>
                  <a:lnTo>
                    <a:pt x="24384000" y="245529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5A0D1E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731520" y="146304"/>
            <a:ext cx="16459200" cy="1097280"/>
            <a:chOff x="0" y="0"/>
            <a:chExt cx="21945600" cy="146304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945600" cy="1463040"/>
            </a:xfrm>
            <a:custGeom>
              <a:avLst/>
              <a:gdLst/>
              <a:ahLst/>
              <a:cxnLst/>
              <a:rect l="l" t="t" r="r" b="b"/>
              <a:pathLst>
                <a:path w="21945600" h="146304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2275" b="-242275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21945600" cy="14725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240"/>
                </a:lnSpc>
              </a:pPr>
              <a:r>
                <a:rPr lang="en-US" sz="5200" b="1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LSTM Model Architecture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6093440" y="146304"/>
            <a:ext cx="1463040" cy="1097280"/>
            <a:chOff x="0" y="0"/>
            <a:chExt cx="1950720" cy="14630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950720" cy="1463040"/>
            </a:xfrm>
            <a:custGeom>
              <a:avLst/>
              <a:gdLst/>
              <a:ahLst/>
              <a:cxnLst/>
              <a:rect l="l" t="t" r="r" b="b"/>
              <a:pathLst>
                <a:path w="1950720" h="1463040">
                  <a:moveTo>
                    <a:pt x="0" y="0"/>
                  </a:moveTo>
                  <a:lnTo>
                    <a:pt x="1950720" y="0"/>
                  </a:lnTo>
                  <a:lnTo>
                    <a:pt x="19507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r="-46227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1950720" cy="14820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4800"/>
                </a:lnSpc>
              </a:pPr>
              <a:r>
                <a:rPr lang="en-US" sz="4000" b="1">
                  <a:solidFill>
                    <a:srgbClr val="C9A96E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06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18823" y="2364743"/>
            <a:ext cx="3865883" cy="1854203"/>
            <a:chOff x="0" y="0"/>
            <a:chExt cx="5154511" cy="2472271"/>
          </a:xfrm>
        </p:grpSpPr>
        <p:sp>
          <p:nvSpPr>
            <p:cNvPr id="12" name="Freeform 12"/>
            <p:cNvSpPr/>
            <p:nvPr/>
          </p:nvSpPr>
          <p:spPr>
            <a:xfrm>
              <a:off x="16891" y="16891"/>
              <a:ext cx="5120640" cy="2438400"/>
            </a:xfrm>
            <a:custGeom>
              <a:avLst/>
              <a:gdLst/>
              <a:ahLst/>
              <a:cxnLst/>
              <a:rect l="l" t="t" r="r" b="b"/>
              <a:pathLst>
                <a:path w="5120640" h="2438400">
                  <a:moveTo>
                    <a:pt x="0" y="0"/>
                  </a:moveTo>
                  <a:lnTo>
                    <a:pt x="5120640" y="0"/>
                  </a:lnTo>
                  <a:lnTo>
                    <a:pt x="512064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7B1C2E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0" y="0"/>
              <a:ext cx="5154422" cy="2472182"/>
            </a:xfrm>
            <a:custGeom>
              <a:avLst/>
              <a:gdLst/>
              <a:ahLst/>
              <a:cxnLst/>
              <a:rect l="l" t="t" r="r" b="b"/>
              <a:pathLst>
                <a:path w="5154422" h="2472182">
                  <a:moveTo>
                    <a:pt x="16891" y="0"/>
                  </a:moveTo>
                  <a:lnTo>
                    <a:pt x="5137531" y="0"/>
                  </a:lnTo>
                  <a:cubicBezTo>
                    <a:pt x="5146929" y="0"/>
                    <a:pt x="5154422" y="7620"/>
                    <a:pt x="5154422" y="16891"/>
                  </a:cubicBezTo>
                  <a:lnTo>
                    <a:pt x="5154422" y="2455291"/>
                  </a:lnTo>
                  <a:cubicBezTo>
                    <a:pt x="5154422" y="2464689"/>
                    <a:pt x="5146802" y="2472182"/>
                    <a:pt x="5137531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5137531" y="2438400"/>
                  </a:lnTo>
                  <a:lnTo>
                    <a:pt x="5137531" y="2455291"/>
                  </a:lnTo>
                  <a:lnTo>
                    <a:pt x="5120640" y="2455291"/>
                  </a:lnTo>
                  <a:lnTo>
                    <a:pt x="5120640" y="16891"/>
                  </a:lnTo>
                  <a:lnTo>
                    <a:pt x="5137531" y="16891"/>
                  </a:lnTo>
                  <a:lnTo>
                    <a:pt x="5137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9A96E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731520" y="2560320"/>
            <a:ext cx="3840480" cy="694944"/>
            <a:chOff x="0" y="0"/>
            <a:chExt cx="5120640" cy="92659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120640" cy="926592"/>
            </a:xfrm>
            <a:custGeom>
              <a:avLst/>
              <a:gdLst/>
              <a:ahLst/>
              <a:cxnLst/>
              <a:rect l="l" t="t" r="r" b="b"/>
              <a:pathLst>
                <a:path w="5120640" h="926592">
                  <a:moveTo>
                    <a:pt x="0" y="0"/>
                  </a:moveTo>
                  <a:lnTo>
                    <a:pt x="5120640" y="0"/>
                  </a:lnTo>
                  <a:lnTo>
                    <a:pt x="51206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7680" b="-57680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66675"/>
              <a:ext cx="5120640" cy="99326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959"/>
                </a:lnSpc>
              </a:pPr>
              <a:r>
                <a:rPr lang="en-US" sz="3299" b="1">
                  <a:solidFill>
                    <a:srgbClr val="C9A96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INPUT LAYER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31520" y="3328416"/>
            <a:ext cx="3840480" cy="694944"/>
            <a:chOff x="0" y="0"/>
            <a:chExt cx="5120640" cy="92659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5120640" cy="926592"/>
            </a:xfrm>
            <a:custGeom>
              <a:avLst/>
              <a:gdLst/>
              <a:ahLst/>
              <a:cxnLst/>
              <a:rect l="l" t="t" r="r" b="b"/>
              <a:pathLst>
                <a:path w="5120640" h="926592">
                  <a:moveTo>
                    <a:pt x="0" y="0"/>
                  </a:moveTo>
                  <a:lnTo>
                    <a:pt x="5120640" y="0"/>
                  </a:lnTo>
                  <a:lnTo>
                    <a:pt x="51206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7680" b="-57680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66675"/>
              <a:ext cx="5120640" cy="99326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F5E6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shape: (100,)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4559303" y="3205991"/>
            <a:ext cx="848363" cy="135131"/>
            <a:chOff x="0" y="0"/>
            <a:chExt cx="1131151" cy="180175"/>
          </a:xfrm>
        </p:grpSpPr>
        <p:sp>
          <p:nvSpPr>
            <p:cNvPr id="21" name="Freeform 21"/>
            <p:cNvSpPr/>
            <p:nvPr/>
          </p:nvSpPr>
          <p:spPr>
            <a:xfrm>
              <a:off x="16891" y="16891"/>
              <a:ext cx="1097280" cy="146304"/>
            </a:xfrm>
            <a:custGeom>
              <a:avLst/>
              <a:gdLst/>
              <a:ahLst/>
              <a:cxnLst/>
              <a:rect l="l" t="t" r="r" b="b"/>
              <a:pathLst>
                <a:path w="1097280" h="146304">
                  <a:moveTo>
                    <a:pt x="0" y="0"/>
                  </a:moveTo>
                  <a:lnTo>
                    <a:pt x="1097280" y="0"/>
                  </a:lnTo>
                  <a:lnTo>
                    <a:pt x="109728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C9A96E"/>
            </a:solidFill>
          </p:spPr>
        </p:sp>
        <p:sp>
          <p:nvSpPr>
            <p:cNvPr id="22" name="Freeform 22"/>
            <p:cNvSpPr/>
            <p:nvPr/>
          </p:nvSpPr>
          <p:spPr>
            <a:xfrm>
              <a:off x="0" y="0"/>
              <a:ext cx="1131062" cy="180088"/>
            </a:xfrm>
            <a:custGeom>
              <a:avLst/>
              <a:gdLst/>
              <a:ahLst/>
              <a:cxnLst/>
              <a:rect l="l" t="t" r="r" b="b"/>
              <a:pathLst>
                <a:path w="1131062" h="180088">
                  <a:moveTo>
                    <a:pt x="16891" y="0"/>
                  </a:moveTo>
                  <a:lnTo>
                    <a:pt x="1114171" y="0"/>
                  </a:lnTo>
                  <a:cubicBezTo>
                    <a:pt x="1123569" y="0"/>
                    <a:pt x="1131062" y="7620"/>
                    <a:pt x="1131062" y="16891"/>
                  </a:cubicBezTo>
                  <a:lnTo>
                    <a:pt x="1131062" y="163195"/>
                  </a:lnTo>
                  <a:cubicBezTo>
                    <a:pt x="1131062" y="172593"/>
                    <a:pt x="1123442" y="180086"/>
                    <a:pt x="1114171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1114171" y="146304"/>
                  </a:lnTo>
                  <a:lnTo>
                    <a:pt x="1114171" y="163195"/>
                  </a:lnTo>
                  <a:lnTo>
                    <a:pt x="1097280" y="163195"/>
                  </a:lnTo>
                  <a:lnTo>
                    <a:pt x="1097280" y="16891"/>
                  </a:lnTo>
                  <a:lnTo>
                    <a:pt x="1114171" y="16891"/>
                  </a:lnTo>
                  <a:lnTo>
                    <a:pt x="1114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9A96E"/>
            </a:solidFill>
          </p:spPr>
        </p:sp>
      </p:grpSp>
      <p:grpSp>
        <p:nvGrpSpPr>
          <p:cNvPr id="23" name="Group 23"/>
          <p:cNvGrpSpPr/>
          <p:nvPr/>
        </p:nvGrpSpPr>
        <p:grpSpPr>
          <a:xfrm>
            <a:off x="5382263" y="2364743"/>
            <a:ext cx="3865883" cy="1854203"/>
            <a:chOff x="0" y="0"/>
            <a:chExt cx="5154511" cy="2472271"/>
          </a:xfrm>
        </p:grpSpPr>
        <p:sp>
          <p:nvSpPr>
            <p:cNvPr id="24" name="Freeform 24"/>
            <p:cNvSpPr/>
            <p:nvPr/>
          </p:nvSpPr>
          <p:spPr>
            <a:xfrm>
              <a:off x="16891" y="16891"/>
              <a:ext cx="5120640" cy="2438400"/>
            </a:xfrm>
            <a:custGeom>
              <a:avLst/>
              <a:gdLst/>
              <a:ahLst/>
              <a:cxnLst/>
              <a:rect l="l" t="t" r="r" b="b"/>
              <a:pathLst>
                <a:path w="5120640" h="2438400">
                  <a:moveTo>
                    <a:pt x="0" y="0"/>
                  </a:moveTo>
                  <a:lnTo>
                    <a:pt x="5120640" y="0"/>
                  </a:lnTo>
                  <a:lnTo>
                    <a:pt x="512064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7B1C2E"/>
            </a:solidFill>
          </p:spPr>
        </p:sp>
        <p:sp>
          <p:nvSpPr>
            <p:cNvPr id="25" name="Freeform 25"/>
            <p:cNvSpPr/>
            <p:nvPr/>
          </p:nvSpPr>
          <p:spPr>
            <a:xfrm>
              <a:off x="0" y="0"/>
              <a:ext cx="5154422" cy="2472182"/>
            </a:xfrm>
            <a:custGeom>
              <a:avLst/>
              <a:gdLst/>
              <a:ahLst/>
              <a:cxnLst/>
              <a:rect l="l" t="t" r="r" b="b"/>
              <a:pathLst>
                <a:path w="5154422" h="2472182">
                  <a:moveTo>
                    <a:pt x="16891" y="0"/>
                  </a:moveTo>
                  <a:lnTo>
                    <a:pt x="5137531" y="0"/>
                  </a:lnTo>
                  <a:cubicBezTo>
                    <a:pt x="5146929" y="0"/>
                    <a:pt x="5154422" y="7620"/>
                    <a:pt x="5154422" y="16891"/>
                  </a:cubicBezTo>
                  <a:lnTo>
                    <a:pt x="5154422" y="2455291"/>
                  </a:lnTo>
                  <a:cubicBezTo>
                    <a:pt x="5154422" y="2464689"/>
                    <a:pt x="5146802" y="2472182"/>
                    <a:pt x="5137531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5137531" y="2438400"/>
                  </a:lnTo>
                  <a:lnTo>
                    <a:pt x="5137531" y="2455291"/>
                  </a:lnTo>
                  <a:lnTo>
                    <a:pt x="5120640" y="2455291"/>
                  </a:lnTo>
                  <a:lnTo>
                    <a:pt x="5120640" y="16891"/>
                  </a:lnTo>
                  <a:lnTo>
                    <a:pt x="5137531" y="16891"/>
                  </a:lnTo>
                  <a:lnTo>
                    <a:pt x="5137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9A96E"/>
            </a:solidFill>
          </p:spPr>
        </p:sp>
      </p:grpSp>
      <p:grpSp>
        <p:nvGrpSpPr>
          <p:cNvPr id="26" name="Group 26"/>
          <p:cNvGrpSpPr/>
          <p:nvPr/>
        </p:nvGrpSpPr>
        <p:grpSpPr>
          <a:xfrm>
            <a:off x="5394960" y="2560320"/>
            <a:ext cx="3840480" cy="694944"/>
            <a:chOff x="0" y="0"/>
            <a:chExt cx="5120640" cy="926592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5120640" cy="926592"/>
            </a:xfrm>
            <a:custGeom>
              <a:avLst/>
              <a:gdLst/>
              <a:ahLst/>
              <a:cxnLst/>
              <a:rect l="l" t="t" r="r" b="b"/>
              <a:pathLst>
                <a:path w="5120640" h="926592">
                  <a:moveTo>
                    <a:pt x="0" y="0"/>
                  </a:moveTo>
                  <a:lnTo>
                    <a:pt x="5120640" y="0"/>
                  </a:lnTo>
                  <a:lnTo>
                    <a:pt x="51206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7680" b="-57680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-66675"/>
              <a:ext cx="5120640" cy="99326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959"/>
                </a:lnSpc>
              </a:pPr>
              <a:r>
                <a:rPr lang="en-US" sz="3299" b="1">
                  <a:solidFill>
                    <a:srgbClr val="C9A96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EMBEDDING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394960" y="3328416"/>
            <a:ext cx="3840480" cy="694944"/>
            <a:chOff x="0" y="0"/>
            <a:chExt cx="5120640" cy="926592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5120640" cy="926592"/>
            </a:xfrm>
            <a:custGeom>
              <a:avLst/>
              <a:gdLst/>
              <a:ahLst/>
              <a:cxnLst/>
              <a:rect l="l" t="t" r="r" b="b"/>
              <a:pathLst>
                <a:path w="5120640" h="926592">
                  <a:moveTo>
                    <a:pt x="0" y="0"/>
                  </a:moveTo>
                  <a:lnTo>
                    <a:pt x="5120640" y="0"/>
                  </a:lnTo>
                  <a:lnTo>
                    <a:pt x="51206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7680" b="-57680"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0" y="-66675"/>
              <a:ext cx="5120640" cy="99326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F5E6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5000 vocab / 64-dim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222743" y="3205991"/>
            <a:ext cx="848363" cy="135131"/>
            <a:chOff x="0" y="0"/>
            <a:chExt cx="1131151" cy="180175"/>
          </a:xfrm>
        </p:grpSpPr>
        <p:sp>
          <p:nvSpPr>
            <p:cNvPr id="33" name="Freeform 33"/>
            <p:cNvSpPr/>
            <p:nvPr/>
          </p:nvSpPr>
          <p:spPr>
            <a:xfrm>
              <a:off x="16891" y="16891"/>
              <a:ext cx="1097280" cy="146304"/>
            </a:xfrm>
            <a:custGeom>
              <a:avLst/>
              <a:gdLst/>
              <a:ahLst/>
              <a:cxnLst/>
              <a:rect l="l" t="t" r="r" b="b"/>
              <a:pathLst>
                <a:path w="1097280" h="146304">
                  <a:moveTo>
                    <a:pt x="0" y="0"/>
                  </a:moveTo>
                  <a:lnTo>
                    <a:pt x="1097280" y="0"/>
                  </a:lnTo>
                  <a:lnTo>
                    <a:pt x="109728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C9A96E"/>
            </a:solidFill>
          </p:spPr>
        </p:sp>
        <p:sp>
          <p:nvSpPr>
            <p:cNvPr id="34" name="Freeform 34"/>
            <p:cNvSpPr/>
            <p:nvPr/>
          </p:nvSpPr>
          <p:spPr>
            <a:xfrm>
              <a:off x="0" y="0"/>
              <a:ext cx="1131062" cy="180088"/>
            </a:xfrm>
            <a:custGeom>
              <a:avLst/>
              <a:gdLst/>
              <a:ahLst/>
              <a:cxnLst/>
              <a:rect l="l" t="t" r="r" b="b"/>
              <a:pathLst>
                <a:path w="1131062" h="180088">
                  <a:moveTo>
                    <a:pt x="16891" y="0"/>
                  </a:moveTo>
                  <a:lnTo>
                    <a:pt x="1114171" y="0"/>
                  </a:lnTo>
                  <a:cubicBezTo>
                    <a:pt x="1123569" y="0"/>
                    <a:pt x="1131062" y="7620"/>
                    <a:pt x="1131062" y="16891"/>
                  </a:cubicBezTo>
                  <a:lnTo>
                    <a:pt x="1131062" y="163195"/>
                  </a:lnTo>
                  <a:cubicBezTo>
                    <a:pt x="1131062" y="172593"/>
                    <a:pt x="1123442" y="180086"/>
                    <a:pt x="1114171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1114171" y="146304"/>
                  </a:lnTo>
                  <a:lnTo>
                    <a:pt x="1114171" y="163195"/>
                  </a:lnTo>
                  <a:lnTo>
                    <a:pt x="1097280" y="163195"/>
                  </a:lnTo>
                  <a:lnTo>
                    <a:pt x="1097280" y="16891"/>
                  </a:lnTo>
                  <a:lnTo>
                    <a:pt x="1114171" y="16891"/>
                  </a:lnTo>
                  <a:lnTo>
                    <a:pt x="1114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9A96E"/>
            </a:solidFill>
          </p:spPr>
        </p:sp>
      </p:grpSp>
      <p:grpSp>
        <p:nvGrpSpPr>
          <p:cNvPr id="35" name="Group 35"/>
          <p:cNvGrpSpPr/>
          <p:nvPr/>
        </p:nvGrpSpPr>
        <p:grpSpPr>
          <a:xfrm>
            <a:off x="10045703" y="2364743"/>
            <a:ext cx="3865883" cy="1854203"/>
            <a:chOff x="0" y="0"/>
            <a:chExt cx="5154511" cy="2472271"/>
          </a:xfrm>
        </p:grpSpPr>
        <p:sp>
          <p:nvSpPr>
            <p:cNvPr id="36" name="Freeform 36"/>
            <p:cNvSpPr/>
            <p:nvPr/>
          </p:nvSpPr>
          <p:spPr>
            <a:xfrm>
              <a:off x="16891" y="16891"/>
              <a:ext cx="5120640" cy="2438400"/>
            </a:xfrm>
            <a:custGeom>
              <a:avLst/>
              <a:gdLst/>
              <a:ahLst/>
              <a:cxnLst/>
              <a:rect l="l" t="t" r="r" b="b"/>
              <a:pathLst>
                <a:path w="5120640" h="2438400">
                  <a:moveTo>
                    <a:pt x="0" y="0"/>
                  </a:moveTo>
                  <a:lnTo>
                    <a:pt x="5120640" y="0"/>
                  </a:lnTo>
                  <a:lnTo>
                    <a:pt x="512064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7B1C2E"/>
            </a:solidFill>
          </p:spPr>
        </p:sp>
        <p:sp>
          <p:nvSpPr>
            <p:cNvPr id="37" name="Freeform 37"/>
            <p:cNvSpPr/>
            <p:nvPr/>
          </p:nvSpPr>
          <p:spPr>
            <a:xfrm>
              <a:off x="0" y="0"/>
              <a:ext cx="5154422" cy="2472182"/>
            </a:xfrm>
            <a:custGeom>
              <a:avLst/>
              <a:gdLst/>
              <a:ahLst/>
              <a:cxnLst/>
              <a:rect l="l" t="t" r="r" b="b"/>
              <a:pathLst>
                <a:path w="5154422" h="2472182">
                  <a:moveTo>
                    <a:pt x="16891" y="0"/>
                  </a:moveTo>
                  <a:lnTo>
                    <a:pt x="5137531" y="0"/>
                  </a:lnTo>
                  <a:cubicBezTo>
                    <a:pt x="5146929" y="0"/>
                    <a:pt x="5154422" y="7620"/>
                    <a:pt x="5154422" y="16891"/>
                  </a:cubicBezTo>
                  <a:lnTo>
                    <a:pt x="5154422" y="2455291"/>
                  </a:lnTo>
                  <a:cubicBezTo>
                    <a:pt x="5154422" y="2464689"/>
                    <a:pt x="5146802" y="2472182"/>
                    <a:pt x="5137531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5137531" y="2438400"/>
                  </a:lnTo>
                  <a:lnTo>
                    <a:pt x="5137531" y="2455291"/>
                  </a:lnTo>
                  <a:lnTo>
                    <a:pt x="5120640" y="2455291"/>
                  </a:lnTo>
                  <a:lnTo>
                    <a:pt x="5120640" y="16891"/>
                  </a:lnTo>
                  <a:lnTo>
                    <a:pt x="5137531" y="16891"/>
                  </a:lnTo>
                  <a:lnTo>
                    <a:pt x="5137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9A96E"/>
            </a:solidFill>
          </p:spPr>
        </p:sp>
      </p:grpSp>
      <p:grpSp>
        <p:nvGrpSpPr>
          <p:cNvPr id="38" name="Group 38"/>
          <p:cNvGrpSpPr/>
          <p:nvPr/>
        </p:nvGrpSpPr>
        <p:grpSpPr>
          <a:xfrm>
            <a:off x="10058400" y="2560320"/>
            <a:ext cx="3840480" cy="694944"/>
            <a:chOff x="0" y="0"/>
            <a:chExt cx="5120640" cy="926592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5120640" cy="926592"/>
            </a:xfrm>
            <a:custGeom>
              <a:avLst/>
              <a:gdLst/>
              <a:ahLst/>
              <a:cxnLst/>
              <a:rect l="l" t="t" r="r" b="b"/>
              <a:pathLst>
                <a:path w="5120640" h="926592">
                  <a:moveTo>
                    <a:pt x="0" y="0"/>
                  </a:moveTo>
                  <a:lnTo>
                    <a:pt x="5120640" y="0"/>
                  </a:lnTo>
                  <a:lnTo>
                    <a:pt x="51206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7680" b="-57680"/>
              </a:stretch>
            </a:blipFill>
          </p:spPr>
        </p:sp>
        <p:sp>
          <p:nvSpPr>
            <p:cNvPr id="40" name="TextBox 40"/>
            <p:cNvSpPr txBox="1"/>
            <p:nvPr/>
          </p:nvSpPr>
          <p:spPr>
            <a:xfrm>
              <a:off x="0" y="-66675"/>
              <a:ext cx="5120640" cy="99326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959"/>
                </a:lnSpc>
              </a:pPr>
              <a:r>
                <a:rPr lang="en-US" sz="3299" b="1">
                  <a:solidFill>
                    <a:srgbClr val="C9A96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LSTM LAYER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0058400" y="3328416"/>
            <a:ext cx="3840480" cy="694944"/>
            <a:chOff x="0" y="0"/>
            <a:chExt cx="5120640" cy="926592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5120640" cy="926592"/>
            </a:xfrm>
            <a:custGeom>
              <a:avLst/>
              <a:gdLst/>
              <a:ahLst/>
              <a:cxnLst/>
              <a:rect l="l" t="t" r="r" b="b"/>
              <a:pathLst>
                <a:path w="5120640" h="926592">
                  <a:moveTo>
                    <a:pt x="0" y="0"/>
                  </a:moveTo>
                  <a:lnTo>
                    <a:pt x="5120640" y="0"/>
                  </a:lnTo>
                  <a:lnTo>
                    <a:pt x="51206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7680" b="-57680"/>
              </a:stretch>
            </a:blipFill>
          </p:spPr>
        </p:sp>
        <p:sp>
          <p:nvSpPr>
            <p:cNvPr id="43" name="TextBox 43"/>
            <p:cNvSpPr txBox="1"/>
            <p:nvPr/>
          </p:nvSpPr>
          <p:spPr>
            <a:xfrm>
              <a:off x="0" y="-66675"/>
              <a:ext cx="5120640" cy="99326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F5E6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64 units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1911079" y="4193543"/>
            <a:ext cx="135131" cy="1214123"/>
            <a:chOff x="0" y="0"/>
            <a:chExt cx="180175" cy="1618831"/>
          </a:xfrm>
        </p:grpSpPr>
        <p:sp>
          <p:nvSpPr>
            <p:cNvPr id="45" name="Freeform 45"/>
            <p:cNvSpPr/>
            <p:nvPr/>
          </p:nvSpPr>
          <p:spPr>
            <a:xfrm>
              <a:off x="16891" y="16891"/>
              <a:ext cx="146304" cy="1584960"/>
            </a:xfrm>
            <a:custGeom>
              <a:avLst/>
              <a:gdLst/>
              <a:ahLst/>
              <a:cxnLst/>
              <a:rect l="l" t="t" r="r" b="b"/>
              <a:pathLst>
                <a:path w="146304" h="1584960">
                  <a:moveTo>
                    <a:pt x="0" y="0"/>
                  </a:moveTo>
                  <a:lnTo>
                    <a:pt x="146304" y="0"/>
                  </a:lnTo>
                  <a:lnTo>
                    <a:pt x="146304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C9A96E"/>
            </a:solidFill>
          </p:spPr>
        </p:sp>
        <p:sp>
          <p:nvSpPr>
            <p:cNvPr id="46" name="Freeform 46"/>
            <p:cNvSpPr/>
            <p:nvPr/>
          </p:nvSpPr>
          <p:spPr>
            <a:xfrm>
              <a:off x="0" y="0"/>
              <a:ext cx="180086" cy="1618742"/>
            </a:xfrm>
            <a:custGeom>
              <a:avLst/>
              <a:gdLst/>
              <a:ahLst/>
              <a:cxnLst/>
              <a:rect l="l" t="t" r="r" b="b"/>
              <a:pathLst>
                <a:path w="180086" h="1618742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601851"/>
                  </a:lnTo>
                  <a:cubicBezTo>
                    <a:pt x="180086" y="1611249"/>
                    <a:pt x="172466" y="1618742"/>
                    <a:pt x="163195" y="1618742"/>
                  </a:cubicBezTo>
                  <a:lnTo>
                    <a:pt x="16891" y="1618742"/>
                  </a:lnTo>
                  <a:cubicBezTo>
                    <a:pt x="7493" y="1618742"/>
                    <a:pt x="0" y="1611122"/>
                    <a:pt x="0" y="1601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01851"/>
                  </a:lnTo>
                  <a:lnTo>
                    <a:pt x="16891" y="1601851"/>
                  </a:lnTo>
                  <a:lnTo>
                    <a:pt x="16891" y="1584960"/>
                  </a:lnTo>
                  <a:lnTo>
                    <a:pt x="163195" y="1584960"/>
                  </a:lnTo>
                  <a:lnTo>
                    <a:pt x="163195" y="1601851"/>
                  </a:lnTo>
                  <a:lnTo>
                    <a:pt x="146304" y="160185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9A96E"/>
            </a:solidFill>
          </p:spPr>
        </p:sp>
      </p:grpSp>
      <p:grpSp>
        <p:nvGrpSpPr>
          <p:cNvPr id="47" name="Group 47"/>
          <p:cNvGrpSpPr/>
          <p:nvPr/>
        </p:nvGrpSpPr>
        <p:grpSpPr>
          <a:xfrm>
            <a:off x="4376423" y="5382263"/>
            <a:ext cx="9626603" cy="135131"/>
            <a:chOff x="0" y="0"/>
            <a:chExt cx="12835471" cy="180175"/>
          </a:xfrm>
        </p:grpSpPr>
        <p:sp>
          <p:nvSpPr>
            <p:cNvPr id="48" name="Freeform 48"/>
            <p:cNvSpPr/>
            <p:nvPr/>
          </p:nvSpPr>
          <p:spPr>
            <a:xfrm>
              <a:off x="16891" y="16891"/>
              <a:ext cx="12801600" cy="146304"/>
            </a:xfrm>
            <a:custGeom>
              <a:avLst/>
              <a:gdLst/>
              <a:ahLst/>
              <a:cxnLst/>
              <a:rect l="l" t="t" r="r" b="b"/>
              <a:pathLst>
                <a:path w="12801600" h="146304">
                  <a:moveTo>
                    <a:pt x="0" y="0"/>
                  </a:moveTo>
                  <a:lnTo>
                    <a:pt x="12801600" y="0"/>
                  </a:lnTo>
                  <a:lnTo>
                    <a:pt x="1280160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C9A96E"/>
            </a:solidFill>
          </p:spPr>
        </p:sp>
        <p:sp>
          <p:nvSpPr>
            <p:cNvPr id="49" name="Freeform 49"/>
            <p:cNvSpPr/>
            <p:nvPr/>
          </p:nvSpPr>
          <p:spPr>
            <a:xfrm>
              <a:off x="0" y="0"/>
              <a:ext cx="12835382" cy="180088"/>
            </a:xfrm>
            <a:custGeom>
              <a:avLst/>
              <a:gdLst/>
              <a:ahLst/>
              <a:cxnLst/>
              <a:rect l="l" t="t" r="r" b="b"/>
              <a:pathLst>
                <a:path w="12835382" h="180088">
                  <a:moveTo>
                    <a:pt x="16891" y="0"/>
                  </a:moveTo>
                  <a:lnTo>
                    <a:pt x="12818491" y="0"/>
                  </a:lnTo>
                  <a:cubicBezTo>
                    <a:pt x="12827889" y="0"/>
                    <a:pt x="12835382" y="7620"/>
                    <a:pt x="12835382" y="16891"/>
                  </a:cubicBezTo>
                  <a:lnTo>
                    <a:pt x="12835382" y="163195"/>
                  </a:lnTo>
                  <a:cubicBezTo>
                    <a:pt x="12835382" y="172593"/>
                    <a:pt x="12827762" y="180086"/>
                    <a:pt x="12818491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12818491" y="146304"/>
                  </a:lnTo>
                  <a:lnTo>
                    <a:pt x="12818491" y="163195"/>
                  </a:lnTo>
                  <a:lnTo>
                    <a:pt x="12801600" y="163195"/>
                  </a:lnTo>
                  <a:lnTo>
                    <a:pt x="12801600" y="16891"/>
                  </a:lnTo>
                  <a:lnTo>
                    <a:pt x="12818491" y="16891"/>
                  </a:lnTo>
                  <a:lnTo>
                    <a:pt x="128184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9A96E"/>
            </a:solidFill>
          </p:spPr>
        </p:sp>
      </p:grpSp>
      <p:grpSp>
        <p:nvGrpSpPr>
          <p:cNvPr id="50" name="Group 50"/>
          <p:cNvGrpSpPr/>
          <p:nvPr/>
        </p:nvGrpSpPr>
        <p:grpSpPr>
          <a:xfrm>
            <a:off x="4376423" y="5382263"/>
            <a:ext cx="135131" cy="665483"/>
            <a:chOff x="0" y="0"/>
            <a:chExt cx="180175" cy="887311"/>
          </a:xfrm>
        </p:grpSpPr>
        <p:sp>
          <p:nvSpPr>
            <p:cNvPr id="51" name="Freeform 51"/>
            <p:cNvSpPr/>
            <p:nvPr/>
          </p:nvSpPr>
          <p:spPr>
            <a:xfrm>
              <a:off x="16891" y="16891"/>
              <a:ext cx="146304" cy="853440"/>
            </a:xfrm>
            <a:custGeom>
              <a:avLst/>
              <a:gdLst/>
              <a:ahLst/>
              <a:cxnLst/>
              <a:rect l="l" t="t" r="r" b="b"/>
              <a:pathLst>
                <a:path w="146304" h="853440">
                  <a:moveTo>
                    <a:pt x="0" y="0"/>
                  </a:moveTo>
                  <a:lnTo>
                    <a:pt x="146304" y="0"/>
                  </a:lnTo>
                  <a:lnTo>
                    <a:pt x="146304" y="853440"/>
                  </a:lnTo>
                  <a:lnTo>
                    <a:pt x="0" y="853440"/>
                  </a:lnTo>
                  <a:close/>
                </a:path>
              </a:pathLst>
            </a:custGeom>
            <a:solidFill>
              <a:srgbClr val="C9A96E"/>
            </a:solidFill>
          </p:spPr>
        </p:sp>
        <p:sp>
          <p:nvSpPr>
            <p:cNvPr id="52" name="Freeform 52"/>
            <p:cNvSpPr/>
            <p:nvPr/>
          </p:nvSpPr>
          <p:spPr>
            <a:xfrm>
              <a:off x="0" y="0"/>
              <a:ext cx="180086" cy="887224"/>
            </a:xfrm>
            <a:custGeom>
              <a:avLst/>
              <a:gdLst/>
              <a:ahLst/>
              <a:cxnLst/>
              <a:rect l="l" t="t" r="r" b="b"/>
              <a:pathLst>
                <a:path w="180086" h="887224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870331"/>
                  </a:lnTo>
                  <a:cubicBezTo>
                    <a:pt x="180086" y="879729"/>
                    <a:pt x="172466" y="887222"/>
                    <a:pt x="163195" y="887222"/>
                  </a:cubicBezTo>
                  <a:lnTo>
                    <a:pt x="16891" y="887222"/>
                  </a:lnTo>
                  <a:cubicBezTo>
                    <a:pt x="7620" y="887349"/>
                    <a:pt x="0" y="879729"/>
                    <a:pt x="0" y="870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70331"/>
                  </a:lnTo>
                  <a:lnTo>
                    <a:pt x="16891" y="870331"/>
                  </a:lnTo>
                  <a:lnTo>
                    <a:pt x="16891" y="853440"/>
                  </a:lnTo>
                  <a:lnTo>
                    <a:pt x="163195" y="853440"/>
                  </a:lnTo>
                  <a:lnTo>
                    <a:pt x="163195" y="870331"/>
                  </a:lnTo>
                  <a:lnTo>
                    <a:pt x="146304" y="87033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9A96E"/>
            </a:solidFill>
          </p:spPr>
        </p:sp>
      </p:grpSp>
      <p:grpSp>
        <p:nvGrpSpPr>
          <p:cNvPr id="53" name="Group 53"/>
          <p:cNvGrpSpPr/>
          <p:nvPr/>
        </p:nvGrpSpPr>
        <p:grpSpPr>
          <a:xfrm>
            <a:off x="13977623" y="5382263"/>
            <a:ext cx="135131" cy="665483"/>
            <a:chOff x="0" y="0"/>
            <a:chExt cx="180175" cy="887311"/>
          </a:xfrm>
        </p:grpSpPr>
        <p:sp>
          <p:nvSpPr>
            <p:cNvPr id="54" name="Freeform 54"/>
            <p:cNvSpPr/>
            <p:nvPr/>
          </p:nvSpPr>
          <p:spPr>
            <a:xfrm>
              <a:off x="16891" y="16891"/>
              <a:ext cx="146304" cy="853440"/>
            </a:xfrm>
            <a:custGeom>
              <a:avLst/>
              <a:gdLst/>
              <a:ahLst/>
              <a:cxnLst/>
              <a:rect l="l" t="t" r="r" b="b"/>
              <a:pathLst>
                <a:path w="146304" h="853440">
                  <a:moveTo>
                    <a:pt x="0" y="0"/>
                  </a:moveTo>
                  <a:lnTo>
                    <a:pt x="146304" y="0"/>
                  </a:lnTo>
                  <a:lnTo>
                    <a:pt x="146304" y="853440"/>
                  </a:lnTo>
                  <a:lnTo>
                    <a:pt x="0" y="853440"/>
                  </a:lnTo>
                  <a:close/>
                </a:path>
              </a:pathLst>
            </a:custGeom>
            <a:solidFill>
              <a:srgbClr val="C9A96E"/>
            </a:solidFill>
          </p:spPr>
        </p:sp>
        <p:sp>
          <p:nvSpPr>
            <p:cNvPr id="55" name="Freeform 55"/>
            <p:cNvSpPr/>
            <p:nvPr/>
          </p:nvSpPr>
          <p:spPr>
            <a:xfrm>
              <a:off x="0" y="0"/>
              <a:ext cx="180086" cy="887224"/>
            </a:xfrm>
            <a:custGeom>
              <a:avLst/>
              <a:gdLst/>
              <a:ahLst/>
              <a:cxnLst/>
              <a:rect l="l" t="t" r="r" b="b"/>
              <a:pathLst>
                <a:path w="180086" h="887224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870331"/>
                  </a:lnTo>
                  <a:cubicBezTo>
                    <a:pt x="180086" y="879729"/>
                    <a:pt x="172466" y="887222"/>
                    <a:pt x="163195" y="887222"/>
                  </a:cubicBezTo>
                  <a:lnTo>
                    <a:pt x="16891" y="887222"/>
                  </a:lnTo>
                  <a:cubicBezTo>
                    <a:pt x="7620" y="887349"/>
                    <a:pt x="0" y="879729"/>
                    <a:pt x="0" y="870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70331"/>
                  </a:lnTo>
                  <a:lnTo>
                    <a:pt x="16891" y="870331"/>
                  </a:lnTo>
                  <a:lnTo>
                    <a:pt x="16891" y="853440"/>
                  </a:lnTo>
                  <a:lnTo>
                    <a:pt x="163195" y="853440"/>
                  </a:lnTo>
                  <a:lnTo>
                    <a:pt x="163195" y="870331"/>
                  </a:lnTo>
                  <a:lnTo>
                    <a:pt x="146304" y="87033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9A96E"/>
            </a:solidFill>
          </p:spPr>
        </p:sp>
      </p:grpSp>
      <p:grpSp>
        <p:nvGrpSpPr>
          <p:cNvPr id="56" name="Group 56"/>
          <p:cNvGrpSpPr/>
          <p:nvPr/>
        </p:nvGrpSpPr>
        <p:grpSpPr>
          <a:xfrm>
            <a:off x="1996440" y="6019800"/>
            <a:ext cx="4785360" cy="2133600"/>
            <a:chOff x="0" y="0"/>
            <a:chExt cx="6380480" cy="2844800"/>
          </a:xfrm>
        </p:grpSpPr>
        <p:sp>
          <p:nvSpPr>
            <p:cNvPr id="57" name="Freeform 57"/>
            <p:cNvSpPr/>
            <p:nvPr/>
          </p:nvSpPr>
          <p:spPr>
            <a:xfrm>
              <a:off x="20320" y="20320"/>
              <a:ext cx="6339840" cy="2804160"/>
            </a:xfrm>
            <a:custGeom>
              <a:avLst/>
              <a:gdLst/>
              <a:ahLst/>
              <a:cxnLst/>
              <a:rect l="l" t="t" r="r" b="b"/>
              <a:pathLst>
                <a:path w="6339840" h="2804160">
                  <a:moveTo>
                    <a:pt x="0" y="0"/>
                  </a:moveTo>
                  <a:lnTo>
                    <a:pt x="6339840" y="0"/>
                  </a:lnTo>
                  <a:lnTo>
                    <a:pt x="6339840" y="2804160"/>
                  </a:lnTo>
                  <a:lnTo>
                    <a:pt x="0" y="2804160"/>
                  </a:ln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58" name="Freeform 58"/>
            <p:cNvSpPr/>
            <p:nvPr/>
          </p:nvSpPr>
          <p:spPr>
            <a:xfrm>
              <a:off x="0" y="0"/>
              <a:ext cx="6380480" cy="2844800"/>
            </a:xfrm>
            <a:custGeom>
              <a:avLst/>
              <a:gdLst/>
              <a:ahLst/>
              <a:cxnLst/>
              <a:rect l="l" t="t" r="r" b="b"/>
              <a:pathLst>
                <a:path w="6380480" h="2844800">
                  <a:moveTo>
                    <a:pt x="20320" y="0"/>
                  </a:moveTo>
                  <a:lnTo>
                    <a:pt x="6360160" y="0"/>
                  </a:lnTo>
                  <a:cubicBezTo>
                    <a:pt x="6371336" y="0"/>
                    <a:pt x="6380480" y="9144"/>
                    <a:pt x="6380480" y="20320"/>
                  </a:cubicBezTo>
                  <a:lnTo>
                    <a:pt x="6380480" y="2824480"/>
                  </a:lnTo>
                  <a:cubicBezTo>
                    <a:pt x="6380480" y="2835656"/>
                    <a:pt x="6371336" y="2844800"/>
                    <a:pt x="6360160" y="2844800"/>
                  </a:cubicBezTo>
                  <a:lnTo>
                    <a:pt x="20320" y="2844800"/>
                  </a:lnTo>
                  <a:cubicBezTo>
                    <a:pt x="9144" y="2844800"/>
                    <a:pt x="0" y="2835656"/>
                    <a:pt x="0" y="2824480"/>
                  </a:cubicBezTo>
                  <a:lnTo>
                    <a:pt x="0" y="20320"/>
                  </a:lnTo>
                  <a:cubicBezTo>
                    <a:pt x="0" y="9144"/>
                    <a:pt x="9144" y="0"/>
                    <a:pt x="20320" y="0"/>
                  </a:cubicBezTo>
                  <a:moveTo>
                    <a:pt x="20320" y="40640"/>
                  </a:moveTo>
                  <a:lnTo>
                    <a:pt x="20320" y="20320"/>
                  </a:lnTo>
                  <a:lnTo>
                    <a:pt x="40640" y="20320"/>
                  </a:lnTo>
                  <a:lnTo>
                    <a:pt x="40640" y="2824480"/>
                  </a:lnTo>
                  <a:lnTo>
                    <a:pt x="20320" y="2824480"/>
                  </a:lnTo>
                  <a:lnTo>
                    <a:pt x="20320" y="2804160"/>
                  </a:lnTo>
                  <a:lnTo>
                    <a:pt x="6360160" y="2804160"/>
                  </a:lnTo>
                  <a:lnTo>
                    <a:pt x="6360160" y="2824480"/>
                  </a:lnTo>
                  <a:lnTo>
                    <a:pt x="6339840" y="2824480"/>
                  </a:lnTo>
                  <a:lnTo>
                    <a:pt x="6339840" y="20320"/>
                  </a:lnTo>
                  <a:lnTo>
                    <a:pt x="6360160" y="20320"/>
                  </a:lnTo>
                  <a:lnTo>
                    <a:pt x="6360160" y="40640"/>
                  </a:lnTo>
                  <a:lnTo>
                    <a:pt x="20320" y="40640"/>
                  </a:lnTo>
                  <a:close/>
                </a:path>
              </a:pathLst>
            </a:custGeom>
            <a:solidFill>
              <a:srgbClr val="7B1C2E"/>
            </a:solidFill>
          </p:spPr>
        </p:sp>
      </p:grpSp>
      <p:grpSp>
        <p:nvGrpSpPr>
          <p:cNvPr id="59" name="Group 59"/>
          <p:cNvGrpSpPr/>
          <p:nvPr/>
        </p:nvGrpSpPr>
        <p:grpSpPr>
          <a:xfrm>
            <a:off x="2011680" y="6181344"/>
            <a:ext cx="4754880" cy="681966"/>
            <a:chOff x="0" y="0"/>
            <a:chExt cx="6339840" cy="909289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6339840" cy="909289"/>
            </a:xfrm>
            <a:custGeom>
              <a:avLst/>
              <a:gdLst/>
              <a:ahLst/>
              <a:cxnLst/>
              <a:rect l="l" t="t" r="r" b="b"/>
              <a:pathLst>
                <a:path w="6339840" h="909289">
                  <a:moveTo>
                    <a:pt x="0" y="0"/>
                  </a:moveTo>
                  <a:lnTo>
                    <a:pt x="6339840" y="0"/>
                  </a:lnTo>
                  <a:lnTo>
                    <a:pt x="6339840" y="909289"/>
                  </a:lnTo>
                  <a:lnTo>
                    <a:pt x="0" y="90928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7585" b="-84125"/>
              </a:stretch>
            </a:blipFill>
          </p:spPr>
        </p:sp>
        <p:sp>
          <p:nvSpPr>
            <p:cNvPr id="61" name="TextBox 61"/>
            <p:cNvSpPr txBox="1"/>
            <p:nvPr/>
          </p:nvSpPr>
          <p:spPr>
            <a:xfrm>
              <a:off x="0" y="-66675"/>
              <a:ext cx="6339840" cy="9759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079"/>
                </a:lnSpc>
              </a:pPr>
              <a:r>
                <a:rPr lang="en-US" sz="3399" b="1">
                  <a:solidFill>
                    <a:srgbClr val="C9A96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TYPE OUTPUT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2011680" y="6894576"/>
            <a:ext cx="4754880" cy="1097280"/>
            <a:chOff x="0" y="0"/>
            <a:chExt cx="6339840" cy="1463040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6339840" cy="1463040"/>
            </a:xfrm>
            <a:custGeom>
              <a:avLst/>
              <a:gdLst/>
              <a:ahLst/>
              <a:cxnLst/>
              <a:rect l="l" t="t" r="r" b="b"/>
              <a:pathLst>
                <a:path w="6339840" h="1463040">
                  <a:moveTo>
                    <a:pt x="0" y="0"/>
                  </a:moveTo>
                  <a:lnTo>
                    <a:pt x="6339840" y="0"/>
                  </a:lnTo>
                  <a:lnTo>
                    <a:pt x="63398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4435" b="-34435"/>
              </a:stretch>
            </a:blipFill>
          </p:spPr>
        </p:sp>
        <p:sp>
          <p:nvSpPr>
            <p:cNvPr id="64" name="TextBox 64"/>
            <p:cNvSpPr txBox="1"/>
            <p:nvPr/>
          </p:nvSpPr>
          <p:spPr>
            <a:xfrm>
              <a:off x="0" y="-57150"/>
              <a:ext cx="6339840" cy="15201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599"/>
                </a:lnSpc>
              </a:pPr>
              <a:r>
                <a:rPr lang="en-US" sz="2999">
                  <a:solidFill>
                    <a:srgbClr val="B0B0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Dense(7, softmax)</a:t>
              </a:r>
            </a:p>
            <a:p>
              <a:pPr algn="ctr">
                <a:lnSpc>
                  <a:spcPts val="3599"/>
                </a:lnSpc>
              </a:pPr>
              <a:r>
                <a:rPr lang="en-US" sz="2999">
                  <a:solidFill>
                    <a:srgbClr val="B0B0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Manipulation Type Class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11597640" y="6019800"/>
            <a:ext cx="4785360" cy="2133600"/>
            <a:chOff x="0" y="0"/>
            <a:chExt cx="6380480" cy="2844800"/>
          </a:xfrm>
        </p:grpSpPr>
        <p:sp>
          <p:nvSpPr>
            <p:cNvPr id="66" name="Freeform 66"/>
            <p:cNvSpPr/>
            <p:nvPr/>
          </p:nvSpPr>
          <p:spPr>
            <a:xfrm>
              <a:off x="20320" y="20320"/>
              <a:ext cx="6339840" cy="2804160"/>
            </a:xfrm>
            <a:custGeom>
              <a:avLst/>
              <a:gdLst/>
              <a:ahLst/>
              <a:cxnLst/>
              <a:rect l="l" t="t" r="r" b="b"/>
              <a:pathLst>
                <a:path w="6339840" h="2804160">
                  <a:moveTo>
                    <a:pt x="0" y="0"/>
                  </a:moveTo>
                  <a:lnTo>
                    <a:pt x="6339840" y="0"/>
                  </a:lnTo>
                  <a:lnTo>
                    <a:pt x="6339840" y="2804160"/>
                  </a:lnTo>
                  <a:lnTo>
                    <a:pt x="0" y="2804160"/>
                  </a:ln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67" name="Freeform 67"/>
            <p:cNvSpPr/>
            <p:nvPr/>
          </p:nvSpPr>
          <p:spPr>
            <a:xfrm>
              <a:off x="0" y="0"/>
              <a:ext cx="6380480" cy="2844800"/>
            </a:xfrm>
            <a:custGeom>
              <a:avLst/>
              <a:gdLst/>
              <a:ahLst/>
              <a:cxnLst/>
              <a:rect l="l" t="t" r="r" b="b"/>
              <a:pathLst>
                <a:path w="6380480" h="2844800">
                  <a:moveTo>
                    <a:pt x="20320" y="0"/>
                  </a:moveTo>
                  <a:lnTo>
                    <a:pt x="6360160" y="0"/>
                  </a:lnTo>
                  <a:cubicBezTo>
                    <a:pt x="6371336" y="0"/>
                    <a:pt x="6380480" y="9144"/>
                    <a:pt x="6380480" y="20320"/>
                  </a:cubicBezTo>
                  <a:lnTo>
                    <a:pt x="6380480" y="2824480"/>
                  </a:lnTo>
                  <a:cubicBezTo>
                    <a:pt x="6380480" y="2835656"/>
                    <a:pt x="6371336" y="2844800"/>
                    <a:pt x="6360160" y="2844800"/>
                  </a:cubicBezTo>
                  <a:lnTo>
                    <a:pt x="20320" y="2844800"/>
                  </a:lnTo>
                  <a:cubicBezTo>
                    <a:pt x="9144" y="2844800"/>
                    <a:pt x="0" y="2835656"/>
                    <a:pt x="0" y="2824480"/>
                  </a:cubicBezTo>
                  <a:lnTo>
                    <a:pt x="0" y="20320"/>
                  </a:lnTo>
                  <a:cubicBezTo>
                    <a:pt x="0" y="9144"/>
                    <a:pt x="9144" y="0"/>
                    <a:pt x="20320" y="0"/>
                  </a:cubicBezTo>
                  <a:moveTo>
                    <a:pt x="20320" y="40640"/>
                  </a:moveTo>
                  <a:lnTo>
                    <a:pt x="20320" y="20320"/>
                  </a:lnTo>
                  <a:lnTo>
                    <a:pt x="40640" y="20320"/>
                  </a:lnTo>
                  <a:lnTo>
                    <a:pt x="40640" y="2824480"/>
                  </a:lnTo>
                  <a:lnTo>
                    <a:pt x="20320" y="2824480"/>
                  </a:lnTo>
                  <a:lnTo>
                    <a:pt x="20320" y="2804160"/>
                  </a:lnTo>
                  <a:lnTo>
                    <a:pt x="6360160" y="2804160"/>
                  </a:lnTo>
                  <a:lnTo>
                    <a:pt x="6360160" y="2824480"/>
                  </a:lnTo>
                  <a:lnTo>
                    <a:pt x="6339840" y="2824480"/>
                  </a:lnTo>
                  <a:lnTo>
                    <a:pt x="6339840" y="20320"/>
                  </a:lnTo>
                  <a:lnTo>
                    <a:pt x="6360160" y="20320"/>
                  </a:lnTo>
                  <a:lnTo>
                    <a:pt x="6360160" y="40640"/>
                  </a:lnTo>
                  <a:lnTo>
                    <a:pt x="20320" y="40640"/>
                  </a:lnTo>
                  <a:close/>
                </a:path>
              </a:pathLst>
            </a:custGeom>
            <a:solidFill>
              <a:srgbClr val="C9A96E"/>
            </a:solidFill>
          </p:spPr>
        </p:sp>
      </p:grpSp>
      <p:grpSp>
        <p:nvGrpSpPr>
          <p:cNvPr id="68" name="Group 68"/>
          <p:cNvGrpSpPr/>
          <p:nvPr/>
        </p:nvGrpSpPr>
        <p:grpSpPr>
          <a:xfrm>
            <a:off x="11612880" y="6181344"/>
            <a:ext cx="4754880" cy="681966"/>
            <a:chOff x="0" y="0"/>
            <a:chExt cx="6339840" cy="909289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6339840" cy="909289"/>
            </a:xfrm>
            <a:custGeom>
              <a:avLst/>
              <a:gdLst/>
              <a:ahLst/>
              <a:cxnLst/>
              <a:rect l="l" t="t" r="r" b="b"/>
              <a:pathLst>
                <a:path w="6339840" h="909289">
                  <a:moveTo>
                    <a:pt x="0" y="0"/>
                  </a:moveTo>
                  <a:lnTo>
                    <a:pt x="6339840" y="0"/>
                  </a:lnTo>
                  <a:lnTo>
                    <a:pt x="6339840" y="909289"/>
                  </a:lnTo>
                  <a:lnTo>
                    <a:pt x="0" y="90928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7585" b="-84125"/>
              </a:stretch>
            </a:blipFill>
          </p:spPr>
        </p:sp>
        <p:sp>
          <p:nvSpPr>
            <p:cNvPr id="70" name="TextBox 70"/>
            <p:cNvSpPr txBox="1"/>
            <p:nvPr/>
          </p:nvSpPr>
          <p:spPr>
            <a:xfrm>
              <a:off x="0" y="-66675"/>
              <a:ext cx="6339840" cy="9759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079"/>
                </a:lnSpc>
              </a:pPr>
              <a:r>
                <a:rPr lang="en-US" sz="3399" b="1">
                  <a:solidFill>
                    <a:srgbClr val="C9A96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BINARY OUTPUT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11612880" y="6894576"/>
            <a:ext cx="4754880" cy="1097280"/>
            <a:chOff x="0" y="0"/>
            <a:chExt cx="6339840" cy="1463040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6339840" cy="1463040"/>
            </a:xfrm>
            <a:custGeom>
              <a:avLst/>
              <a:gdLst/>
              <a:ahLst/>
              <a:cxnLst/>
              <a:rect l="l" t="t" r="r" b="b"/>
              <a:pathLst>
                <a:path w="6339840" h="1463040">
                  <a:moveTo>
                    <a:pt x="0" y="0"/>
                  </a:moveTo>
                  <a:lnTo>
                    <a:pt x="6339840" y="0"/>
                  </a:lnTo>
                  <a:lnTo>
                    <a:pt x="63398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4435" b="-34435"/>
              </a:stretch>
            </a:blipFill>
          </p:spPr>
        </p:sp>
        <p:sp>
          <p:nvSpPr>
            <p:cNvPr id="73" name="TextBox 73"/>
            <p:cNvSpPr txBox="1"/>
            <p:nvPr/>
          </p:nvSpPr>
          <p:spPr>
            <a:xfrm>
              <a:off x="0" y="-66675"/>
              <a:ext cx="6339840" cy="15297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719"/>
                </a:lnSpc>
              </a:pPr>
              <a:r>
                <a:rPr lang="en-US" sz="3099">
                  <a:solidFill>
                    <a:srgbClr val="B0B0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Dense(1, sigmoid)</a:t>
              </a:r>
            </a:p>
            <a:p>
              <a:pPr algn="ctr">
                <a:lnSpc>
                  <a:spcPts val="3719"/>
                </a:lnSpc>
              </a:pPr>
              <a:r>
                <a:rPr lang="en-US" sz="3099">
                  <a:solidFill>
                    <a:srgbClr val="B0B0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Manipulation: YES / NO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-12697" y="8658225"/>
            <a:ext cx="19213282" cy="1728408"/>
            <a:chOff x="0" y="0"/>
            <a:chExt cx="25617710" cy="2304544"/>
          </a:xfrm>
        </p:grpSpPr>
        <p:sp>
          <p:nvSpPr>
            <p:cNvPr id="75" name="Freeform 75"/>
            <p:cNvSpPr/>
            <p:nvPr/>
          </p:nvSpPr>
          <p:spPr>
            <a:xfrm>
              <a:off x="15333" y="17567"/>
              <a:ext cx="25587143" cy="2269526"/>
            </a:xfrm>
            <a:custGeom>
              <a:avLst/>
              <a:gdLst/>
              <a:ahLst/>
              <a:cxnLst/>
              <a:rect l="l" t="t" r="r" b="b"/>
              <a:pathLst>
                <a:path w="25587143" h="2269526">
                  <a:moveTo>
                    <a:pt x="0" y="0"/>
                  </a:moveTo>
                  <a:lnTo>
                    <a:pt x="25587143" y="0"/>
                  </a:lnTo>
                  <a:lnTo>
                    <a:pt x="25587143" y="2269526"/>
                  </a:lnTo>
                  <a:lnTo>
                    <a:pt x="0" y="2269526"/>
                  </a:lnTo>
                  <a:close/>
                </a:path>
              </a:pathLst>
            </a:custGeom>
            <a:solidFill>
              <a:srgbClr val="5A0D1E"/>
            </a:solidFill>
          </p:spPr>
        </p:sp>
        <p:sp>
          <p:nvSpPr>
            <p:cNvPr id="76" name="Freeform 76"/>
            <p:cNvSpPr/>
            <p:nvPr/>
          </p:nvSpPr>
          <p:spPr>
            <a:xfrm>
              <a:off x="0" y="0"/>
              <a:ext cx="25617799" cy="2304633"/>
            </a:xfrm>
            <a:custGeom>
              <a:avLst/>
              <a:gdLst/>
              <a:ahLst/>
              <a:cxnLst/>
              <a:rect l="l" t="t" r="r" b="b"/>
              <a:pathLst>
                <a:path w="25617799" h="2304633">
                  <a:moveTo>
                    <a:pt x="15333" y="0"/>
                  </a:moveTo>
                  <a:lnTo>
                    <a:pt x="25602476" y="0"/>
                  </a:lnTo>
                  <a:cubicBezTo>
                    <a:pt x="25610931" y="0"/>
                    <a:pt x="25617799" y="7880"/>
                    <a:pt x="25617799" y="17567"/>
                  </a:cubicBezTo>
                  <a:lnTo>
                    <a:pt x="25617799" y="2287093"/>
                  </a:lnTo>
                  <a:cubicBezTo>
                    <a:pt x="25617799" y="2296779"/>
                    <a:pt x="25610931" y="2304633"/>
                    <a:pt x="25602476" y="2304633"/>
                  </a:cubicBezTo>
                  <a:lnTo>
                    <a:pt x="15333" y="2304633"/>
                  </a:lnTo>
                  <a:cubicBezTo>
                    <a:pt x="6878" y="2304633"/>
                    <a:pt x="0" y="2296779"/>
                    <a:pt x="0" y="2287093"/>
                  </a:cubicBezTo>
                  <a:lnTo>
                    <a:pt x="0" y="17567"/>
                  </a:lnTo>
                  <a:cubicBezTo>
                    <a:pt x="0" y="7880"/>
                    <a:pt x="6878" y="0"/>
                    <a:pt x="15333" y="0"/>
                  </a:cubicBezTo>
                  <a:moveTo>
                    <a:pt x="15333" y="34969"/>
                  </a:moveTo>
                  <a:lnTo>
                    <a:pt x="15333" y="17567"/>
                  </a:lnTo>
                  <a:lnTo>
                    <a:pt x="30522" y="17567"/>
                  </a:lnTo>
                  <a:lnTo>
                    <a:pt x="30522" y="2287093"/>
                  </a:lnTo>
                  <a:lnTo>
                    <a:pt x="15333" y="2287093"/>
                  </a:lnTo>
                  <a:lnTo>
                    <a:pt x="15333" y="2269526"/>
                  </a:lnTo>
                  <a:lnTo>
                    <a:pt x="25602476" y="2269526"/>
                  </a:lnTo>
                  <a:lnTo>
                    <a:pt x="25602476" y="2287093"/>
                  </a:lnTo>
                  <a:lnTo>
                    <a:pt x="25587144" y="2287093"/>
                  </a:lnTo>
                  <a:lnTo>
                    <a:pt x="25587144" y="17567"/>
                  </a:lnTo>
                  <a:lnTo>
                    <a:pt x="25602476" y="17567"/>
                  </a:lnTo>
                  <a:lnTo>
                    <a:pt x="25602476" y="34969"/>
                  </a:lnTo>
                  <a:lnTo>
                    <a:pt x="15333" y="34969"/>
                  </a:lnTo>
                  <a:close/>
                </a:path>
              </a:pathLst>
            </a:custGeom>
            <a:solidFill>
              <a:srgbClr val="C9A96E"/>
            </a:solidFill>
          </p:spPr>
        </p:sp>
      </p:grpSp>
      <p:grpSp>
        <p:nvGrpSpPr>
          <p:cNvPr id="77" name="Group 77"/>
          <p:cNvGrpSpPr/>
          <p:nvPr/>
        </p:nvGrpSpPr>
        <p:grpSpPr>
          <a:xfrm>
            <a:off x="640080" y="8924925"/>
            <a:ext cx="17007840" cy="1097280"/>
            <a:chOff x="0" y="0"/>
            <a:chExt cx="22677120" cy="1463040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22677120" cy="1463040"/>
            </a:xfrm>
            <a:custGeom>
              <a:avLst/>
              <a:gdLst/>
              <a:ahLst/>
              <a:cxnLst/>
              <a:rect l="l" t="t" r="r" b="b"/>
              <a:pathLst>
                <a:path w="22677120" h="1463040">
                  <a:moveTo>
                    <a:pt x="0" y="0"/>
                  </a:moveTo>
                  <a:lnTo>
                    <a:pt x="22677120" y="0"/>
                  </a:lnTo>
                  <a:lnTo>
                    <a:pt x="226771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2018" b="-252018"/>
              </a:stretch>
            </a:blipFill>
          </p:spPr>
        </p:sp>
        <p:sp>
          <p:nvSpPr>
            <p:cNvPr id="79" name="TextBox 79"/>
            <p:cNvSpPr txBox="1"/>
            <p:nvPr/>
          </p:nvSpPr>
          <p:spPr>
            <a:xfrm>
              <a:off x="0" y="-47625"/>
              <a:ext cx="22677120" cy="15106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59"/>
                </a:lnSpc>
              </a:pPr>
              <a:r>
                <a:rPr lang="en-US" sz="2299">
                  <a:solidFill>
                    <a:srgbClr val="F5E6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Optimizer: Adam   |   Loss: binary_crossentropy + sparse_categorical_crossentropy   |   Metrics: Accuracy   |   Epochs: 3   |   Batch: 32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18313403" cy="1854203"/>
            <a:chOff x="0" y="0"/>
            <a:chExt cx="24417871" cy="2472271"/>
          </a:xfrm>
        </p:grpSpPr>
        <p:sp>
          <p:nvSpPr>
            <p:cNvPr id="3" name="Freeform 3"/>
            <p:cNvSpPr/>
            <p:nvPr/>
          </p:nvSpPr>
          <p:spPr>
            <a:xfrm>
              <a:off x="16891" y="16891"/>
              <a:ext cx="24383999" cy="2438400"/>
            </a:xfrm>
            <a:custGeom>
              <a:avLst/>
              <a:gdLst/>
              <a:ahLst/>
              <a:cxnLst/>
              <a:rect l="l" t="t" r="r" b="b"/>
              <a:pathLst>
                <a:path w="24383999" h="2438400">
                  <a:moveTo>
                    <a:pt x="0" y="0"/>
                  </a:moveTo>
                  <a:lnTo>
                    <a:pt x="24383999" y="0"/>
                  </a:lnTo>
                  <a:lnTo>
                    <a:pt x="24383999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5A0D1E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24417782" cy="2472182"/>
            </a:xfrm>
            <a:custGeom>
              <a:avLst/>
              <a:gdLst/>
              <a:ahLst/>
              <a:cxnLst/>
              <a:rect l="l" t="t" r="r" b="b"/>
              <a:pathLst>
                <a:path w="24417782" h="24721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455291"/>
                  </a:lnTo>
                  <a:cubicBezTo>
                    <a:pt x="24417782" y="2464689"/>
                    <a:pt x="24410163" y="2472182"/>
                    <a:pt x="24400890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24400890" y="2438400"/>
                  </a:lnTo>
                  <a:lnTo>
                    <a:pt x="24400890" y="2455291"/>
                  </a:lnTo>
                  <a:lnTo>
                    <a:pt x="24384000" y="245529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5A0D1E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731520" y="146304"/>
            <a:ext cx="16459200" cy="1097280"/>
            <a:chOff x="0" y="0"/>
            <a:chExt cx="21945600" cy="146304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945600" cy="1463040"/>
            </a:xfrm>
            <a:custGeom>
              <a:avLst/>
              <a:gdLst/>
              <a:ahLst/>
              <a:cxnLst/>
              <a:rect l="l" t="t" r="r" b="b"/>
              <a:pathLst>
                <a:path w="21945600" h="146304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2275" b="-242275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21945600" cy="14725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240"/>
                </a:lnSpc>
              </a:pPr>
              <a:r>
                <a:rPr lang="en-US" sz="5200" b="1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Model Training &amp; Evaluation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6093440" y="146304"/>
            <a:ext cx="1463040" cy="1097280"/>
            <a:chOff x="0" y="0"/>
            <a:chExt cx="1950720" cy="14630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950720" cy="1463040"/>
            </a:xfrm>
            <a:custGeom>
              <a:avLst/>
              <a:gdLst/>
              <a:ahLst/>
              <a:cxnLst/>
              <a:rect l="l" t="t" r="r" b="b"/>
              <a:pathLst>
                <a:path w="1950720" h="1463040">
                  <a:moveTo>
                    <a:pt x="0" y="0"/>
                  </a:moveTo>
                  <a:lnTo>
                    <a:pt x="1950720" y="0"/>
                  </a:lnTo>
                  <a:lnTo>
                    <a:pt x="19507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r="-46227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1950720" cy="14820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4800"/>
                </a:lnSpc>
              </a:pPr>
              <a:r>
                <a:rPr lang="en-US" sz="4000" b="1">
                  <a:solidFill>
                    <a:srgbClr val="C9A96E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07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40080" y="2048256"/>
            <a:ext cx="8046720" cy="694944"/>
            <a:chOff x="0" y="0"/>
            <a:chExt cx="10728960" cy="92659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728960" cy="926592"/>
            </a:xfrm>
            <a:custGeom>
              <a:avLst/>
              <a:gdLst/>
              <a:ahLst/>
              <a:cxnLst/>
              <a:rect l="l" t="t" r="r" b="b"/>
              <a:pathLst>
                <a:path w="10728960" h="926592">
                  <a:moveTo>
                    <a:pt x="0" y="0"/>
                  </a:moveTo>
                  <a:lnTo>
                    <a:pt x="10728960" y="0"/>
                  </a:lnTo>
                  <a:lnTo>
                    <a:pt x="107289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5616" b="-175616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10728960" cy="9837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99"/>
                </a:lnSpc>
              </a:pPr>
              <a:r>
                <a:rPr lang="en-US" sz="2999" b="1">
                  <a:solidFill>
                    <a:srgbClr val="C9A96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Training Configuration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27383" y="2913383"/>
            <a:ext cx="8072123" cy="756923"/>
            <a:chOff x="0" y="0"/>
            <a:chExt cx="10762831" cy="1009231"/>
          </a:xfrm>
        </p:grpSpPr>
        <p:sp>
          <p:nvSpPr>
            <p:cNvPr id="15" name="Freeform 15"/>
            <p:cNvSpPr/>
            <p:nvPr/>
          </p:nvSpPr>
          <p:spPr>
            <a:xfrm>
              <a:off x="16891" y="16891"/>
              <a:ext cx="10728960" cy="975360"/>
            </a:xfrm>
            <a:custGeom>
              <a:avLst/>
              <a:gdLst/>
              <a:ahLst/>
              <a:cxnLst/>
              <a:rect l="l" t="t" r="r" b="b"/>
              <a:pathLst>
                <a:path w="10728960" h="975360">
                  <a:moveTo>
                    <a:pt x="0" y="0"/>
                  </a:moveTo>
                  <a:lnTo>
                    <a:pt x="10728960" y="0"/>
                  </a:lnTo>
                  <a:lnTo>
                    <a:pt x="10728960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0" y="0"/>
              <a:ext cx="10762742" cy="1009144"/>
            </a:xfrm>
            <a:custGeom>
              <a:avLst/>
              <a:gdLst/>
              <a:ahLst/>
              <a:cxnLst/>
              <a:rect l="l" t="t" r="r" b="b"/>
              <a:pathLst>
                <a:path w="10762742" h="1009144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7620"/>
                    <a:pt x="10762742" y="16891"/>
                  </a:cubicBezTo>
                  <a:lnTo>
                    <a:pt x="10762742" y="992251"/>
                  </a:lnTo>
                  <a:cubicBezTo>
                    <a:pt x="10762742" y="1001649"/>
                    <a:pt x="10755122" y="1009142"/>
                    <a:pt x="10745851" y="1009142"/>
                  </a:cubicBezTo>
                  <a:lnTo>
                    <a:pt x="16891" y="1009142"/>
                  </a:lnTo>
                  <a:cubicBezTo>
                    <a:pt x="7620" y="1009269"/>
                    <a:pt x="0" y="1001649"/>
                    <a:pt x="0" y="9922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92251"/>
                  </a:lnTo>
                  <a:lnTo>
                    <a:pt x="16891" y="992251"/>
                  </a:lnTo>
                  <a:lnTo>
                    <a:pt x="16891" y="975360"/>
                  </a:lnTo>
                  <a:lnTo>
                    <a:pt x="10745851" y="975360"/>
                  </a:lnTo>
                  <a:lnTo>
                    <a:pt x="10745851" y="992251"/>
                  </a:lnTo>
                  <a:lnTo>
                    <a:pt x="10728960" y="992251"/>
                  </a:lnTo>
                  <a:lnTo>
                    <a:pt x="10728960" y="16891"/>
                  </a:lnTo>
                  <a:lnTo>
                    <a:pt x="10745851" y="16891"/>
                  </a:lnTo>
                  <a:lnTo>
                    <a:pt x="10745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1A1A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822960" y="3017520"/>
            <a:ext cx="3474720" cy="619552"/>
            <a:chOff x="0" y="0"/>
            <a:chExt cx="4632960" cy="82606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632960" cy="826069"/>
            </a:xfrm>
            <a:custGeom>
              <a:avLst/>
              <a:gdLst/>
              <a:ahLst/>
              <a:cxnLst/>
              <a:rect l="l" t="t" r="r" b="b"/>
              <a:pathLst>
                <a:path w="4632960" h="826069">
                  <a:moveTo>
                    <a:pt x="0" y="0"/>
                  </a:moveTo>
                  <a:lnTo>
                    <a:pt x="4632960" y="0"/>
                  </a:lnTo>
                  <a:lnTo>
                    <a:pt x="4632960" y="826069"/>
                  </a:lnTo>
                  <a:lnTo>
                    <a:pt x="0" y="826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2051" b="-56509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66675"/>
              <a:ext cx="4632960" cy="89274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719"/>
                </a:lnSpc>
              </a:pPr>
              <a:r>
                <a:rPr lang="en-US" sz="3099">
                  <a:solidFill>
                    <a:srgbClr val="B0B0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Train Size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4389120" y="3017520"/>
            <a:ext cx="4206240" cy="585216"/>
            <a:chOff x="0" y="0"/>
            <a:chExt cx="5608320" cy="78028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5608320" cy="780288"/>
            </a:xfrm>
            <a:custGeom>
              <a:avLst/>
              <a:gdLst/>
              <a:ahLst/>
              <a:cxnLst/>
              <a:rect l="l" t="t" r="r" b="b"/>
              <a:pathLst>
                <a:path w="5608320" h="780288">
                  <a:moveTo>
                    <a:pt x="0" y="0"/>
                  </a:moveTo>
                  <a:lnTo>
                    <a:pt x="5608320" y="0"/>
                  </a:lnTo>
                  <a:lnTo>
                    <a:pt x="56083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0048" b="-90048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-57150"/>
              <a:ext cx="5608320" cy="8374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19"/>
                </a:lnSpc>
              </a:pPr>
              <a:r>
                <a:rPr lang="en-US" sz="25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8,000 (80%)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27383" y="3754631"/>
            <a:ext cx="8072123" cy="756923"/>
            <a:chOff x="0" y="0"/>
            <a:chExt cx="10762831" cy="1009231"/>
          </a:xfrm>
        </p:grpSpPr>
        <p:sp>
          <p:nvSpPr>
            <p:cNvPr id="24" name="Freeform 24"/>
            <p:cNvSpPr/>
            <p:nvPr/>
          </p:nvSpPr>
          <p:spPr>
            <a:xfrm>
              <a:off x="16891" y="16891"/>
              <a:ext cx="10728960" cy="975360"/>
            </a:xfrm>
            <a:custGeom>
              <a:avLst/>
              <a:gdLst/>
              <a:ahLst/>
              <a:cxnLst/>
              <a:rect l="l" t="t" r="r" b="b"/>
              <a:pathLst>
                <a:path w="10728960" h="975360">
                  <a:moveTo>
                    <a:pt x="0" y="0"/>
                  </a:moveTo>
                  <a:lnTo>
                    <a:pt x="10728960" y="0"/>
                  </a:lnTo>
                  <a:lnTo>
                    <a:pt x="10728960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25" name="Freeform 25"/>
            <p:cNvSpPr/>
            <p:nvPr/>
          </p:nvSpPr>
          <p:spPr>
            <a:xfrm>
              <a:off x="0" y="0"/>
              <a:ext cx="10762742" cy="1009144"/>
            </a:xfrm>
            <a:custGeom>
              <a:avLst/>
              <a:gdLst/>
              <a:ahLst/>
              <a:cxnLst/>
              <a:rect l="l" t="t" r="r" b="b"/>
              <a:pathLst>
                <a:path w="10762742" h="1009144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7620"/>
                    <a:pt x="10762742" y="16891"/>
                  </a:cubicBezTo>
                  <a:lnTo>
                    <a:pt x="10762742" y="992251"/>
                  </a:lnTo>
                  <a:cubicBezTo>
                    <a:pt x="10762742" y="1001649"/>
                    <a:pt x="10755122" y="1009142"/>
                    <a:pt x="10745851" y="1009142"/>
                  </a:cubicBezTo>
                  <a:lnTo>
                    <a:pt x="16891" y="1009142"/>
                  </a:lnTo>
                  <a:cubicBezTo>
                    <a:pt x="7620" y="1009269"/>
                    <a:pt x="0" y="1001649"/>
                    <a:pt x="0" y="9922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92251"/>
                  </a:lnTo>
                  <a:lnTo>
                    <a:pt x="16891" y="992251"/>
                  </a:lnTo>
                  <a:lnTo>
                    <a:pt x="16891" y="975360"/>
                  </a:lnTo>
                  <a:lnTo>
                    <a:pt x="10745851" y="975360"/>
                  </a:lnTo>
                  <a:lnTo>
                    <a:pt x="10745851" y="992251"/>
                  </a:lnTo>
                  <a:lnTo>
                    <a:pt x="10728960" y="992251"/>
                  </a:lnTo>
                  <a:lnTo>
                    <a:pt x="10728960" y="16891"/>
                  </a:lnTo>
                  <a:lnTo>
                    <a:pt x="10745851" y="16891"/>
                  </a:lnTo>
                  <a:lnTo>
                    <a:pt x="10745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1A1A"/>
            </a:solidFill>
          </p:spPr>
        </p:sp>
      </p:grpSp>
      <p:grpSp>
        <p:nvGrpSpPr>
          <p:cNvPr id="26" name="Group 26"/>
          <p:cNvGrpSpPr/>
          <p:nvPr/>
        </p:nvGrpSpPr>
        <p:grpSpPr>
          <a:xfrm>
            <a:off x="822960" y="3858768"/>
            <a:ext cx="3474720" cy="619552"/>
            <a:chOff x="0" y="0"/>
            <a:chExt cx="4632960" cy="82606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4632960" cy="826069"/>
            </a:xfrm>
            <a:custGeom>
              <a:avLst/>
              <a:gdLst/>
              <a:ahLst/>
              <a:cxnLst/>
              <a:rect l="l" t="t" r="r" b="b"/>
              <a:pathLst>
                <a:path w="4632960" h="826069">
                  <a:moveTo>
                    <a:pt x="0" y="0"/>
                  </a:moveTo>
                  <a:lnTo>
                    <a:pt x="4632960" y="0"/>
                  </a:lnTo>
                  <a:lnTo>
                    <a:pt x="4632960" y="826069"/>
                  </a:lnTo>
                  <a:lnTo>
                    <a:pt x="0" y="826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2051" b="-56509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-66675"/>
              <a:ext cx="4632960" cy="89274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719"/>
                </a:lnSpc>
              </a:pPr>
              <a:r>
                <a:rPr lang="en-US" sz="3099">
                  <a:solidFill>
                    <a:srgbClr val="B0B0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Test Size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4389120" y="3858768"/>
            <a:ext cx="4206240" cy="585216"/>
            <a:chOff x="0" y="0"/>
            <a:chExt cx="5608320" cy="780288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5608320" cy="780288"/>
            </a:xfrm>
            <a:custGeom>
              <a:avLst/>
              <a:gdLst/>
              <a:ahLst/>
              <a:cxnLst/>
              <a:rect l="l" t="t" r="r" b="b"/>
              <a:pathLst>
                <a:path w="5608320" h="780288">
                  <a:moveTo>
                    <a:pt x="0" y="0"/>
                  </a:moveTo>
                  <a:lnTo>
                    <a:pt x="5608320" y="0"/>
                  </a:lnTo>
                  <a:lnTo>
                    <a:pt x="56083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0048" b="-90048"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0" y="-57150"/>
              <a:ext cx="5608320" cy="8374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19"/>
                </a:lnSpc>
              </a:pPr>
              <a:r>
                <a:rPr lang="en-US" sz="25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2,000 (20%)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27383" y="4595879"/>
            <a:ext cx="8072123" cy="756923"/>
            <a:chOff x="0" y="0"/>
            <a:chExt cx="10762831" cy="1009231"/>
          </a:xfrm>
        </p:grpSpPr>
        <p:sp>
          <p:nvSpPr>
            <p:cNvPr id="33" name="Freeform 33"/>
            <p:cNvSpPr/>
            <p:nvPr/>
          </p:nvSpPr>
          <p:spPr>
            <a:xfrm>
              <a:off x="16891" y="16891"/>
              <a:ext cx="10728960" cy="975360"/>
            </a:xfrm>
            <a:custGeom>
              <a:avLst/>
              <a:gdLst/>
              <a:ahLst/>
              <a:cxnLst/>
              <a:rect l="l" t="t" r="r" b="b"/>
              <a:pathLst>
                <a:path w="10728960" h="975360">
                  <a:moveTo>
                    <a:pt x="0" y="0"/>
                  </a:moveTo>
                  <a:lnTo>
                    <a:pt x="10728960" y="0"/>
                  </a:lnTo>
                  <a:lnTo>
                    <a:pt x="10728960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id="34" name="Freeform 34"/>
            <p:cNvSpPr/>
            <p:nvPr/>
          </p:nvSpPr>
          <p:spPr>
            <a:xfrm>
              <a:off x="0" y="0"/>
              <a:ext cx="10762742" cy="1009144"/>
            </a:xfrm>
            <a:custGeom>
              <a:avLst/>
              <a:gdLst/>
              <a:ahLst/>
              <a:cxnLst/>
              <a:rect l="l" t="t" r="r" b="b"/>
              <a:pathLst>
                <a:path w="10762742" h="1009144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7620"/>
                    <a:pt x="10762742" y="16891"/>
                  </a:cubicBezTo>
                  <a:lnTo>
                    <a:pt x="10762742" y="992251"/>
                  </a:lnTo>
                  <a:cubicBezTo>
                    <a:pt x="10762742" y="1001649"/>
                    <a:pt x="10755122" y="1009142"/>
                    <a:pt x="10745851" y="1009142"/>
                  </a:cubicBezTo>
                  <a:lnTo>
                    <a:pt x="16891" y="1009142"/>
                  </a:lnTo>
                  <a:cubicBezTo>
                    <a:pt x="7620" y="1009269"/>
                    <a:pt x="0" y="1001649"/>
                    <a:pt x="0" y="9922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92251"/>
                  </a:lnTo>
                  <a:lnTo>
                    <a:pt x="16891" y="992251"/>
                  </a:lnTo>
                  <a:lnTo>
                    <a:pt x="16891" y="975360"/>
                  </a:lnTo>
                  <a:lnTo>
                    <a:pt x="10745851" y="975360"/>
                  </a:lnTo>
                  <a:lnTo>
                    <a:pt x="10745851" y="992251"/>
                  </a:lnTo>
                  <a:lnTo>
                    <a:pt x="10728960" y="992251"/>
                  </a:lnTo>
                  <a:lnTo>
                    <a:pt x="10728960" y="16891"/>
                  </a:lnTo>
                  <a:lnTo>
                    <a:pt x="10745851" y="16891"/>
                  </a:lnTo>
                  <a:lnTo>
                    <a:pt x="10745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1A1A"/>
            </a:solidFill>
          </p:spPr>
        </p:sp>
      </p:grpSp>
      <p:grpSp>
        <p:nvGrpSpPr>
          <p:cNvPr id="35" name="Group 35"/>
          <p:cNvGrpSpPr/>
          <p:nvPr/>
        </p:nvGrpSpPr>
        <p:grpSpPr>
          <a:xfrm>
            <a:off x="822960" y="4700016"/>
            <a:ext cx="3474720" cy="619552"/>
            <a:chOff x="0" y="0"/>
            <a:chExt cx="4632960" cy="826069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4632960" cy="826069"/>
            </a:xfrm>
            <a:custGeom>
              <a:avLst/>
              <a:gdLst/>
              <a:ahLst/>
              <a:cxnLst/>
              <a:rect l="l" t="t" r="r" b="b"/>
              <a:pathLst>
                <a:path w="4632960" h="826069">
                  <a:moveTo>
                    <a:pt x="0" y="0"/>
                  </a:moveTo>
                  <a:lnTo>
                    <a:pt x="4632960" y="0"/>
                  </a:lnTo>
                  <a:lnTo>
                    <a:pt x="4632960" y="826069"/>
                  </a:lnTo>
                  <a:lnTo>
                    <a:pt x="0" y="826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2051" b="-56509"/>
              </a:stretch>
            </a:blipFill>
          </p:spPr>
        </p:sp>
        <p:sp>
          <p:nvSpPr>
            <p:cNvPr id="37" name="TextBox 37"/>
            <p:cNvSpPr txBox="1"/>
            <p:nvPr/>
          </p:nvSpPr>
          <p:spPr>
            <a:xfrm>
              <a:off x="0" y="-66675"/>
              <a:ext cx="4632960" cy="89274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719"/>
                </a:lnSpc>
              </a:pPr>
              <a:r>
                <a:rPr lang="en-US" sz="3099">
                  <a:solidFill>
                    <a:srgbClr val="B0B0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Stratified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4389120" y="4700016"/>
            <a:ext cx="4206240" cy="585216"/>
            <a:chOff x="0" y="0"/>
            <a:chExt cx="5608320" cy="780288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5608320" cy="780288"/>
            </a:xfrm>
            <a:custGeom>
              <a:avLst/>
              <a:gdLst/>
              <a:ahLst/>
              <a:cxnLst/>
              <a:rect l="l" t="t" r="r" b="b"/>
              <a:pathLst>
                <a:path w="5608320" h="780288">
                  <a:moveTo>
                    <a:pt x="0" y="0"/>
                  </a:moveTo>
                  <a:lnTo>
                    <a:pt x="5608320" y="0"/>
                  </a:lnTo>
                  <a:lnTo>
                    <a:pt x="56083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0048" b="-90048"/>
              </a:stretch>
            </a:blipFill>
          </p:spPr>
        </p:sp>
        <p:sp>
          <p:nvSpPr>
            <p:cNvPr id="40" name="TextBox 40"/>
            <p:cNvSpPr txBox="1"/>
            <p:nvPr/>
          </p:nvSpPr>
          <p:spPr>
            <a:xfrm>
              <a:off x="0" y="-57150"/>
              <a:ext cx="5608320" cy="8374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19"/>
                </a:lnSpc>
              </a:pPr>
              <a:r>
                <a:rPr lang="en-US" sz="25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Yes (by is_manipulation)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27383" y="5437127"/>
            <a:ext cx="8072123" cy="756923"/>
            <a:chOff x="0" y="0"/>
            <a:chExt cx="10762831" cy="1009231"/>
          </a:xfrm>
        </p:grpSpPr>
        <p:sp>
          <p:nvSpPr>
            <p:cNvPr id="42" name="Freeform 42"/>
            <p:cNvSpPr/>
            <p:nvPr/>
          </p:nvSpPr>
          <p:spPr>
            <a:xfrm>
              <a:off x="16891" y="16891"/>
              <a:ext cx="10728960" cy="975360"/>
            </a:xfrm>
            <a:custGeom>
              <a:avLst/>
              <a:gdLst/>
              <a:ahLst/>
              <a:cxnLst/>
              <a:rect l="l" t="t" r="r" b="b"/>
              <a:pathLst>
                <a:path w="10728960" h="975360">
                  <a:moveTo>
                    <a:pt x="0" y="0"/>
                  </a:moveTo>
                  <a:lnTo>
                    <a:pt x="10728960" y="0"/>
                  </a:lnTo>
                  <a:lnTo>
                    <a:pt x="10728960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43" name="Freeform 43"/>
            <p:cNvSpPr/>
            <p:nvPr/>
          </p:nvSpPr>
          <p:spPr>
            <a:xfrm>
              <a:off x="0" y="0"/>
              <a:ext cx="10762742" cy="1009144"/>
            </a:xfrm>
            <a:custGeom>
              <a:avLst/>
              <a:gdLst/>
              <a:ahLst/>
              <a:cxnLst/>
              <a:rect l="l" t="t" r="r" b="b"/>
              <a:pathLst>
                <a:path w="10762742" h="1009144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7620"/>
                    <a:pt x="10762742" y="16891"/>
                  </a:cubicBezTo>
                  <a:lnTo>
                    <a:pt x="10762742" y="992251"/>
                  </a:lnTo>
                  <a:cubicBezTo>
                    <a:pt x="10762742" y="1001649"/>
                    <a:pt x="10755122" y="1009142"/>
                    <a:pt x="10745851" y="1009142"/>
                  </a:cubicBezTo>
                  <a:lnTo>
                    <a:pt x="16891" y="1009142"/>
                  </a:lnTo>
                  <a:cubicBezTo>
                    <a:pt x="7620" y="1009269"/>
                    <a:pt x="0" y="1001649"/>
                    <a:pt x="0" y="9922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92251"/>
                  </a:lnTo>
                  <a:lnTo>
                    <a:pt x="16891" y="992251"/>
                  </a:lnTo>
                  <a:lnTo>
                    <a:pt x="16891" y="975360"/>
                  </a:lnTo>
                  <a:lnTo>
                    <a:pt x="10745851" y="975360"/>
                  </a:lnTo>
                  <a:lnTo>
                    <a:pt x="10745851" y="992251"/>
                  </a:lnTo>
                  <a:lnTo>
                    <a:pt x="10728960" y="992251"/>
                  </a:lnTo>
                  <a:lnTo>
                    <a:pt x="10728960" y="16891"/>
                  </a:lnTo>
                  <a:lnTo>
                    <a:pt x="10745851" y="16891"/>
                  </a:lnTo>
                  <a:lnTo>
                    <a:pt x="10745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1A1A"/>
            </a:solidFill>
          </p:spPr>
        </p:sp>
      </p:grpSp>
      <p:grpSp>
        <p:nvGrpSpPr>
          <p:cNvPr id="44" name="Group 44"/>
          <p:cNvGrpSpPr/>
          <p:nvPr/>
        </p:nvGrpSpPr>
        <p:grpSpPr>
          <a:xfrm>
            <a:off x="822960" y="5541264"/>
            <a:ext cx="3474720" cy="619552"/>
            <a:chOff x="0" y="0"/>
            <a:chExt cx="4632960" cy="82606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4632960" cy="826069"/>
            </a:xfrm>
            <a:custGeom>
              <a:avLst/>
              <a:gdLst/>
              <a:ahLst/>
              <a:cxnLst/>
              <a:rect l="l" t="t" r="r" b="b"/>
              <a:pathLst>
                <a:path w="4632960" h="826069">
                  <a:moveTo>
                    <a:pt x="0" y="0"/>
                  </a:moveTo>
                  <a:lnTo>
                    <a:pt x="4632960" y="0"/>
                  </a:lnTo>
                  <a:lnTo>
                    <a:pt x="4632960" y="826069"/>
                  </a:lnTo>
                  <a:lnTo>
                    <a:pt x="0" y="826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2051" b="-56509"/>
              </a:stretch>
            </a:blipFill>
          </p:spPr>
        </p:sp>
        <p:sp>
          <p:nvSpPr>
            <p:cNvPr id="46" name="TextBox 46"/>
            <p:cNvSpPr txBox="1"/>
            <p:nvPr/>
          </p:nvSpPr>
          <p:spPr>
            <a:xfrm>
              <a:off x="0" y="-66675"/>
              <a:ext cx="4632960" cy="89274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719"/>
                </a:lnSpc>
              </a:pPr>
              <a:r>
                <a:rPr lang="en-US" sz="3099">
                  <a:solidFill>
                    <a:srgbClr val="B0B0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Class Weighting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4389120" y="5541264"/>
            <a:ext cx="4206240" cy="585216"/>
            <a:chOff x="0" y="0"/>
            <a:chExt cx="5608320" cy="780288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5608320" cy="780288"/>
            </a:xfrm>
            <a:custGeom>
              <a:avLst/>
              <a:gdLst/>
              <a:ahLst/>
              <a:cxnLst/>
              <a:rect l="l" t="t" r="r" b="b"/>
              <a:pathLst>
                <a:path w="5608320" h="780288">
                  <a:moveTo>
                    <a:pt x="0" y="0"/>
                  </a:moveTo>
                  <a:lnTo>
                    <a:pt x="5608320" y="0"/>
                  </a:lnTo>
                  <a:lnTo>
                    <a:pt x="56083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0048" b="-90048"/>
              </a:stretch>
            </a:blipFill>
          </p:spPr>
        </p:sp>
        <p:sp>
          <p:nvSpPr>
            <p:cNvPr id="49" name="TextBox 49"/>
            <p:cNvSpPr txBox="1"/>
            <p:nvPr/>
          </p:nvSpPr>
          <p:spPr>
            <a:xfrm>
              <a:off x="0" y="-57150"/>
              <a:ext cx="5608320" cy="8374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3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compute_class_weight balanced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627383" y="6278375"/>
            <a:ext cx="8072123" cy="756923"/>
            <a:chOff x="0" y="0"/>
            <a:chExt cx="10762831" cy="1009231"/>
          </a:xfrm>
        </p:grpSpPr>
        <p:sp>
          <p:nvSpPr>
            <p:cNvPr id="51" name="Freeform 51"/>
            <p:cNvSpPr/>
            <p:nvPr/>
          </p:nvSpPr>
          <p:spPr>
            <a:xfrm>
              <a:off x="16891" y="16891"/>
              <a:ext cx="10728960" cy="975360"/>
            </a:xfrm>
            <a:custGeom>
              <a:avLst/>
              <a:gdLst/>
              <a:ahLst/>
              <a:cxnLst/>
              <a:rect l="l" t="t" r="r" b="b"/>
              <a:pathLst>
                <a:path w="10728960" h="975360">
                  <a:moveTo>
                    <a:pt x="0" y="0"/>
                  </a:moveTo>
                  <a:lnTo>
                    <a:pt x="10728960" y="0"/>
                  </a:lnTo>
                  <a:lnTo>
                    <a:pt x="10728960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id="52" name="Freeform 52"/>
            <p:cNvSpPr/>
            <p:nvPr/>
          </p:nvSpPr>
          <p:spPr>
            <a:xfrm>
              <a:off x="0" y="0"/>
              <a:ext cx="10762742" cy="1009144"/>
            </a:xfrm>
            <a:custGeom>
              <a:avLst/>
              <a:gdLst/>
              <a:ahLst/>
              <a:cxnLst/>
              <a:rect l="l" t="t" r="r" b="b"/>
              <a:pathLst>
                <a:path w="10762742" h="1009144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7620"/>
                    <a:pt x="10762742" y="16891"/>
                  </a:cubicBezTo>
                  <a:lnTo>
                    <a:pt x="10762742" y="992251"/>
                  </a:lnTo>
                  <a:cubicBezTo>
                    <a:pt x="10762742" y="1001649"/>
                    <a:pt x="10755122" y="1009142"/>
                    <a:pt x="10745851" y="1009142"/>
                  </a:cubicBezTo>
                  <a:lnTo>
                    <a:pt x="16891" y="1009142"/>
                  </a:lnTo>
                  <a:cubicBezTo>
                    <a:pt x="7620" y="1009269"/>
                    <a:pt x="0" y="1001649"/>
                    <a:pt x="0" y="9922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92251"/>
                  </a:lnTo>
                  <a:lnTo>
                    <a:pt x="16891" y="992251"/>
                  </a:lnTo>
                  <a:lnTo>
                    <a:pt x="16891" y="975360"/>
                  </a:lnTo>
                  <a:lnTo>
                    <a:pt x="10745851" y="975360"/>
                  </a:lnTo>
                  <a:lnTo>
                    <a:pt x="10745851" y="992251"/>
                  </a:lnTo>
                  <a:lnTo>
                    <a:pt x="10728960" y="992251"/>
                  </a:lnTo>
                  <a:lnTo>
                    <a:pt x="10728960" y="16891"/>
                  </a:lnTo>
                  <a:lnTo>
                    <a:pt x="10745851" y="16891"/>
                  </a:lnTo>
                  <a:lnTo>
                    <a:pt x="10745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1A1A"/>
            </a:solidFill>
          </p:spPr>
        </p:sp>
      </p:grpSp>
      <p:grpSp>
        <p:nvGrpSpPr>
          <p:cNvPr id="53" name="Group 53"/>
          <p:cNvGrpSpPr/>
          <p:nvPr/>
        </p:nvGrpSpPr>
        <p:grpSpPr>
          <a:xfrm>
            <a:off x="822960" y="6382512"/>
            <a:ext cx="3474720" cy="619552"/>
            <a:chOff x="0" y="0"/>
            <a:chExt cx="4632960" cy="826069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4632960" cy="826069"/>
            </a:xfrm>
            <a:custGeom>
              <a:avLst/>
              <a:gdLst/>
              <a:ahLst/>
              <a:cxnLst/>
              <a:rect l="l" t="t" r="r" b="b"/>
              <a:pathLst>
                <a:path w="4632960" h="826069">
                  <a:moveTo>
                    <a:pt x="0" y="0"/>
                  </a:moveTo>
                  <a:lnTo>
                    <a:pt x="4632960" y="0"/>
                  </a:lnTo>
                  <a:lnTo>
                    <a:pt x="4632960" y="826069"/>
                  </a:lnTo>
                  <a:lnTo>
                    <a:pt x="0" y="826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2051" b="-56509"/>
              </a:stretch>
            </a:blipFill>
          </p:spPr>
        </p:sp>
        <p:sp>
          <p:nvSpPr>
            <p:cNvPr id="55" name="TextBox 55"/>
            <p:cNvSpPr txBox="1"/>
            <p:nvPr/>
          </p:nvSpPr>
          <p:spPr>
            <a:xfrm>
              <a:off x="0" y="-66675"/>
              <a:ext cx="4632960" cy="89274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719"/>
                </a:lnSpc>
              </a:pPr>
              <a:r>
                <a:rPr lang="en-US" sz="3099">
                  <a:solidFill>
                    <a:srgbClr val="B0B0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Validation Split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4389120" y="6382512"/>
            <a:ext cx="4206240" cy="585216"/>
            <a:chOff x="0" y="0"/>
            <a:chExt cx="5608320" cy="780288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5608320" cy="780288"/>
            </a:xfrm>
            <a:custGeom>
              <a:avLst/>
              <a:gdLst/>
              <a:ahLst/>
              <a:cxnLst/>
              <a:rect l="l" t="t" r="r" b="b"/>
              <a:pathLst>
                <a:path w="5608320" h="780288">
                  <a:moveTo>
                    <a:pt x="0" y="0"/>
                  </a:moveTo>
                  <a:lnTo>
                    <a:pt x="5608320" y="0"/>
                  </a:lnTo>
                  <a:lnTo>
                    <a:pt x="56083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0048" b="-90048"/>
              </a:stretch>
            </a:blipFill>
          </p:spPr>
        </p:sp>
        <p:sp>
          <p:nvSpPr>
            <p:cNvPr id="58" name="TextBox 58"/>
            <p:cNvSpPr txBox="1"/>
            <p:nvPr/>
          </p:nvSpPr>
          <p:spPr>
            <a:xfrm>
              <a:off x="0" y="-57150"/>
              <a:ext cx="5608320" cy="8374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19"/>
                </a:lnSpc>
              </a:pPr>
              <a:r>
                <a:rPr lang="en-US" sz="25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20% of training set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627383" y="7119623"/>
            <a:ext cx="8072123" cy="756923"/>
            <a:chOff x="0" y="0"/>
            <a:chExt cx="10762831" cy="1009231"/>
          </a:xfrm>
        </p:grpSpPr>
        <p:sp>
          <p:nvSpPr>
            <p:cNvPr id="60" name="Freeform 60"/>
            <p:cNvSpPr/>
            <p:nvPr/>
          </p:nvSpPr>
          <p:spPr>
            <a:xfrm>
              <a:off x="16891" y="16891"/>
              <a:ext cx="10728960" cy="975360"/>
            </a:xfrm>
            <a:custGeom>
              <a:avLst/>
              <a:gdLst/>
              <a:ahLst/>
              <a:cxnLst/>
              <a:rect l="l" t="t" r="r" b="b"/>
              <a:pathLst>
                <a:path w="10728960" h="975360">
                  <a:moveTo>
                    <a:pt x="0" y="0"/>
                  </a:moveTo>
                  <a:lnTo>
                    <a:pt x="10728960" y="0"/>
                  </a:lnTo>
                  <a:lnTo>
                    <a:pt x="10728960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61" name="Freeform 61"/>
            <p:cNvSpPr/>
            <p:nvPr/>
          </p:nvSpPr>
          <p:spPr>
            <a:xfrm>
              <a:off x="0" y="0"/>
              <a:ext cx="10762742" cy="1009144"/>
            </a:xfrm>
            <a:custGeom>
              <a:avLst/>
              <a:gdLst/>
              <a:ahLst/>
              <a:cxnLst/>
              <a:rect l="l" t="t" r="r" b="b"/>
              <a:pathLst>
                <a:path w="10762742" h="1009144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7620"/>
                    <a:pt x="10762742" y="16891"/>
                  </a:cubicBezTo>
                  <a:lnTo>
                    <a:pt x="10762742" y="992251"/>
                  </a:lnTo>
                  <a:cubicBezTo>
                    <a:pt x="10762742" y="1001649"/>
                    <a:pt x="10755122" y="1009142"/>
                    <a:pt x="10745851" y="1009142"/>
                  </a:cubicBezTo>
                  <a:lnTo>
                    <a:pt x="16891" y="1009142"/>
                  </a:lnTo>
                  <a:cubicBezTo>
                    <a:pt x="7620" y="1009269"/>
                    <a:pt x="0" y="1001649"/>
                    <a:pt x="0" y="9922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92251"/>
                  </a:lnTo>
                  <a:lnTo>
                    <a:pt x="16891" y="992251"/>
                  </a:lnTo>
                  <a:lnTo>
                    <a:pt x="16891" y="975360"/>
                  </a:lnTo>
                  <a:lnTo>
                    <a:pt x="10745851" y="975360"/>
                  </a:lnTo>
                  <a:lnTo>
                    <a:pt x="10745851" y="992251"/>
                  </a:lnTo>
                  <a:lnTo>
                    <a:pt x="10728960" y="992251"/>
                  </a:lnTo>
                  <a:lnTo>
                    <a:pt x="10728960" y="16891"/>
                  </a:lnTo>
                  <a:lnTo>
                    <a:pt x="10745851" y="16891"/>
                  </a:lnTo>
                  <a:lnTo>
                    <a:pt x="10745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1A1A"/>
            </a:solidFill>
          </p:spPr>
        </p:sp>
      </p:grpSp>
      <p:grpSp>
        <p:nvGrpSpPr>
          <p:cNvPr id="62" name="Group 62"/>
          <p:cNvGrpSpPr/>
          <p:nvPr/>
        </p:nvGrpSpPr>
        <p:grpSpPr>
          <a:xfrm>
            <a:off x="822960" y="7223760"/>
            <a:ext cx="3474720" cy="619552"/>
            <a:chOff x="0" y="0"/>
            <a:chExt cx="4632960" cy="826069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4632960" cy="826069"/>
            </a:xfrm>
            <a:custGeom>
              <a:avLst/>
              <a:gdLst/>
              <a:ahLst/>
              <a:cxnLst/>
              <a:rect l="l" t="t" r="r" b="b"/>
              <a:pathLst>
                <a:path w="4632960" h="826069">
                  <a:moveTo>
                    <a:pt x="0" y="0"/>
                  </a:moveTo>
                  <a:lnTo>
                    <a:pt x="4632960" y="0"/>
                  </a:lnTo>
                  <a:lnTo>
                    <a:pt x="4632960" y="826069"/>
                  </a:lnTo>
                  <a:lnTo>
                    <a:pt x="0" y="826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2051" b="-56509"/>
              </a:stretch>
            </a:blipFill>
          </p:spPr>
        </p:sp>
        <p:sp>
          <p:nvSpPr>
            <p:cNvPr id="64" name="TextBox 64"/>
            <p:cNvSpPr txBox="1"/>
            <p:nvPr/>
          </p:nvSpPr>
          <p:spPr>
            <a:xfrm>
              <a:off x="0" y="-66675"/>
              <a:ext cx="4632960" cy="89274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719"/>
                </a:lnSpc>
              </a:pPr>
              <a:r>
                <a:rPr lang="en-US" sz="3099">
                  <a:solidFill>
                    <a:srgbClr val="B0B0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Epochs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4389120" y="7223760"/>
            <a:ext cx="4206240" cy="585216"/>
            <a:chOff x="0" y="0"/>
            <a:chExt cx="5608320" cy="780288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5608320" cy="780288"/>
            </a:xfrm>
            <a:custGeom>
              <a:avLst/>
              <a:gdLst/>
              <a:ahLst/>
              <a:cxnLst/>
              <a:rect l="l" t="t" r="r" b="b"/>
              <a:pathLst>
                <a:path w="5608320" h="780288">
                  <a:moveTo>
                    <a:pt x="0" y="0"/>
                  </a:moveTo>
                  <a:lnTo>
                    <a:pt x="5608320" y="0"/>
                  </a:lnTo>
                  <a:lnTo>
                    <a:pt x="56083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0048" b="-90048"/>
              </a:stretch>
            </a:blipFill>
          </p:spPr>
        </p:sp>
        <p:sp>
          <p:nvSpPr>
            <p:cNvPr id="67" name="TextBox 67"/>
            <p:cNvSpPr txBox="1"/>
            <p:nvPr/>
          </p:nvSpPr>
          <p:spPr>
            <a:xfrm>
              <a:off x="0" y="-57150"/>
              <a:ext cx="5608320" cy="8374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19"/>
                </a:lnSpc>
              </a:pPr>
              <a:r>
                <a:rPr lang="en-US" sz="25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627383" y="7960871"/>
            <a:ext cx="8072123" cy="756923"/>
            <a:chOff x="0" y="0"/>
            <a:chExt cx="10762831" cy="1009231"/>
          </a:xfrm>
        </p:grpSpPr>
        <p:sp>
          <p:nvSpPr>
            <p:cNvPr id="69" name="Freeform 69"/>
            <p:cNvSpPr/>
            <p:nvPr/>
          </p:nvSpPr>
          <p:spPr>
            <a:xfrm>
              <a:off x="16891" y="16891"/>
              <a:ext cx="10728960" cy="975360"/>
            </a:xfrm>
            <a:custGeom>
              <a:avLst/>
              <a:gdLst/>
              <a:ahLst/>
              <a:cxnLst/>
              <a:rect l="l" t="t" r="r" b="b"/>
              <a:pathLst>
                <a:path w="10728960" h="975360">
                  <a:moveTo>
                    <a:pt x="0" y="0"/>
                  </a:moveTo>
                  <a:lnTo>
                    <a:pt x="10728960" y="0"/>
                  </a:lnTo>
                  <a:lnTo>
                    <a:pt x="10728960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id="70" name="Freeform 70"/>
            <p:cNvSpPr/>
            <p:nvPr/>
          </p:nvSpPr>
          <p:spPr>
            <a:xfrm>
              <a:off x="0" y="0"/>
              <a:ext cx="10762742" cy="1009144"/>
            </a:xfrm>
            <a:custGeom>
              <a:avLst/>
              <a:gdLst/>
              <a:ahLst/>
              <a:cxnLst/>
              <a:rect l="l" t="t" r="r" b="b"/>
              <a:pathLst>
                <a:path w="10762742" h="1009144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7620"/>
                    <a:pt x="10762742" y="16891"/>
                  </a:cubicBezTo>
                  <a:lnTo>
                    <a:pt x="10762742" y="992251"/>
                  </a:lnTo>
                  <a:cubicBezTo>
                    <a:pt x="10762742" y="1001649"/>
                    <a:pt x="10755122" y="1009142"/>
                    <a:pt x="10745851" y="1009142"/>
                  </a:cubicBezTo>
                  <a:lnTo>
                    <a:pt x="16891" y="1009142"/>
                  </a:lnTo>
                  <a:cubicBezTo>
                    <a:pt x="7620" y="1009269"/>
                    <a:pt x="0" y="1001649"/>
                    <a:pt x="0" y="9922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92251"/>
                  </a:lnTo>
                  <a:lnTo>
                    <a:pt x="16891" y="992251"/>
                  </a:lnTo>
                  <a:lnTo>
                    <a:pt x="16891" y="975360"/>
                  </a:lnTo>
                  <a:lnTo>
                    <a:pt x="10745851" y="975360"/>
                  </a:lnTo>
                  <a:lnTo>
                    <a:pt x="10745851" y="992251"/>
                  </a:lnTo>
                  <a:lnTo>
                    <a:pt x="10728960" y="992251"/>
                  </a:lnTo>
                  <a:lnTo>
                    <a:pt x="10728960" y="16891"/>
                  </a:lnTo>
                  <a:lnTo>
                    <a:pt x="10745851" y="16891"/>
                  </a:lnTo>
                  <a:lnTo>
                    <a:pt x="10745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1A1A"/>
            </a:solidFill>
          </p:spPr>
        </p:sp>
      </p:grpSp>
      <p:grpSp>
        <p:nvGrpSpPr>
          <p:cNvPr id="71" name="Group 71"/>
          <p:cNvGrpSpPr/>
          <p:nvPr/>
        </p:nvGrpSpPr>
        <p:grpSpPr>
          <a:xfrm>
            <a:off x="822960" y="8065008"/>
            <a:ext cx="3474720" cy="619552"/>
            <a:chOff x="0" y="0"/>
            <a:chExt cx="4632960" cy="826069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4632960" cy="826069"/>
            </a:xfrm>
            <a:custGeom>
              <a:avLst/>
              <a:gdLst/>
              <a:ahLst/>
              <a:cxnLst/>
              <a:rect l="l" t="t" r="r" b="b"/>
              <a:pathLst>
                <a:path w="4632960" h="826069">
                  <a:moveTo>
                    <a:pt x="0" y="0"/>
                  </a:moveTo>
                  <a:lnTo>
                    <a:pt x="4632960" y="0"/>
                  </a:lnTo>
                  <a:lnTo>
                    <a:pt x="4632960" y="826069"/>
                  </a:lnTo>
                  <a:lnTo>
                    <a:pt x="0" y="826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2051" b="-56509"/>
              </a:stretch>
            </a:blipFill>
          </p:spPr>
        </p:sp>
        <p:sp>
          <p:nvSpPr>
            <p:cNvPr id="73" name="TextBox 73"/>
            <p:cNvSpPr txBox="1"/>
            <p:nvPr/>
          </p:nvSpPr>
          <p:spPr>
            <a:xfrm>
              <a:off x="0" y="-66675"/>
              <a:ext cx="4632960" cy="89274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719"/>
                </a:lnSpc>
              </a:pPr>
              <a:r>
                <a:rPr lang="en-US" sz="3099">
                  <a:solidFill>
                    <a:srgbClr val="B0B0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Batch Size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4389120" y="8065008"/>
            <a:ext cx="4206240" cy="585216"/>
            <a:chOff x="0" y="0"/>
            <a:chExt cx="5608320" cy="780288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5608320" cy="780288"/>
            </a:xfrm>
            <a:custGeom>
              <a:avLst/>
              <a:gdLst/>
              <a:ahLst/>
              <a:cxnLst/>
              <a:rect l="l" t="t" r="r" b="b"/>
              <a:pathLst>
                <a:path w="5608320" h="780288">
                  <a:moveTo>
                    <a:pt x="0" y="0"/>
                  </a:moveTo>
                  <a:lnTo>
                    <a:pt x="5608320" y="0"/>
                  </a:lnTo>
                  <a:lnTo>
                    <a:pt x="56083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0048" b="-90048"/>
              </a:stretch>
            </a:blipFill>
          </p:spPr>
        </p:sp>
        <p:sp>
          <p:nvSpPr>
            <p:cNvPr id="76" name="TextBox 76"/>
            <p:cNvSpPr txBox="1"/>
            <p:nvPr/>
          </p:nvSpPr>
          <p:spPr>
            <a:xfrm>
              <a:off x="0" y="-57150"/>
              <a:ext cx="5608320" cy="8374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19"/>
                </a:lnSpc>
              </a:pPr>
              <a:r>
                <a:rPr lang="en-US" sz="25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32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627383" y="8802119"/>
            <a:ext cx="8072123" cy="756923"/>
            <a:chOff x="0" y="0"/>
            <a:chExt cx="10762831" cy="1009231"/>
          </a:xfrm>
        </p:grpSpPr>
        <p:sp>
          <p:nvSpPr>
            <p:cNvPr id="78" name="Freeform 78"/>
            <p:cNvSpPr/>
            <p:nvPr/>
          </p:nvSpPr>
          <p:spPr>
            <a:xfrm>
              <a:off x="16891" y="16891"/>
              <a:ext cx="10728960" cy="975360"/>
            </a:xfrm>
            <a:custGeom>
              <a:avLst/>
              <a:gdLst/>
              <a:ahLst/>
              <a:cxnLst/>
              <a:rect l="l" t="t" r="r" b="b"/>
              <a:pathLst>
                <a:path w="10728960" h="975360">
                  <a:moveTo>
                    <a:pt x="0" y="0"/>
                  </a:moveTo>
                  <a:lnTo>
                    <a:pt x="10728960" y="0"/>
                  </a:lnTo>
                  <a:lnTo>
                    <a:pt x="10728960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79" name="Freeform 79"/>
            <p:cNvSpPr/>
            <p:nvPr/>
          </p:nvSpPr>
          <p:spPr>
            <a:xfrm>
              <a:off x="0" y="0"/>
              <a:ext cx="10762742" cy="1009144"/>
            </a:xfrm>
            <a:custGeom>
              <a:avLst/>
              <a:gdLst/>
              <a:ahLst/>
              <a:cxnLst/>
              <a:rect l="l" t="t" r="r" b="b"/>
              <a:pathLst>
                <a:path w="10762742" h="1009144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7620"/>
                    <a:pt x="10762742" y="16891"/>
                  </a:cubicBezTo>
                  <a:lnTo>
                    <a:pt x="10762742" y="992251"/>
                  </a:lnTo>
                  <a:cubicBezTo>
                    <a:pt x="10762742" y="1001649"/>
                    <a:pt x="10755122" y="1009142"/>
                    <a:pt x="10745851" y="1009142"/>
                  </a:cubicBezTo>
                  <a:lnTo>
                    <a:pt x="16891" y="1009142"/>
                  </a:lnTo>
                  <a:cubicBezTo>
                    <a:pt x="7620" y="1009269"/>
                    <a:pt x="0" y="1001649"/>
                    <a:pt x="0" y="9922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92251"/>
                  </a:lnTo>
                  <a:lnTo>
                    <a:pt x="16891" y="992251"/>
                  </a:lnTo>
                  <a:lnTo>
                    <a:pt x="16891" y="975360"/>
                  </a:lnTo>
                  <a:lnTo>
                    <a:pt x="10745851" y="975360"/>
                  </a:lnTo>
                  <a:lnTo>
                    <a:pt x="10745851" y="992251"/>
                  </a:lnTo>
                  <a:lnTo>
                    <a:pt x="10728960" y="992251"/>
                  </a:lnTo>
                  <a:lnTo>
                    <a:pt x="10728960" y="16891"/>
                  </a:lnTo>
                  <a:lnTo>
                    <a:pt x="10745851" y="16891"/>
                  </a:lnTo>
                  <a:lnTo>
                    <a:pt x="10745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1A1A"/>
            </a:solidFill>
          </p:spPr>
        </p:sp>
      </p:grpSp>
      <p:grpSp>
        <p:nvGrpSpPr>
          <p:cNvPr id="80" name="Group 80"/>
          <p:cNvGrpSpPr/>
          <p:nvPr/>
        </p:nvGrpSpPr>
        <p:grpSpPr>
          <a:xfrm>
            <a:off x="822960" y="8906256"/>
            <a:ext cx="3474720" cy="585216"/>
            <a:chOff x="0" y="0"/>
            <a:chExt cx="4632960" cy="780288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4632960" cy="780288"/>
            </a:xfrm>
            <a:custGeom>
              <a:avLst/>
              <a:gdLst/>
              <a:ahLst/>
              <a:cxnLst/>
              <a:rect l="l" t="t" r="r" b="b"/>
              <a:pathLst>
                <a:path w="4632960" h="780288">
                  <a:moveTo>
                    <a:pt x="0" y="0"/>
                  </a:moveTo>
                  <a:lnTo>
                    <a:pt x="4632960" y="0"/>
                  </a:lnTo>
                  <a:lnTo>
                    <a:pt x="463296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5692" b="-65692"/>
              </a:stretch>
            </a:blipFill>
          </p:spPr>
        </p:sp>
        <p:sp>
          <p:nvSpPr>
            <p:cNvPr id="82" name="TextBox 82"/>
            <p:cNvSpPr txBox="1"/>
            <p:nvPr/>
          </p:nvSpPr>
          <p:spPr>
            <a:xfrm>
              <a:off x="0" y="-57150"/>
              <a:ext cx="4632960" cy="8374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79"/>
                </a:lnSpc>
              </a:pPr>
              <a:r>
                <a:rPr lang="en-US" sz="2899">
                  <a:solidFill>
                    <a:srgbClr val="B0B0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Max Sequence Length</a:t>
              </a: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4389120" y="8906256"/>
            <a:ext cx="4206240" cy="585216"/>
            <a:chOff x="0" y="0"/>
            <a:chExt cx="5608320" cy="780288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5608320" cy="780288"/>
            </a:xfrm>
            <a:custGeom>
              <a:avLst/>
              <a:gdLst/>
              <a:ahLst/>
              <a:cxnLst/>
              <a:rect l="l" t="t" r="r" b="b"/>
              <a:pathLst>
                <a:path w="5608320" h="780288">
                  <a:moveTo>
                    <a:pt x="0" y="0"/>
                  </a:moveTo>
                  <a:lnTo>
                    <a:pt x="5608320" y="0"/>
                  </a:lnTo>
                  <a:lnTo>
                    <a:pt x="56083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0048" b="-90048"/>
              </a:stretch>
            </a:blipFill>
          </p:spPr>
        </p:sp>
        <p:sp>
          <p:nvSpPr>
            <p:cNvPr id="85" name="TextBox 85"/>
            <p:cNvSpPr txBox="1"/>
            <p:nvPr/>
          </p:nvSpPr>
          <p:spPr>
            <a:xfrm>
              <a:off x="0" y="-57150"/>
              <a:ext cx="5608320" cy="8374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19"/>
                </a:lnSpc>
              </a:pPr>
              <a:r>
                <a:rPr lang="en-US" sz="25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100 tokens</a:t>
              </a:r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9418320" y="2048256"/>
            <a:ext cx="8046720" cy="694944"/>
            <a:chOff x="0" y="0"/>
            <a:chExt cx="10728960" cy="926592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10728960" cy="926592"/>
            </a:xfrm>
            <a:custGeom>
              <a:avLst/>
              <a:gdLst/>
              <a:ahLst/>
              <a:cxnLst/>
              <a:rect l="l" t="t" r="r" b="b"/>
              <a:pathLst>
                <a:path w="10728960" h="926592">
                  <a:moveTo>
                    <a:pt x="0" y="0"/>
                  </a:moveTo>
                  <a:lnTo>
                    <a:pt x="10728960" y="0"/>
                  </a:lnTo>
                  <a:lnTo>
                    <a:pt x="107289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5616" b="-175616"/>
              </a:stretch>
            </a:blipFill>
          </p:spPr>
        </p:sp>
        <p:sp>
          <p:nvSpPr>
            <p:cNvPr id="88" name="TextBox 88"/>
            <p:cNvSpPr txBox="1"/>
            <p:nvPr/>
          </p:nvSpPr>
          <p:spPr>
            <a:xfrm>
              <a:off x="0" y="-57150"/>
              <a:ext cx="10728960" cy="9837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99"/>
                </a:lnSpc>
              </a:pPr>
              <a:r>
                <a:rPr lang="en-US" sz="2999" b="1">
                  <a:solidFill>
                    <a:srgbClr val="C9A96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Model Outputs</a:t>
              </a:r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9405623" y="2913383"/>
            <a:ext cx="8072123" cy="2128523"/>
            <a:chOff x="0" y="0"/>
            <a:chExt cx="10762831" cy="2838031"/>
          </a:xfrm>
        </p:grpSpPr>
        <p:sp>
          <p:nvSpPr>
            <p:cNvPr id="90" name="Freeform 90"/>
            <p:cNvSpPr/>
            <p:nvPr/>
          </p:nvSpPr>
          <p:spPr>
            <a:xfrm>
              <a:off x="16891" y="16891"/>
              <a:ext cx="10728960" cy="2804160"/>
            </a:xfrm>
            <a:custGeom>
              <a:avLst/>
              <a:gdLst/>
              <a:ahLst/>
              <a:cxnLst/>
              <a:rect l="l" t="t" r="r" b="b"/>
              <a:pathLst>
                <a:path w="10728960" h="2804160">
                  <a:moveTo>
                    <a:pt x="0" y="0"/>
                  </a:moveTo>
                  <a:lnTo>
                    <a:pt x="10728960" y="0"/>
                  </a:lnTo>
                  <a:lnTo>
                    <a:pt x="10728960" y="2804160"/>
                  </a:lnTo>
                  <a:lnTo>
                    <a:pt x="0" y="2804160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id="91" name="Freeform 91"/>
            <p:cNvSpPr/>
            <p:nvPr/>
          </p:nvSpPr>
          <p:spPr>
            <a:xfrm>
              <a:off x="0" y="0"/>
              <a:ext cx="10762742" cy="2837942"/>
            </a:xfrm>
            <a:custGeom>
              <a:avLst/>
              <a:gdLst/>
              <a:ahLst/>
              <a:cxnLst/>
              <a:rect l="l" t="t" r="r" b="b"/>
              <a:pathLst>
                <a:path w="10762742" h="2837942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7620"/>
                    <a:pt x="10762742" y="16891"/>
                  </a:cubicBezTo>
                  <a:lnTo>
                    <a:pt x="10762742" y="2821051"/>
                  </a:lnTo>
                  <a:cubicBezTo>
                    <a:pt x="10762742" y="2830449"/>
                    <a:pt x="10755122" y="2837942"/>
                    <a:pt x="10745851" y="2837942"/>
                  </a:cubicBezTo>
                  <a:lnTo>
                    <a:pt x="16891" y="2837942"/>
                  </a:lnTo>
                  <a:cubicBezTo>
                    <a:pt x="7493" y="2837942"/>
                    <a:pt x="0" y="2830322"/>
                    <a:pt x="0" y="28210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821051"/>
                  </a:lnTo>
                  <a:lnTo>
                    <a:pt x="16891" y="2821051"/>
                  </a:lnTo>
                  <a:lnTo>
                    <a:pt x="16891" y="2804160"/>
                  </a:lnTo>
                  <a:lnTo>
                    <a:pt x="10745851" y="2804160"/>
                  </a:lnTo>
                  <a:lnTo>
                    <a:pt x="10745851" y="2821051"/>
                  </a:lnTo>
                  <a:lnTo>
                    <a:pt x="10728960" y="2821051"/>
                  </a:lnTo>
                  <a:lnTo>
                    <a:pt x="10728960" y="16891"/>
                  </a:lnTo>
                  <a:lnTo>
                    <a:pt x="10745851" y="16891"/>
                  </a:lnTo>
                  <a:lnTo>
                    <a:pt x="10745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B1C2E"/>
            </a:solidFill>
          </p:spPr>
        </p:sp>
      </p:grpSp>
      <p:grpSp>
        <p:nvGrpSpPr>
          <p:cNvPr id="92" name="Group 92"/>
          <p:cNvGrpSpPr/>
          <p:nvPr/>
        </p:nvGrpSpPr>
        <p:grpSpPr>
          <a:xfrm>
            <a:off x="9405623" y="2913383"/>
            <a:ext cx="153419" cy="2128523"/>
            <a:chOff x="0" y="0"/>
            <a:chExt cx="204559" cy="2838031"/>
          </a:xfrm>
        </p:grpSpPr>
        <p:sp>
          <p:nvSpPr>
            <p:cNvPr id="93" name="Freeform 93"/>
            <p:cNvSpPr/>
            <p:nvPr/>
          </p:nvSpPr>
          <p:spPr>
            <a:xfrm>
              <a:off x="16891" y="16891"/>
              <a:ext cx="170688" cy="2804160"/>
            </a:xfrm>
            <a:custGeom>
              <a:avLst/>
              <a:gdLst/>
              <a:ahLst/>
              <a:cxnLst/>
              <a:rect l="l" t="t" r="r" b="b"/>
              <a:pathLst>
                <a:path w="170688" h="2804160">
                  <a:moveTo>
                    <a:pt x="0" y="0"/>
                  </a:moveTo>
                  <a:lnTo>
                    <a:pt x="170688" y="0"/>
                  </a:lnTo>
                  <a:lnTo>
                    <a:pt x="170688" y="2804160"/>
                  </a:lnTo>
                  <a:lnTo>
                    <a:pt x="0" y="2804160"/>
                  </a:lnTo>
                  <a:close/>
                </a:path>
              </a:pathLst>
            </a:custGeom>
            <a:solidFill>
              <a:srgbClr val="C9A96E"/>
            </a:solidFill>
          </p:spPr>
        </p:sp>
        <p:sp>
          <p:nvSpPr>
            <p:cNvPr id="94" name="Freeform 94"/>
            <p:cNvSpPr/>
            <p:nvPr/>
          </p:nvSpPr>
          <p:spPr>
            <a:xfrm>
              <a:off x="0" y="0"/>
              <a:ext cx="204470" cy="2837942"/>
            </a:xfrm>
            <a:custGeom>
              <a:avLst/>
              <a:gdLst/>
              <a:ahLst/>
              <a:cxnLst/>
              <a:rect l="l" t="t" r="r" b="b"/>
              <a:pathLst>
                <a:path w="204470" h="2837942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2821051"/>
                  </a:lnTo>
                  <a:cubicBezTo>
                    <a:pt x="204470" y="2830449"/>
                    <a:pt x="196850" y="2837942"/>
                    <a:pt x="187579" y="2837942"/>
                  </a:cubicBezTo>
                  <a:lnTo>
                    <a:pt x="16891" y="2837942"/>
                  </a:lnTo>
                  <a:cubicBezTo>
                    <a:pt x="7493" y="2837942"/>
                    <a:pt x="0" y="2830322"/>
                    <a:pt x="0" y="28210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821051"/>
                  </a:lnTo>
                  <a:lnTo>
                    <a:pt x="16891" y="2821051"/>
                  </a:lnTo>
                  <a:lnTo>
                    <a:pt x="16891" y="2804160"/>
                  </a:lnTo>
                  <a:lnTo>
                    <a:pt x="187579" y="2804160"/>
                  </a:lnTo>
                  <a:lnTo>
                    <a:pt x="187579" y="2821051"/>
                  </a:lnTo>
                  <a:lnTo>
                    <a:pt x="170688" y="282105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9A96E"/>
            </a:solidFill>
          </p:spPr>
        </p:sp>
      </p:grpSp>
      <p:grpSp>
        <p:nvGrpSpPr>
          <p:cNvPr id="95" name="Group 95"/>
          <p:cNvGrpSpPr/>
          <p:nvPr/>
        </p:nvGrpSpPr>
        <p:grpSpPr>
          <a:xfrm>
            <a:off x="9692640" y="3108960"/>
            <a:ext cx="2560320" cy="1371600"/>
            <a:chOff x="0" y="0"/>
            <a:chExt cx="3413760" cy="1828800"/>
          </a:xfrm>
        </p:grpSpPr>
        <p:sp>
          <p:nvSpPr>
            <p:cNvPr id="96" name="Freeform 96"/>
            <p:cNvSpPr/>
            <p:nvPr/>
          </p:nvSpPr>
          <p:spPr>
            <a:xfrm>
              <a:off x="0" y="0"/>
              <a:ext cx="3413760" cy="1828800"/>
            </a:xfrm>
            <a:custGeom>
              <a:avLst/>
              <a:gdLst/>
              <a:ahLst/>
              <a:cxnLst/>
              <a:rect l="l" t="t" r="r" b="b"/>
              <a:pathLst>
                <a:path w="3413760" h="1828800">
                  <a:moveTo>
                    <a:pt x="0" y="0"/>
                  </a:moveTo>
                  <a:lnTo>
                    <a:pt x="3413760" y="0"/>
                  </a:lnTo>
                  <a:lnTo>
                    <a:pt x="341376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734" r="-18734"/>
              </a:stretch>
            </a:blipFill>
          </p:spPr>
        </p:sp>
        <p:sp>
          <p:nvSpPr>
            <p:cNvPr id="97" name="TextBox 97"/>
            <p:cNvSpPr txBox="1"/>
            <p:nvPr/>
          </p:nvSpPr>
          <p:spPr>
            <a:xfrm>
              <a:off x="0" y="-57150"/>
              <a:ext cx="3413760" cy="18859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99"/>
                </a:lnSpc>
              </a:pPr>
              <a:r>
                <a:rPr lang="en-US" sz="2999" b="1">
                  <a:solidFill>
                    <a:srgbClr val="C9A96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BINARY</a:t>
              </a:r>
            </a:p>
            <a:p>
              <a:pPr algn="l">
                <a:lnSpc>
                  <a:spcPts val="3599"/>
                </a:lnSpc>
              </a:pPr>
              <a:r>
                <a:rPr lang="en-US" sz="2999" b="1">
                  <a:solidFill>
                    <a:srgbClr val="C9A96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DETECTION</a:t>
              </a:r>
            </a:p>
          </p:txBody>
        </p:sp>
      </p:grpSp>
      <p:grpSp>
        <p:nvGrpSpPr>
          <p:cNvPr id="98" name="Group 98"/>
          <p:cNvGrpSpPr/>
          <p:nvPr/>
        </p:nvGrpSpPr>
        <p:grpSpPr>
          <a:xfrm>
            <a:off x="12344400" y="3145536"/>
            <a:ext cx="4937760" cy="1645920"/>
            <a:chOff x="0" y="0"/>
            <a:chExt cx="6583680" cy="2194560"/>
          </a:xfrm>
        </p:grpSpPr>
        <p:sp>
          <p:nvSpPr>
            <p:cNvPr id="99" name="Freeform 99"/>
            <p:cNvSpPr/>
            <p:nvPr/>
          </p:nvSpPr>
          <p:spPr>
            <a:xfrm>
              <a:off x="0" y="0"/>
              <a:ext cx="6583680" cy="2194560"/>
            </a:xfrm>
            <a:custGeom>
              <a:avLst/>
              <a:gdLst/>
              <a:ahLst/>
              <a:cxnLst/>
              <a:rect l="l" t="t" r="r" b="b"/>
              <a:pathLst>
                <a:path w="6583680" h="2194560">
                  <a:moveTo>
                    <a:pt x="0" y="0"/>
                  </a:moveTo>
                  <a:lnTo>
                    <a:pt x="6583680" y="0"/>
                  </a:lnTo>
                  <a:lnTo>
                    <a:pt x="658368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455" b="-8455"/>
              </a:stretch>
            </a:blipFill>
          </p:spPr>
        </p:sp>
        <p:sp>
          <p:nvSpPr>
            <p:cNvPr id="100" name="TextBox 100"/>
            <p:cNvSpPr txBox="1"/>
            <p:nvPr/>
          </p:nvSpPr>
          <p:spPr>
            <a:xfrm>
              <a:off x="0" y="-133350"/>
              <a:ext cx="6583680" cy="23279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031"/>
                </a:lnSpc>
              </a:pPr>
              <a:r>
                <a:rPr lang="en-US" sz="2799">
                  <a:solidFill>
                    <a:srgbClr val="B0B0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Sigmoid output → Probability</a:t>
              </a:r>
            </a:p>
            <a:p>
              <a:pPr algn="ctr">
                <a:lnSpc>
                  <a:spcPts val="4031"/>
                </a:lnSpc>
              </a:pPr>
              <a:r>
                <a:rPr lang="en-US" sz="2799">
                  <a:solidFill>
                    <a:srgbClr val="B0B0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Threshold 0.5 → YES / NO</a:t>
              </a:r>
            </a:p>
          </p:txBody>
        </p:sp>
      </p:grpSp>
      <p:grpSp>
        <p:nvGrpSpPr>
          <p:cNvPr id="101" name="Group 101"/>
          <p:cNvGrpSpPr/>
          <p:nvPr/>
        </p:nvGrpSpPr>
        <p:grpSpPr>
          <a:xfrm>
            <a:off x="9405623" y="5290823"/>
            <a:ext cx="8072123" cy="2128523"/>
            <a:chOff x="0" y="0"/>
            <a:chExt cx="10762831" cy="2838031"/>
          </a:xfrm>
        </p:grpSpPr>
        <p:sp>
          <p:nvSpPr>
            <p:cNvPr id="102" name="Freeform 102"/>
            <p:cNvSpPr/>
            <p:nvPr/>
          </p:nvSpPr>
          <p:spPr>
            <a:xfrm>
              <a:off x="16891" y="16891"/>
              <a:ext cx="10728960" cy="2804160"/>
            </a:xfrm>
            <a:custGeom>
              <a:avLst/>
              <a:gdLst/>
              <a:ahLst/>
              <a:cxnLst/>
              <a:rect l="l" t="t" r="r" b="b"/>
              <a:pathLst>
                <a:path w="10728960" h="2804160">
                  <a:moveTo>
                    <a:pt x="0" y="0"/>
                  </a:moveTo>
                  <a:lnTo>
                    <a:pt x="10728960" y="0"/>
                  </a:lnTo>
                  <a:lnTo>
                    <a:pt x="10728960" y="2804160"/>
                  </a:lnTo>
                  <a:lnTo>
                    <a:pt x="0" y="2804160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id="103" name="Freeform 103"/>
            <p:cNvSpPr/>
            <p:nvPr/>
          </p:nvSpPr>
          <p:spPr>
            <a:xfrm>
              <a:off x="0" y="0"/>
              <a:ext cx="10762742" cy="2837942"/>
            </a:xfrm>
            <a:custGeom>
              <a:avLst/>
              <a:gdLst/>
              <a:ahLst/>
              <a:cxnLst/>
              <a:rect l="l" t="t" r="r" b="b"/>
              <a:pathLst>
                <a:path w="10762742" h="2837942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7620"/>
                    <a:pt x="10762742" y="16891"/>
                  </a:cubicBezTo>
                  <a:lnTo>
                    <a:pt x="10762742" y="2821051"/>
                  </a:lnTo>
                  <a:cubicBezTo>
                    <a:pt x="10762742" y="2830449"/>
                    <a:pt x="10755122" y="2837942"/>
                    <a:pt x="10745851" y="2837942"/>
                  </a:cubicBezTo>
                  <a:lnTo>
                    <a:pt x="16891" y="2837942"/>
                  </a:lnTo>
                  <a:cubicBezTo>
                    <a:pt x="7493" y="2837942"/>
                    <a:pt x="0" y="2830322"/>
                    <a:pt x="0" y="28210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821051"/>
                  </a:lnTo>
                  <a:lnTo>
                    <a:pt x="16891" y="2821051"/>
                  </a:lnTo>
                  <a:lnTo>
                    <a:pt x="16891" y="2804160"/>
                  </a:lnTo>
                  <a:lnTo>
                    <a:pt x="10745851" y="2804160"/>
                  </a:lnTo>
                  <a:lnTo>
                    <a:pt x="10745851" y="2821051"/>
                  </a:lnTo>
                  <a:lnTo>
                    <a:pt x="10728960" y="2821051"/>
                  </a:lnTo>
                  <a:lnTo>
                    <a:pt x="10728960" y="16891"/>
                  </a:lnTo>
                  <a:lnTo>
                    <a:pt x="10745851" y="16891"/>
                  </a:lnTo>
                  <a:lnTo>
                    <a:pt x="10745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B1C2E"/>
            </a:solidFill>
          </p:spPr>
        </p:sp>
      </p:grpSp>
      <p:grpSp>
        <p:nvGrpSpPr>
          <p:cNvPr id="104" name="Group 104"/>
          <p:cNvGrpSpPr/>
          <p:nvPr/>
        </p:nvGrpSpPr>
        <p:grpSpPr>
          <a:xfrm>
            <a:off x="9405623" y="5290823"/>
            <a:ext cx="153419" cy="2128523"/>
            <a:chOff x="0" y="0"/>
            <a:chExt cx="204559" cy="2838031"/>
          </a:xfrm>
        </p:grpSpPr>
        <p:sp>
          <p:nvSpPr>
            <p:cNvPr id="105" name="Freeform 105"/>
            <p:cNvSpPr/>
            <p:nvPr/>
          </p:nvSpPr>
          <p:spPr>
            <a:xfrm>
              <a:off x="16891" y="16891"/>
              <a:ext cx="170688" cy="2804160"/>
            </a:xfrm>
            <a:custGeom>
              <a:avLst/>
              <a:gdLst/>
              <a:ahLst/>
              <a:cxnLst/>
              <a:rect l="l" t="t" r="r" b="b"/>
              <a:pathLst>
                <a:path w="170688" h="2804160">
                  <a:moveTo>
                    <a:pt x="0" y="0"/>
                  </a:moveTo>
                  <a:lnTo>
                    <a:pt x="170688" y="0"/>
                  </a:lnTo>
                  <a:lnTo>
                    <a:pt x="170688" y="2804160"/>
                  </a:lnTo>
                  <a:lnTo>
                    <a:pt x="0" y="2804160"/>
                  </a:lnTo>
                  <a:close/>
                </a:path>
              </a:pathLst>
            </a:custGeom>
            <a:solidFill>
              <a:srgbClr val="C9A96E"/>
            </a:solidFill>
          </p:spPr>
        </p:sp>
        <p:sp>
          <p:nvSpPr>
            <p:cNvPr id="106" name="Freeform 106"/>
            <p:cNvSpPr/>
            <p:nvPr/>
          </p:nvSpPr>
          <p:spPr>
            <a:xfrm>
              <a:off x="0" y="0"/>
              <a:ext cx="204470" cy="2837942"/>
            </a:xfrm>
            <a:custGeom>
              <a:avLst/>
              <a:gdLst/>
              <a:ahLst/>
              <a:cxnLst/>
              <a:rect l="l" t="t" r="r" b="b"/>
              <a:pathLst>
                <a:path w="204470" h="2837942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2821051"/>
                  </a:lnTo>
                  <a:cubicBezTo>
                    <a:pt x="204470" y="2830449"/>
                    <a:pt x="196850" y="2837942"/>
                    <a:pt x="187579" y="2837942"/>
                  </a:cubicBezTo>
                  <a:lnTo>
                    <a:pt x="16891" y="2837942"/>
                  </a:lnTo>
                  <a:cubicBezTo>
                    <a:pt x="7493" y="2837942"/>
                    <a:pt x="0" y="2830322"/>
                    <a:pt x="0" y="28210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821051"/>
                  </a:lnTo>
                  <a:lnTo>
                    <a:pt x="16891" y="2821051"/>
                  </a:lnTo>
                  <a:lnTo>
                    <a:pt x="16891" y="2804160"/>
                  </a:lnTo>
                  <a:lnTo>
                    <a:pt x="187579" y="2804160"/>
                  </a:lnTo>
                  <a:lnTo>
                    <a:pt x="187579" y="2821051"/>
                  </a:lnTo>
                  <a:lnTo>
                    <a:pt x="170688" y="282105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9A96E"/>
            </a:solidFill>
          </p:spPr>
        </p:sp>
      </p:grpSp>
      <p:grpSp>
        <p:nvGrpSpPr>
          <p:cNvPr id="107" name="Group 107"/>
          <p:cNvGrpSpPr/>
          <p:nvPr/>
        </p:nvGrpSpPr>
        <p:grpSpPr>
          <a:xfrm>
            <a:off x="9692640" y="5546061"/>
            <a:ext cx="2851472" cy="1371600"/>
            <a:chOff x="0" y="0"/>
            <a:chExt cx="3801963" cy="1828800"/>
          </a:xfrm>
        </p:grpSpPr>
        <p:sp>
          <p:nvSpPr>
            <p:cNvPr id="108" name="Freeform 108"/>
            <p:cNvSpPr/>
            <p:nvPr/>
          </p:nvSpPr>
          <p:spPr>
            <a:xfrm>
              <a:off x="0" y="0"/>
              <a:ext cx="3801963" cy="1828800"/>
            </a:xfrm>
            <a:custGeom>
              <a:avLst/>
              <a:gdLst/>
              <a:ahLst/>
              <a:cxnLst/>
              <a:rect l="l" t="t" r="r" b="b"/>
              <a:pathLst>
                <a:path w="3801963" h="1828800">
                  <a:moveTo>
                    <a:pt x="0" y="0"/>
                  </a:moveTo>
                  <a:lnTo>
                    <a:pt x="3801963" y="0"/>
                  </a:lnTo>
                  <a:lnTo>
                    <a:pt x="3801963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821" r="-6610"/>
              </a:stretch>
            </a:blipFill>
          </p:spPr>
        </p:sp>
        <p:sp>
          <p:nvSpPr>
            <p:cNvPr id="109" name="TextBox 109"/>
            <p:cNvSpPr txBox="1"/>
            <p:nvPr/>
          </p:nvSpPr>
          <p:spPr>
            <a:xfrm>
              <a:off x="0" y="-57150"/>
              <a:ext cx="3801963" cy="18859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99"/>
                </a:lnSpc>
              </a:pPr>
              <a:r>
                <a:rPr lang="en-US" sz="2999" b="1">
                  <a:solidFill>
                    <a:srgbClr val="C9A96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TYPE</a:t>
              </a:r>
            </a:p>
            <a:p>
              <a:pPr algn="l">
                <a:lnSpc>
                  <a:spcPts val="3599"/>
                </a:lnSpc>
              </a:pPr>
              <a:r>
                <a:rPr lang="en-US" sz="2999" b="1">
                  <a:solidFill>
                    <a:srgbClr val="C9A96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CLASSIFICATION</a:t>
              </a:r>
            </a:p>
          </p:txBody>
        </p:sp>
      </p:grpSp>
      <p:grpSp>
        <p:nvGrpSpPr>
          <p:cNvPr id="110" name="Group 110"/>
          <p:cNvGrpSpPr/>
          <p:nvPr/>
        </p:nvGrpSpPr>
        <p:grpSpPr>
          <a:xfrm>
            <a:off x="12344400" y="5522976"/>
            <a:ext cx="4937760" cy="1645920"/>
            <a:chOff x="0" y="0"/>
            <a:chExt cx="6583680" cy="2194560"/>
          </a:xfrm>
        </p:grpSpPr>
        <p:sp>
          <p:nvSpPr>
            <p:cNvPr id="111" name="Freeform 111"/>
            <p:cNvSpPr/>
            <p:nvPr/>
          </p:nvSpPr>
          <p:spPr>
            <a:xfrm>
              <a:off x="0" y="0"/>
              <a:ext cx="6583680" cy="2194560"/>
            </a:xfrm>
            <a:custGeom>
              <a:avLst/>
              <a:gdLst/>
              <a:ahLst/>
              <a:cxnLst/>
              <a:rect l="l" t="t" r="r" b="b"/>
              <a:pathLst>
                <a:path w="6583680" h="2194560">
                  <a:moveTo>
                    <a:pt x="0" y="0"/>
                  </a:moveTo>
                  <a:lnTo>
                    <a:pt x="6583680" y="0"/>
                  </a:lnTo>
                  <a:lnTo>
                    <a:pt x="658368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455" b="-8455"/>
              </a:stretch>
            </a:blipFill>
          </p:spPr>
        </p:sp>
        <p:sp>
          <p:nvSpPr>
            <p:cNvPr id="112" name="TextBox 112"/>
            <p:cNvSpPr txBox="1"/>
            <p:nvPr/>
          </p:nvSpPr>
          <p:spPr>
            <a:xfrm>
              <a:off x="0" y="-133350"/>
              <a:ext cx="6583680" cy="23279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031"/>
                </a:lnSpc>
              </a:pPr>
              <a:r>
                <a:rPr lang="en-US" sz="2799">
                  <a:solidFill>
                    <a:srgbClr val="B0B0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Softmax over 6 classes</a:t>
              </a:r>
            </a:p>
            <a:p>
              <a:pPr algn="ctr">
                <a:lnSpc>
                  <a:spcPts val="4031"/>
                </a:lnSpc>
              </a:pPr>
              <a:r>
                <a:rPr lang="en-US" sz="2799">
                  <a:solidFill>
                    <a:srgbClr val="B0B0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Argmax → Technique Label</a:t>
              </a:r>
            </a:p>
          </p:txBody>
        </p:sp>
      </p:grpSp>
      <p:grpSp>
        <p:nvGrpSpPr>
          <p:cNvPr id="113" name="Group 113"/>
          <p:cNvGrpSpPr/>
          <p:nvPr/>
        </p:nvGrpSpPr>
        <p:grpSpPr>
          <a:xfrm>
            <a:off x="9405623" y="7668263"/>
            <a:ext cx="8072123" cy="2128523"/>
            <a:chOff x="0" y="0"/>
            <a:chExt cx="10762831" cy="2838031"/>
          </a:xfrm>
        </p:grpSpPr>
        <p:sp>
          <p:nvSpPr>
            <p:cNvPr id="114" name="Freeform 114"/>
            <p:cNvSpPr/>
            <p:nvPr/>
          </p:nvSpPr>
          <p:spPr>
            <a:xfrm>
              <a:off x="16891" y="16891"/>
              <a:ext cx="10728960" cy="2804160"/>
            </a:xfrm>
            <a:custGeom>
              <a:avLst/>
              <a:gdLst/>
              <a:ahLst/>
              <a:cxnLst/>
              <a:rect l="l" t="t" r="r" b="b"/>
              <a:pathLst>
                <a:path w="10728960" h="2804160">
                  <a:moveTo>
                    <a:pt x="0" y="0"/>
                  </a:moveTo>
                  <a:lnTo>
                    <a:pt x="10728960" y="0"/>
                  </a:lnTo>
                  <a:lnTo>
                    <a:pt x="10728960" y="2804160"/>
                  </a:lnTo>
                  <a:lnTo>
                    <a:pt x="0" y="2804160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id="115" name="Freeform 115"/>
            <p:cNvSpPr/>
            <p:nvPr/>
          </p:nvSpPr>
          <p:spPr>
            <a:xfrm>
              <a:off x="0" y="0"/>
              <a:ext cx="10762742" cy="2837942"/>
            </a:xfrm>
            <a:custGeom>
              <a:avLst/>
              <a:gdLst/>
              <a:ahLst/>
              <a:cxnLst/>
              <a:rect l="l" t="t" r="r" b="b"/>
              <a:pathLst>
                <a:path w="10762742" h="2837942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7620"/>
                    <a:pt x="10762742" y="16891"/>
                  </a:cubicBezTo>
                  <a:lnTo>
                    <a:pt x="10762742" y="2821051"/>
                  </a:lnTo>
                  <a:cubicBezTo>
                    <a:pt x="10762742" y="2830449"/>
                    <a:pt x="10755122" y="2837942"/>
                    <a:pt x="10745851" y="2837942"/>
                  </a:cubicBezTo>
                  <a:lnTo>
                    <a:pt x="16891" y="2837942"/>
                  </a:lnTo>
                  <a:cubicBezTo>
                    <a:pt x="7493" y="2837942"/>
                    <a:pt x="0" y="2830322"/>
                    <a:pt x="0" y="28210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821051"/>
                  </a:lnTo>
                  <a:lnTo>
                    <a:pt x="16891" y="2821051"/>
                  </a:lnTo>
                  <a:lnTo>
                    <a:pt x="16891" y="2804160"/>
                  </a:lnTo>
                  <a:lnTo>
                    <a:pt x="10745851" y="2804160"/>
                  </a:lnTo>
                  <a:lnTo>
                    <a:pt x="10745851" y="2821051"/>
                  </a:lnTo>
                  <a:lnTo>
                    <a:pt x="10728960" y="2821051"/>
                  </a:lnTo>
                  <a:lnTo>
                    <a:pt x="10728960" y="16891"/>
                  </a:lnTo>
                  <a:lnTo>
                    <a:pt x="10745851" y="16891"/>
                  </a:lnTo>
                  <a:lnTo>
                    <a:pt x="10745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B1C2E"/>
            </a:solidFill>
          </p:spPr>
        </p:sp>
      </p:grpSp>
      <p:grpSp>
        <p:nvGrpSpPr>
          <p:cNvPr id="116" name="Group 116"/>
          <p:cNvGrpSpPr/>
          <p:nvPr/>
        </p:nvGrpSpPr>
        <p:grpSpPr>
          <a:xfrm>
            <a:off x="9405623" y="7668263"/>
            <a:ext cx="153419" cy="2128523"/>
            <a:chOff x="0" y="0"/>
            <a:chExt cx="204559" cy="2838031"/>
          </a:xfrm>
        </p:grpSpPr>
        <p:sp>
          <p:nvSpPr>
            <p:cNvPr id="117" name="Freeform 117"/>
            <p:cNvSpPr/>
            <p:nvPr/>
          </p:nvSpPr>
          <p:spPr>
            <a:xfrm>
              <a:off x="16891" y="16891"/>
              <a:ext cx="170688" cy="2804160"/>
            </a:xfrm>
            <a:custGeom>
              <a:avLst/>
              <a:gdLst/>
              <a:ahLst/>
              <a:cxnLst/>
              <a:rect l="l" t="t" r="r" b="b"/>
              <a:pathLst>
                <a:path w="170688" h="2804160">
                  <a:moveTo>
                    <a:pt x="0" y="0"/>
                  </a:moveTo>
                  <a:lnTo>
                    <a:pt x="170688" y="0"/>
                  </a:lnTo>
                  <a:lnTo>
                    <a:pt x="170688" y="2804160"/>
                  </a:lnTo>
                  <a:lnTo>
                    <a:pt x="0" y="2804160"/>
                  </a:lnTo>
                  <a:close/>
                </a:path>
              </a:pathLst>
            </a:custGeom>
            <a:solidFill>
              <a:srgbClr val="C9A96E"/>
            </a:solidFill>
          </p:spPr>
        </p:sp>
        <p:sp>
          <p:nvSpPr>
            <p:cNvPr id="118" name="Freeform 118"/>
            <p:cNvSpPr/>
            <p:nvPr/>
          </p:nvSpPr>
          <p:spPr>
            <a:xfrm>
              <a:off x="0" y="0"/>
              <a:ext cx="204470" cy="2837942"/>
            </a:xfrm>
            <a:custGeom>
              <a:avLst/>
              <a:gdLst/>
              <a:ahLst/>
              <a:cxnLst/>
              <a:rect l="l" t="t" r="r" b="b"/>
              <a:pathLst>
                <a:path w="204470" h="2837942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2821051"/>
                  </a:lnTo>
                  <a:cubicBezTo>
                    <a:pt x="204470" y="2830449"/>
                    <a:pt x="196850" y="2837942"/>
                    <a:pt x="187579" y="2837942"/>
                  </a:cubicBezTo>
                  <a:lnTo>
                    <a:pt x="16891" y="2837942"/>
                  </a:lnTo>
                  <a:cubicBezTo>
                    <a:pt x="7493" y="2837942"/>
                    <a:pt x="0" y="2830322"/>
                    <a:pt x="0" y="28210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821051"/>
                  </a:lnTo>
                  <a:lnTo>
                    <a:pt x="16891" y="2821051"/>
                  </a:lnTo>
                  <a:lnTo>
                    <a:pt x="16891" y="2804160"/>
                  </a:lnTo>
                  <a:lnTo>
                    <a:pt x="187579" y="2804160"/>
                  </a:lnTo>
                  <a:lnTo>
                    <a:pt x="187579" y="2821051"/>
                  </a:lnTo>
                  <a:lnTo>
                    <a:pt x="170688" y="282105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9A96E"/>
            </a:solidFill>
          </p:spPr>
        </p:sp>
      </p:grpSp>
      <p:grpSp>
        <p:nvGrpSpPr>
          <p:cNvPr id="119" name="Group 119"/>
          <p:cNvGrpSpPr/>
          <p:nvPr/>
        </p:nvGrpSpPr>
        <p:grpSpPr>
          <a:xfrm>
            <a:off x="9692640" y="7863840"/>
            <a:ext cx="2560320" cy="1371600"/>
            <a:chOff x="0" y="0"/>
            <a:chExt cx="3413760" cy="1828800"/>
          </a:xfrm>
        </p:grpSpPr>
        <p:sp>
          <p:nvSpPr>
            <p:cNvPr id="120" name="Freeform 120"/>
            <p:cNvSpPr/>
            <p:nvPr/>
          </p:nvSpPr>
          <p:spPr>
            <a:xfrm>
              <a:off x="0" y="0"/>
              <a:ext cx="3413760" cy="1828800"/>
            </a:xfrm>
            <a:custGeom>
              <a:avLst/>
              <a:gdLst/>
              <a:ahLst/>
              <a:cxnLst/>
              <a:rect l="l" t="t" r="r" b="b"/>
              <a:pathLst>
                <a:path w="3413760" h="1828800">
                  <a:moveTo>
                    <a:pt x="0" y="0"/>
                  </a:moveTo>
                  <a:lnTo>
                    <a:pt x="3413760" y="0"/>
                  </a:lnTo>
                  <a:lnTo>
                    <a:pt x="341376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734" r="-18734"/>
              </a:stretch>
            </a:blipFill>
          </p:spPr>
        </p:sp>
        <p:sp>
          <p:nvSpPr>
            <p:cNvPr id="121" name="TextBox 121"/>
            <p:cNvSpPr txBox="1"/>
            <p:nvPr/>
          </p:nvSpPr>
          <p:spPr>
            <a:xfrm>
              <a:off x="0" y="-57150"/>
              <a:ext cx="3413760" cy="18859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99"/>
                </a:lnSpc>
              </a:pPr>
              <a:r>
                <a:rPr lang="en-US" sz="2999" b="1">
                  <a:solidFill>
                    <a:srgbClr val="C9A96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DUAL-HEAD</a:t>
              </a:r>
            </a:p>
            <a:p>
              <a:pPr algn="l">
                <a:lnSpc>
                  <a:spcPts val="3599"/>
                </a:lnSpc>
              </a:pPr>
              <a:r>
                <a:rPr lang="en-US" sz="2999" b="1">
                  <a:solidFill>
                    <a:srgbClr val="C9A96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SHARED LSTM</a:t>
              </a:r>
            </a:p>
          </p:txBody>
        </p:sp>
      </p:grpSp>
      <p:grpSp>
        <p:nvGrpSpPr>
          <p:cNvPr id="122" name="Group 122"/>
          <p:cNvGrpSpPr/>
          <p:nvPr/>
        </p:nvGrpSpPr>
        <p:grpSpPr>
          <a:xfrm>
            <a:off x="12344400" y="7900416"/>
            <a:ext cx="4937760" cy="1645920"/>
            <a:chOff x="0" y="0"/>
            <a:chExt cx="6583680" cy="2194560"/>
          </a:xfrm>
        </p:grpSpPr>
        <p:sp>
          <p:nvSpPr>
            <p:cNvPr id="123" name="Freeform 123"/>
            <p:cNvSpPr/>
            <p:nvPr/>
          </p:nvSpPr>
          <p:spPr>
            <a:xfrm>
              <a:off x="0" y="0"/>
              <a:ext cx="6583680" cy="2194560"/>
            </a:xfrm>
            <a:custGeom>
              <a:avLst/>
              <a:gdLst/>
              <a:ahLst/>
              <a:cxnLst/>
              <a:rect l="l" t="t" r="r" b="b"/>
              <a:pathLst>
                <a:path w="6583680" h="2194560">
                  <a:moveTo>
                    <a:pt x="0" y="0"/>
                  </a:moveTo>
                  <a:lnTo>
                    <a:pt x="6583680" y="0"/>
                  </a:lnTo>
                  <a:lnTo>
                    <a:pt x="658368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455" b="-8455"/>
              </a:stretch>
            </a:blipFill>
          </p:spPr>
        </p:sp>
        <p:sp>
          <p:nvSpPr>
            <p:cNvPr id="124" name="TextBox 124"/>
            <p:cNvSpPr txBox="1"/>
            <p:nvPr/>
          </p:nvSpPr>
          <p:spPr>
            <a:xfrm>
              <a:off x="0" y="-133350"/>
              <a:ext cx="6583680" cy="23279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031"/>
                </a:lnSpc>
              </a:pPr>
              <a:r>
                <a:rPr lang="en-US" sz="2799">
                  <a:solidFill>
                    <a:srgbClr val="B0B0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Single model, two tasks</a:t>
              </a:r>
            </a:p>
            <a:p>
              <a:pPr algn="ctr">
                <a:lnSpc>
                  <a:spcPts val="4031"/>
                </a:lnSpc>
              </a:pPr>
              <a:r>
                <a:rPr lang="en-US" sz="2799">
                  <a:solidFill>
                    <a:srgbClr val="B0B0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Joint loss optimization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18313403" cy="1854203"/>
            <a:chOff x="0" y="0"/>
            <a:chExt cx="24417871" cy="2472271"/>
          </a:xfrm>
        </p:grpSpPr>
        <p:sp>
          <p:nvSpPr>
            <p:cNvPr id="3" name="Freeform 3"/>
            <p:cNvSpPr/>
            <p:nvPr/>
          </p:nvSpPr>
          <p:spPr>
            <a:xfrm>
              <a:off x="16891" y="16891"/>
              <a:ext cx="24383999" cy="2438400"/>
            </a:xfrm>
            <a:custGeom>
              <a:avLst/>
              <a:gdLst/>
              <a:ahLst/>
              <a:cxnLst/>
              <a:rect l="l" t="t" r="r" b="b"/>
              <a:pathLst>
                <a:path w="24383999" h="2438400">
                  <a:moveTo>
                    <a:pt x="0" y="0"/>
                  </a:moveTo>
                  <a:lnTo>
                    <a:pt x="24383999" y="0"/>
                  </a:lnTo>
                  <a:lnTo>
                    <a:pt x="24383999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5A0D1E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24417782" cy="2472182"/>
            </a:xfrm>
            <a:custGeom>
              <a:avLst/>
              <a:gdLst/>
              <a:ahLst/>
              <a:cxnLst/>
              <a:rect l="l" t="t" r="r" b="b"/>
              <a:pathLst>
                <a:path w="24417782" h="24721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455291"/>
                  </a:lnTo>
                  <a:cubicBezTo>
                    <a:pt x="24417782" y="2464689"/>
                    <a:pt x="24410163" y="2472182"/>
                    <a:pt x="24400890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24400890" y="2438400"/>
                  </a:lnTo>
                  <a:lnTo>
                    <a:pt x="24400890" y="2455291"/>
                  </a:lnTo>
                  <a:lnTo>
                    <a:pt x="24384000" y="245529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5A0D1E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731520" y="146304"/>
            <a:ext cx="16459200" cy="1097280"/>
            <a:chOff x="0" y="0"/>
            <a:chExt cx="21945600" cy="146304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945600" cy="1463040"/>
            </a:xfrm>
            <a:custGeom>
              <a:avLst/>
              <a:gdLst/>
              <a:ahLst/>
              <a:cxnLst/>
              <a:rect l="l" t="t" r="r" b="b"/>
              <a:pathLst>
                <a:path w="21945600" h="146304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2275" b="-242275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21945600" cy="14725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240"/>
                </a:lnSpc>
              </a:pPr>
              <a:r>
                <a:rPr lang="en-US" sz="5200" b="1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Gradio — Live Detection Interface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6093440" y="146304"/>
            <a:ext cx="1463040" cy="1097280"/>
            <a:chOff x="0" y="0"/>
            <a:chExt cx="1950720" cy="14630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950720" cy="1463040"/>
            </a:xfrm>
            <a:custGeom>
              <a:avLst/>
              <a:gdLst/>
              <a:ahLst/>
              <a:cxnLst/>
              <a:rect l="l" t="t" r="r" b="b"/>
              <a:pathLst>
                <a:path w="1950720" h="1463040">
                  <a:moveTo>
                    <a:pt x="0" y="0"/>
                  </a:moveTo>
                  <a:lnTo>
                    <a:pt x="1950720" y="0"/>
                  </a:lnTo>
                  <a:lnTo>
                    <a:pt x="19507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r="-46227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1950720" cy="14820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4800"/>
                </a:lnSpc>
              </a:pPr>
              <a:r>
                <a:rPr lang="en-US" sz="4000" b="1">
                  <a:solidFill>
                    <a:srgbClr val="C9A96E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08</a:t>
              </a:r>
            </a:p>
          </p:txBody>
        </p:sp>
      </p:grpSp>
      <p:sp>
        <p:nvSpPr>
          <p:cNvPr id="11" name="Freeform 11"/>
          <p:cNvSpPr/>
          <p:nvPr/>
        </p:nvSpPr>
        <p:spPr>
          <a:xfrm>
            <a:off x="183790" y="2038066"/>
            <a:ext cx="17920420" cy="7220234"/>
          </a:xfrm>
          <a:custGeom>
            <a:avLst/>
            <a:gdLst/>
            <a:ahLst/>
            <a:cxnLst/>
            <a:rect l="l" t="t" r="r" b="b"/>
            <a:pathLst>
              <a:path w="17920420" h="7220234">
                <a:moveTo>
                  <a:pt x="0" y="0"/>
                </a:moveTo>
                <a:lnTo>
                  <a:pt x="17920420" y="0"/>
                </a:lnTo>
                <a:lnTo>
                  <a:pt x="17920420" y="7220234"/>
                </a:lnTo>
                <a:lnTo>
                  <a:pt x="0" y="72202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897" t="-5479" r="-5151"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18313403" cy="1854203"/>
            <a:chOff x="0" y="0"/>
            <a:chExt cx="24417871" cy="2472271"/>
          </a:xfrm>
        </p:grpSpPr>
        <p:sp>
          <p:nvSpPr>
            <p:cNvPr id="3" name="Freeform 3"/>
            <p:cNvSpPr/>
            <p:nvPr/>
          </p:nvSpPr>
          <p:spPr>
            <a:xfrm>
              <a:off x="16891" y="16891"/>
              <a:ext cx="24383999" cy="2438400"/>
            </a:xfrm>
            <a:custGeom>
              <a:avLst/>
              <a:gdLst/>
              <a:ahLst/>
              <a:cxnLst/>
              <a:rect l="l" t="t" r="r" b="b"/>
              <a:pathLst>
                <a:path w="24383999" h="2438400">
                  <a:moveTo>
                    <a:pt x="0" y="0"/>
                  </a:moveTo>
                  <a:lnTo>
                    <a:pt x="24383999" y="0"/>
                  </a:lnTo>
                  <a:lnTo>
                    <a:pt x="24383999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5A0D1E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24417782" cy="2472182"/>
            </a:xfrm>
            <a:custGeom>
              <a:avLst/>
              <a:gdLst/>
              <a:ahLst/>
              <a:cxnLst/>
              <a:rect l="l" t="t" r="r" b="b"/>
              <a:pathLst>
                <a:path w="24417782" h="24721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455291"/>
                  </a:lnTo>
                  <a:cubicBezTo>
                    <a:pt x="24417782" y="2464689"/>
                    <a:pt x="24410163" y="2472182"/>
                    <a:pt x="24400890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24400890" y="2438400"/>
                  </a:lnTo>
                  <a:lnTo>
                    <a:pt x="24400890" y="2455291"/>
                  </a:lnTo>
                  <a:lnTo>
                    <a:pt x="24384000" y="245529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5A0D1E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731520" y="146304"/>
            <a:ext cx="16459200" cy="1213643"/>
            <a:chOff x="0" y="0"/>
            <a:chExt cx="21945600" cy="161819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945600" cy="1618190"/>
            </a:xfrm>
            <a:custGeom>
              <a:avLst/>
              <a:gdLst/>
              <a:ahLst/>
              <a:cxnLst/>
              <a:rect l="l" t="t" r="r" b="b"/>
              <a:pathLst>
                <a:path w="21945600" h="1618190">
                  <a:moveTo>
                    <a:pt x="0" y="0"/>
                  </a:moveTo>
                  <a:lnTo>
                    <a:pt x="21945600" y="0"/>
                  </a:lnTo>
                  <a:lnTo>
                    <a:pt x="21945600" y="1618190"/>
                  </a:lnTo>
                  <a:lnTo>
                    <a:pt x="0" y="161819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9046" b="-209458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21945600" cy="16181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679"/>
                </a:lnSpc>
              </a:pPr>
              <a:r>
                <a:rPr lang="en-US" sz="6399" b="1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Conclusion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6093440" y="146304"/>
            <a:ext cx="1463040" cy="1097280"/>
            <a:chOff x="0" y="0"/>
            <a:chExt cx="1950720" cy="14630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950720" cy="1463040"/>
            </a:xfrm>
            <a:custGeom>
              <a:avLst/>
              <a:gdLst/>
              <a:ahLst/>
              <a:cxnLst/>
              <a:rect l="l" t="t" r="r" b="b"/>
              <a:pathLst>
                <a:path w="1950720" h="1463040">
                  <a:moveTo>
                    <a:pt x="0" y="0"/>
                  </a:moveTo>
                  <a:lnTo>
                    <a:pt x="1950720" y="0"/>
                  </a:lnTo>
                  <a:lnTo>
                    <a:pt x="19507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r="-46227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1950720" cy="14820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4800"/>
                </a:lnSpc>
              </a:pPr>
              <a:r>
                <a:rPr lang="en-US" sz="4000" b="1">
                  <a:solidFill>
                    <a:srgbClr val="C9A96E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09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29917" y="2147821"/>
            <a:ext cx="17028157" cy="1373629"/>
            <a:chOff x="0" y="0"/>
            <a:chExt cx="22704209" cy="1831505"/>
          </a:xfrm>
        </p:grpSpPr>
        <p:sp>
          <p:nvSpPr>
            <p:cNvPr id="12" name="Freeform 12"/>
            <p:cNvSpPr/>
            <p:nvPr/>
          </p:nvSpPr>
          <p:spPr>
            <a:xfrm>
              <a:off x="13589" y="13589"/>
              <a:ext cx="22677119" cy="1804416"/>
            </a:xfrm>
            <a:custGeom>
              <a:avLst/>
              <a:gdLst/>
              <a:ahLst/>
              <a:cxnLst/>
              <a:rect l="l" t="t" r="r" b="b"/>
              <a:pathLst>
                <a:path w="22677119" h="1804416">
                  <a:moveTo>
                    <a:pt x="0" y="0"/>
                  </a:moveTo>
                  <a:lnTo>
                    <a:pt x="22677119" y="0"/>
                  </a:lnTo>
                  <a:lnTo>
                    <a:pt x="22677119" y="1804416"/>
                  </a:lnTo>
                  <a:lnTo>
                    <a:pt x="0" y="1804416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0" y="0"/>
              <a:ext cx="22704298" cy="1831594"/>
            </a:xfrm>
            <a:custGeom>
              <a:avLst/>
              <a:gdLst/>
              <a:ahLst/>
              <a:cxnLst/>
              <a:rect l="l" t="t" r="r" b="b"/>
              <a:pathLst>
                <a:path w="22704298" h="1831594">
                  <a:moveTo>
                    <a:pt x="13589" y="0"/>
                  </a:moveTo>
                  <a:lnTo>
                    <a:pt x="22690708" y="0"/>
                  </a:lnTo>
                  <a:cubicBezTo>
                    <a:pt x="22698202" y="0"/>
                    <a:pt x="22704298" y="6096"/>
                    <a:pt x="22704298" y="13589"/>
                  </a:cubicBezTo>
                  <a:lnTo>
                    <a:pt x="22704298" y="1818005"/>
                  </a:lnTo>
                  <a:cubicBezTo>
                    <a:pt x="22704298" y="1825498"/>
                    <a:pt x="22698202" y="1831594"/>
                    <a:pt x="22690708" y="1831594"/>
                  </a:cubicBezTo>
                  <a:lnTo>
                    <a:pt x="13589" y="1831594"/>
                  </a:lnTo>
                  <a:cubicBezTo>
                    <a:pt x="6096" y="1831594"/>
                    <a:pt x="0" y="1825498"/>
                    <a:pt x="0" y="1818005"/>
                  </a:cubicBezTo>
                  <a:lnTo>
                    <a:pt x="0" y="13589"/>
                  </a:lnTo>
                  <a:cubicBezTo>
                    <a:pt x="0" y="6096"/>
                    <a:pt x="6096" y="0"/>
                    <a:pt x="13589" y="0"/>
                  </a:cubicBezTo>
                  <a:moveTo>
                    <a:pt x="13589" y="27051"/>
                  </a:moveTo>
                  <a:lnTo>
                    <a:pt x="13589" y="13589"/>
                  </a:lnTo>
                  <a:lnTo>
                    <a:pt x="27051" y="13589"/>
                  </a:lnTo>
                  <a:lnTo>
                    <a:pt x="27051" y="1818005"/>
                  </a:lnTo>
                  <a:lnTo>
                    <a:pt x="13589" y="1818005"/>
                  </a:lnTo>
                  <a:lnTo>
                    <a:pt x="13589" y="1804416"/>
                  </a:lnTo>
                  <a:lnTo>
                    <a:pt x="22690708" y="1804416"/>
                  </a:lnTo>
                  <a:lnTo>
                    <a:pt x="22690708" y="1818005"/>
                  </a:lnTo>
                  <a:lnTo>
                    <a:pt x="22677120" y="1818005"/>
                  </a:lnTo>
                  <a:lnTo>
                    <a:pt x="22677120" y="13589"/>
                  </a:lnTo>
                  <a:lnTo>
                    <a:pt x="22690708" y="13589"/>
                  </a:lnTo>
                  <a:lnTo>
                    <a:pt x="22690708" y="27051"/>
                  </a:lnTo>
                  <a:lnTo>
                    <a:pt x="13589" y="27051"/>
                  </a:lnTo>
                  <a:close/>
                </a:path>
              </a:pathLst>
            </a:custGeom>
            <a:solidFill>
              <a:srgbClr val="7B1C2E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627383" y="2145287"/>
            <a:ext cx="153419" cy="1378715"/>
            <a:chOff x="0" y="0"/>
            <a:chExt cx="204559" cy="1838287"/>
          </a:xfrm>
        </p:grpSpPr>
        <p:sp>
          <p:nvSpPr>
            <p:cNvPr id="15" name="Freeform 15"/>
            <p:cNvSpPr/>
            <p:nvPr/>
          </p:nvSpPr>
          <p:spPr>
            <a:xfrm>
              <a:off x="16891" y="16891"/>
              <a:ext cx="170688" cy="1804416"/>
            </a:xfrm>
            <a:custGeom>
              <a:avLst/>
              <a:gdLst/>
              <a:ahLst/>
              <a:cxnLst/>
              <a:rect l="l" t="t" r="r" b="b"/>
              <a:pathLst>
                <a:path w="170688" h="1804416">
                  <a:moveTo>
                    <a:pt x="0" y="0"/>
                  </a:moveTo>
                  <a:lnTo>
                    <a:pt x="170688" y="0"/>
                  </a:lnTo>
                  <a:lnTo>
                    <a:pt x="170688" y="1804416"/>
                  </a:lnTo>
                  <a:lnTo>
                    <a:pt x="0" y="1804416"/>
                  </a:lnTo>
                  <a:close/>
                </a:path>
              </a:pathLst>
            </a:custGeom>
            <a:solidFill>
              <a:srgbClr val="C9A96E"/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0" y="0"/>
              <a:ext cx="204470" cy="1838198"/>
            </a:xfrm>
            <a:custGeom>
              <a:avLst/>
              <a:gdLst/>
              <a:ahLst/>
              <a:cxnLst/>
              <a:rect l="l" t="t" r="r" b="b"/>
              <a:pathLst>
                <a:path w="204470" h="1838198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1821307"/>
                  </a:lnTo>
                  <a:cubicBezTo>
                    <a:pt x="204470" y="1830705"/>
                    <a:pt x="196850" y="1838198"/>
                    <a:pt x="187579" y="1838198"/>
                  </a:cubicBezTo>
                  <a:lnTo>
                    <a:pt x="16891" y="1838198"/>
                  </a:lnTo>
                  <a:cubicBezTo>
                    <a:pt x="7493" y="1838198"/>
                    <a:pt x="0" y="1830578"/>
                    <a:pt x="0" y="182130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21307"/>
                  </a:lnTo>
                  <a:lnTo>
                    <a:pt x="16891" y="1821307"/>
                  </a:lnTo>
                  <a:lnTo>
                    <a:pt x="16891" y="1804416"/>
                  </a:lnTo>
                  <a:lnTo>
                    <a:pt x="187579" y="1804416"/>
                  </a:lnTo>
                  <a:lnTo>
                    <a:pt x="187579" y="1821307"/>
                  </a:lnTo>
                  <a:lnTo>
                    <a:pt x="170688" y="1821307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9A96E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1005840" y="2249424"/>
            <a:ext cx="4754880" cy="640080"/>
            <a:chOff x="0" y="0"/>
            <a:chExt cx="6339840" cy="85344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339840" cy="853440"/>
            </a:xfrm>
            <a:custGeom>
              <a:avLst/>
              <a:gdLst/>
              <a:ahLst/>
              <a:cxnLst/>
              <a:rect l="l" t="t" r="r" b="b"/>
              <a:pathLst>
                <a:path w="6339840" h="853440">
                  <a:moveTo>
                    <a:pt x="0" y="0"/>
                  </a:moveTo>
                  <a:lnTo>
                    <a:pt x="6339840" y="0"/>
                  </a:lnTo>
                  <a:lnTo>
                    <a:pt x="63398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4745" b="-94745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57150"/>
              <a:ext cx="6339840" cy="9105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39"/>
                </a:lnSpc>
              </a:pPr>
              <a:r>
                <a:rPr lang="en-US" sz="2699" b="1">
                  <a:solidFill>
                    <a:srgbClr val="C9A96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🧠  DEEP LEARNING FOR NLP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852160" y="2304288"/>
            <a:ext cx="11521440" cy="1024128"/>
            <a:chOff x="0" y="0"/>
            <a:chExt cx="15361920" cy="1365504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5361920" cy="1365504"/>
            </a:xfrm>
            <a:custGeom>
              <a:avLst/>
              <a:gdLst/>
              <a:ahLst/>
              <a:cxnLst/>
              <a:rect l="l" t="t" r="r" b="b"/>
              <a:pathLst>
                <a:path w="15361920" h="1365504">
                  <a:moveTo>
                    <a:pt x="0" y="0"/>
                  </a:moveTo>
                  <a:lnTo>
                    <a:pt x="15361920" y="0"/>
                  </a:lnTo>
                  <a:lnTo>
                    <a:pt x="15361920" y="1365504"/>
                  </a:lnTo>
                  <a:lnTo>
                    <a:pt x="0" y="1365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9206" b="-169206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-57150"/>
              <a:ext cx="15361920" cy="142265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39"/>
                </a:lnSpc>
              </a:pPr>
              <a:r>
                <a:rPr lang="en-US" sz="2699">
                  <a:solidFill>
                    <a:srgbClr val="B0B0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LSTM-based architecture successfully handles sequential text data for psychological manipulation detection.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29917" y="3684013"/>
            <a:ext cx="17028157" cy="1373629"/>
            <a:chOff x="0" y="0"/>
            <a:chExt cx="22704209" cy="1831505"/>
          </a:xfrm>
        </p:grpSpPr>
        <p:sp>
          <p:nvSpPr>
            <p:cNvPr id="24" name="Freeform 24"/>
            <p:cNvSpPr/>
            <p:nvPr/>
          </p:nvSpPr>
          <p:spPr>
            <a:xfrm>
              <a:off x="13589" y="13589"/>
              <a:ext cx="22677119" cy="1804416"/>
            </a:xfrm>
            <a:custGeom>
              <a:avLst/>
              <a:gdLst/>
              <a:ahLst/>
              <a:cxnLst/>
              <a:rect l="l" t="t" r="r" b="b"/>
              <a:pathLst>
                <a:path w="22677119" h="1804416">
                  <a:moveTo>
                    <a:pt x="0" y="0"/>
                  </a:moveTo>
                  <a:lnTo>
                    <a:pt x="22677119" y="0"/>
                  </a:lnTo>
                  <a:lnTo>
                    <a:pt x="22677119" y="1804416"/>
                  </a:lnTo>
                  <a:lnTo>
                    <a:pt x="0" y="1804416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id="25" name="Freeform 25"/>
            <p:cNvSpPr/>
            <p:nvPr/>
          </p:nvSpPr>
          <p:spPr>
            <a:xfrm>
              <a:off x="0" y="0"/>
              <a:ext cx="22704298" cy="1831594"/>
            </a:xfrm>
            <a:custGeom>
              <a:avLst/>
              <a:gdLst/>
              <a:ahLst/>
              <a:cxnLst/>
              <a:rect l="l" t="t" r="r" b="b"/>
              <a:pathLst>
                <a:path w="22704298" h="1831594">
                  <a:moveTo>
                    <a:pt x="13589" y="0"/>
                  </a:moveTo>
                  <a:lnTo>
                    <a:pt x="22690708" y="0"/>
                  </a:lnTo>
                  <a:cubicBezTo>
                    <a:pt x="22698202" y="0"/>
                    <a:pt x="22704298" y="6096"/>
                    <a:pt x="22704298" y="13589"/>
                  </a:cubicBezTo>
                  <a:lnTo>
                    <a:pt x="22704298" y="1818005"/>
                  </a:lnTo>
                  <a:cubicBezTo>
                    <a:pt x="22704298" y="1825498"/>
                    <a:pt x="22698202" y="1831594"/>
                    <a:pt x="22690708" y="1831594"/>
                  </a:cubicBezTo>
                  <a:lnTo>
                    <a:pt x="13589" y="1831594"/>
                  </a:lnTo>
                  <a:cubicBezTo>
                    <a:pt x="6096" y="1831594"/>
                    <a:pt x="0" y="1825498"/>
                    <a:pt x="0" y="1818005"/>
                  </a:cubicBezTo>
                  <a:lnTo>
                    <a:pt x="0" y="13589"/>
                  </a:lnTo>
                  <a:cubicBezTo>
                    <a:pt x="0" y="6096"/>
                    <a:pt x="6096" y="0"/>
                    <a:pt x="13589" y="0"/>
                  </a:cubicBezTo>
                  <a:moveTo>
                    <a:pt x="13589" y="27051"/>
                  </a:moveTo>
                  <a:lnTo>
                    <a:pt x="13589" y="13589"/>
                  </a:lnTo>
                  <a:lnTo>
                    <a:pt x="27051" y="13589"/>
                  </a:lnTo>
                  <a:lnTo>
                    <a:pt x="27051" y="1818005"/>
                  </a:lnTo>
                  <a:lnTo>
                    <a:pt x="13589" y="1818005"/>
                  </a:lnTo>
                  <a:lnTo>
                    <a:pt x="13589" y="1804416"/>
                  </a:lnTo>
                  <a:lnTo>
                    <a:pt x="22690708" y="1804416"/>
                  </a:lnTo>
                  <a:lnTo>
                    <a:pt x="22690708" y="1818005"/>
                  </a:lnTo>
                  <a:lnTo>
                    <a:pt x="22677120" y="1818005"/>
                  </a:lnTo>
                  <a:lnTo>
                    <a:pt x="22677120" y="13589"/>
                  </a:lnTo>
                  <a:lnTo>
                    <a:pt x="22690708" y="13589"/>
                  </a:lnTo>
                  <a:lnTo>
                    <a:pt x="22690708" y="27051"/>
                  </a:lnTo>
                  <a:lnTo>
                    <a:pt x="13589" y="27051"/>
                  </a:lnTo>
                  <a:close/>
                </a:path>
              </a:pathLst>
            </a:custGeom>
            <a:solidFill>
              <a:srgbClr val="2E2E2E"/>
            </a:solidFill>
          </p:spPr>
        </p:sp>
      </p:grpSp>
      <p:grpSp>
        <p:nvGrpSpPr>
          <p:cNvPr id="26" name="Group 26"/>
          <p:cNvGrpSpPr/>
          <p:nvPr/>
        </p:nvGrpSpPr>
        <p:grpSpPr>
          <a:xfrm>
            <a:off x="627383" y="3681479"/>
            <a:ext cx="153419" cy="1378715"/>
            <a:chOff x="0" y="0"/>
            <a:chExt cx="204559" cy="1838287"/>
          </a:xfrm>
        </p:grpSpPr>
        <p:sp>
          <p:nvSpPr>
            <p:cNvPr id="27" name="Freeform 27"/>
            <p:cNvSpPr/>
            <p:nvPr/>
          </p:nvSpPr>
          <p:spPr>
            <a:xfrm>
              <a:off x="16891" y="16891"/>
              <a:ext cx="170688" cy="1804416"/>
            </a:xfrm>
            <a:custGeom>
              <a:avLst/>
              <a:gdLst/>
              <a:ahLst/>
              <a:cxnLst/>
              <a:rect l="l" t="t" r="r" b="b"/>
              <a:pathLst>
                <a:path w="170688" h="1804416">
                  <a:moveTo>
                    <a:pt x="0" y="0"/>
                  </a:moveTo>
                  <a:lnTo>
                    <a:pt x="170688" y="0"/>
                  </a:lnTo>
                  <a:lnTo>
                    <a:pt x="170688" y="1804416"/>
                  </a:lnTo>
                  <a:lnTo>
                    <a:pt x="0" y="1804416"/>
                  </a:lnTo>
                  <a:close/>
                </a:path>
              </a:pathLst>
            </a:custGeom>
            <a:solidFill>
              <a:srgbClr val="C9A96E"/>
            </a:solidFill>
          </p:spPr>
        </p:sp>
        <p:sp>
          <p:nvSpPr>
            <p:cNvPr id="28" name="Freeform 28"/>
            <p:cNvSpPr/>
            <p:nvPr/>
          </p:nvSpPr>
          <p:spPr>
            <a:xfrm>
              <a:off x="0" y="0"/>
              <a:ext cx="204470" cy="1838198"/>
            </a:xfrm>
            <a:custGeom>
              <a:avLst/>
              <a:gdLst/>
              <a:ahLst/>
              <a:cxnLst/>
              <a:rect l="l" t="t" r="r" b="b"/>
              <a:pathLst>
                <a:path w="204470" h="1838198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1821307"/>
                  </a:lnTo>
                  <a:cubicBezTo>
                    <a:pt x="204470" y="1830705"/>
                    <a:pt x="196850" y="1838198"/>
                    <a:pt x="187579" y="1838198"/>
                  </a:cubicBezTo>
                  <a:lnTo>
                    <a:pt x="16891" y="1838198"/>
                  </a:lnTo>
                  <a:cubicBezTo>
                    <a:pt x="7493" y="1838198"/>
                    <a:pt x="0" y="1830578"/>
                    <a:pt x="0" y="182130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21307"/>
                  </a:lnTo>
                  <a:lnTo>
                    <a:pt x="16891" y="1821307"/>
                  </a:lnTo>
                  <a:lnTo>
                    <a:pt x="16891" y="1804416"/>
                  </a:lnTo>
                  <a:lnTo>
                    <a:pt x="187579" y="1804416"/>
                  </a:lnTo>
                  <a:lnTo>
                    <a:pt x="187579" y="1821307"/>
                  </a:lnTo>
                  <a:lnTo>
                    <a:pt x="170688" y="1821307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9A96E"/>
            </a:solidFill>
          </p:spPr>
        </p:sp>
      </p:grpSp>
      <p:grpSp>
        <p:nvGrpSpPr>
          <p:cNvPr id="29" name="Group 29"/>
          <p:cNvGrpSpPr/>
          <p:nvPr/>
        </p:nvGrpSpPr>
        <p:grpSpPr>
          <a:xfrm>
            <a:off x="1005840" y="3785616"/>
            <a:ext cx="4754880" cy="640080"/>
            <a:chOff x="0" y="0"/>
            <a:chExt cx="6339840" cy="85344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6339840" cy="853440"/>
            </a:xfrm>
            <a:custGeom>
              <a:avLst/>
              <a:gdLst/>
              <a:ahLst/>
              <a:cxnLst/>
              <a:rect l="l" t="t" r="r" b="b"/>
              <a:pathLst>
                <a:path w="6339840" h="853440">
                  <a:moveTo>
                    <a:pt x="0" y="0"/>
                  </a:moveTo>
                  <a:lnTo>
                    <a:pt x="6339840" y="0"/>
                  </a:lnTo>
                  <a:lnTo>
                    <a:pt x="63398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4745" b="-94745"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0" y="-57150"/>
              <a:ext cx="6339840" cy="9105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39"/>
                </a:lnSpc>
              </a:pPr>
              <a:r>
                <a:rPr lang="en-US" sz="2699" b="1">
                  <a:solidFill>
                    <a:srgbClr val="C9A96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🎯  DUAL-OUTPUT DESIGN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852160" y="3840480"/>
            <a:ext cx="11521440" cy="1024128"/>
            <a:chOff x="0" y="0"/>
            <a:chExt cx="15361920" cy="1365504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5361920" cy="1365504"/>
            </a:xfrm>
            <a:custGeom>
              <a:avLst/>
              <a:gdLst/>
              <a:ahLst/>
              <a:cxnLst/>
              <a:rect l="l" t="t" r="r" b="b"/>
              <a:pathLst>
                <a:path w="15361920" h="1365504">
                  <a:moveTo>
                    <a:pt x="0" y="0"/>
                  </a:moveTo>
                  <a:lnTo>
                    <a:pt x="15361920" y="0"/>
                  </a:lnTo>
                  <a:lnTo>
                    <a:pt x="15361920" y="1365504"/>
                  </a:lnTo>
                  <a:lnTo>
                    <a:pt x="0" y="1365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9206" b="-169206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-57150"/>
              <a:ext cx="15361920" cy="142265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39"/>
                </a:lnSpc>
              </a:pPr>
              <a:r>
                <a:rPr lang="en-US" sz="2699">
                  <a:solidFill>
                    <a:srgbClr val="B0B0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multi-head model simultaneously performs binary detection and 6-class technique classification from shared features.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29917" y="5220205"/>
            <a:ext cx="17028157" cy="1373629"/>
            <a:chOff x="0" y="0"/>
            <a:chExt cx="22704209" cy="1831505"/>
          </a:xfrm>
        </p:grpSpPr>
        <p:sp>
          <p:nvSpPr>
            <p:cNvPr id="36" name="Freeform 36"/>
            <p:cNvSpPr/>
            <p:nvPr/>
          </p:nvSpPr>
          <p:spPr>
            <a:xfrm>
              <a:off x="13589" y="13589"/>
              <a:ext cx="22677119" cy="1804416"/>
            </a:xfrm>
            <a:custGeom>
              <a:avLst/>
              <a:gdLst/>
              <a:ahLst/>
              <a:cxnLst/>
              <a:rect l="l" t="t" r="r" b="b"/>
              <a:pathLst>
                <a:path w="22677119" h="1804416">
                  <a:moveTo>
                    <a:pt x="0" y="0"/>
                  </a:moveTo>
                  <a:lnTo>
                    <a:pt x="22677119" y="0"/>
                  </a:lnTo>
                  <a:lnTo>
                    <a:pt x="22677119" y="1804416"/>
                  </a:lnTo>
                  <a:lnTo>
                    <a:pt x="0" y="1804416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id="37" name="Freeform 37"/>
            <p:cNvSpPr/>
            <p:nvPr/>
          </p:nvSpPr>
          <p:spPr>
            <a:xfrm>
              <a:off x="0" y="0"/>
              <a:ext cx="22704298" cy="1831594"/>
            </a:xfrm>
            <a:custGeom>
              <a:avLst/>
              <a:gdLst/>
              <a:ahLst/>
              <a:cxnLst/>
              <a:rect l="l" t="t" r="r" b="b"/>
              <a:pathLst>
                <a:path w="22704298" h="1831594">
                  <a:moveTo>
                    <a:pt x="13589" y="0"/>
                  </a:moveTo>
                  <a:lnTo>
                    <a:pt x="22690708" y="0"/>
                  </a:lnTo>
                  <a:cubicBezTo>
                    <a:pt x="22698202" y="0"/>
                    <a:pt x="22704298" y="6096"/>
                    <a:pt x="22704298" y="13589"/>
                  </a:cubicBezTo>
                  <a:lnTo>
                    <a:pt x="22704298" y="1818005"/>
                  </a:lnTo>
                  <a:cubicBezTo>
                    <a:pt x="22704298" y="1825498"/>
                    <a:pt x="22698202" y="1831594"/>
                    <a:pt x="22690708" y="1831594"/>
                  </a:cubicBezTo>
                  <a:lnTo>
                    <a:pt x="13589" y="1831594"/>
                  </a:lnTo>
                  <a:cubicBezTo>
                    <a:pt x="6096" y="1831594"/>
                    <a:pt x="0" y="1825498"/>
                    <a:pt x="0" y="1818005"/>
                  </a:cubicBezTo>
                  <a:lnTo>
                    <a:pt x="0" y="13589"/>
                  </a:lnTo>
                  <a:cubicBezTo>
                    <a:pt x="0" y="6096"/>
                    <a:pt x="6096" y="0"/>
                    <a:pt x="13589" y="0"/>
                  </a:cubicBezTo>
                  <a:moveTo>
                    <a:pt x="13589" y="27051"/>
                  </a:moveTo>
                  <a:lnTo>
                    <a:pt x="13589" y="13589"/>
                  </a:lnTo>
                  <a:lnTo>
                    <a:pt x="27051" y="13589"/>
                  </a:lnTo>
                  <a:lnTo>
                    <a:pt x="27051" y="1818005"/>
                  </a:lnTo>
                  <a:lnTo>
                    <a:pt x="13589" y="1818005"/>
                  </a:lnTo>
                  <a:lnTo>
                    <a:pt x="13589" y="1804416"/>
                  </a:lnTo>
                  <a:lnTo>
                    <a:pt x="22690708" y="1804416"/>
                  </a:lnTo>
                  <a:lnTo>
                    <a:pt x="22690708" y="1818005"/>
                  </a:lnTo>
                  <a:lnTo>
                    <a:pt x="22677120" y="1818005"/>
                  </a:lnTo>
                  <a:lnTo>
                    <a:pt x="22677120" y="13589"/>
                  </a:lnTo>
                  <a:lnTo>
                    <a:pt x="22690708" y="13589"/>
                  </a:lnTo>
                  <a:lnTo>
                    <a:pt x="22690708" y="27051"/>
                  </a:lnTo>
                  <a:lnTo>
                    <a:pt x="13589" y="27051"/>
                  </a:lnTo>
                  <a:close/>
                </a:path>
              </a:pathLst>
            </a:custGeom>
            <a:solidFill>
              <a:srgbClr val="7B1C2E"/>
            </a:solidFill>
          </p:spPr>
        </p:sp>
      </p:grpSp>
      <p:grpSp>
        <p:nvGrpSpPr>
          <p:cNvPr id="38" name="Group 38"/>
          <p:cNvGrpSpPr/>
          <p:nvPr/>
        </p:nvGrpSpPr>
        <p:grpSpPr>
          <a:xfrm>
            <a:off x="627383" y="5217671"/>
            <a:ext cx="153419" cy="1378715"/>
            <a:chOff x="0" y="0"/>
            <a:chExt cx="204559" cy="1838287"/>
          </a:xfrm>
        </p:grpSpPr>
        <p:sp>
          <p:nvSpPr>
            <p:cNvPr id="39" name="Freeform 39"/>
            <p:cNvSpPr/>
            <p:nvPr/>
          </p:nvSpPr>
          <p:spPr>
            <a:xfrm>
              <a:off x="16891" y="16891"/>
              <a:ext cx="170688" cy="1804416"/>
            </a:xfrm>
            <a:custGeom>
              <a:avLst/>
              <a:gdLst/>
              <a:ahLst/>
              <a:cxnLst/>
              <a:rect l="l" t="t" r="r" b="b"/>
              <a:pathLst>
                <a:path w="170688" h="1804416">
                  <a:moveTo>
                    <a:pt x="0" y="0"/>
                  </a:moveTo>
                  <a:lnTo>
                    <a:pt x="170688" y="0"/>
                  </a:lnTo>
                  <a:lnTo>
                    <a:pt x="170688" y="1804416"/>
                  </a:lnTo>
                  <a:lnTo>
                    <a:pt x="0" y="1804416"/>
                  </a:lnTo>
                  <a:close/>
                </a:path>
              </a:pathLst>
            </a:custGeom>
            <a:solidFill>
              <a:srgbClr val="C9A96E"/>
            </a:solidFill>
          </p:spPr>
        </p:sp>
        <p:sp>
          <p:nvSpPr>
            <p:cNvPr id="40" name="Freeform 40"/>
            <p:cNvSpPr/>
            <p:nvPr/>
          </p:nvSpPr>
          <p:spPr>
            <a:xfrm>
              <a:off x="0" y="0"/>
              <a:ext cx="204470" cy="1838198"/>
            </a:xfrm>
            <a:custGeom>
              <a:avLst/>
              <a:gdLst/>
              <a:ahLst/>
              <a:cxnLst/>
              <a:rect l="l" t="t" r="r" b="b"/>
              <a:pathLst>
                <a:path w="204470" h="1838198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1821307"/>
                  </a:lnTo>
                  <a:cubicBezTo>
                    <a:pt x="204470" y="1830705"/>
                    <a:pt x="196850" y="1838198"/>
                    <a:pt x="187579" y="1838198"/>
                  </a:cubicBezTo>
                  <a:lnTo>
                    <a:pt x="16891" y="1838198"/>
                  </a:lnTo>
                  <a:cubicBezTo>
                    <a:pt x="7493" y="1838198"/>
                    <a:pt x="0" y="1830578"/>
                    <a:pt x="0" y="182130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21307"/>
                  </a:lnTo>
                  <a:lnTo>
                    <a:pt x="16891" y="1821307"/>
                  </a:lnTo>
                  <a:lnTo>
                    <a:pt x="16891" y="1804416"/>
                  </a:lnTo>
                  <a:lnTo>
                    <a:pt x="187579" y="1804416"/>
                  </a:lnTo>
                  <a:lnTo>
                    <a:pt x="187579" y="1821307"/>
                  </a:lnTo>
                  <a:lnTo>
                    <a:pt x="170688" y="1821307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9A96E"/>
            </a:solidFill>
          </p:spPr>
        </p:sp>
      </p:grpSp>
      <p:grpSp>
        <p:nvGrpSpPr>
          <p:cNvPr id="41" name="Group 41"/>
          <p:cNvGrpSpPr/>
          <p:nvPr/>
        </p:nvGrpSpPr>
        <p:grpSpPr>
          <a:xfrm>
            <a:off x="1005840" y="5321808"/>
            <a:ext cx="4754880" cy="640080"/>
            <a:chOff x="0" y="0"/>
            <a:chExt cx="6339840" cy="85344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6339840" cy="853440"/>
            </a:xfrm>
            <a:custGeom>
              <a:avLst/>
              <a:gdLst/>
              <a:ahLst/>
              <a:cxnLst/>
              <a:rect l="l" t="t" r="r" b="b"/>
              <a:pathLst>
                <a:path w="6339840" h="853440">
                  <a:moveTo>
                    <a:pt x="0" y="0"/>
                  </a:moveTo>
                  <a:lnTo>
                    <a:pt x="6339840" y="0"/>
                  </a:lnTo>
                  <a:lnTo>
                    <a:pt x="63398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4745" b="-94745"/>
              </a:stretch>
            </a:blipFill>
          </p:spPr>
        </p:sp>
        <p:sp>
          <p:nvSpPr>
            <p:cNvPr id="43" name="TextBox 43"/>
            <p:cNvSpPr txBox="1"/>
            <p:nvPr/>
          </p:nvSpPr>
          <p:spPr>
            <a:xfrm>
              <a:off x="0" y="-66675"/>
              <a:ext cx="6339840" cy="9201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 b="1">
                  <a:solidFill>
                    <a:srgbClr val="C9A96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📊  REAL-WORLD DATASET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5852160" y="5376672"/>
            <a:ext cx="11521440" cy="1024128"/>
            <a:chOff x="0" y="0"/>
            <a:chExt cx="15361920" cy="1365504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5361920" cy="1365504"/>
            </a:xfrm>
            <a:custGeom>
              <a:avLst/>
              <a:gdLst/>
              <a:ahLst/>
              <a:cxnLst/>
              <a:rect l="l" t="t" r="r" b="b"/>
              <a:pathLst>
                <a:path w="15361920" h="1365504">
                  <a:moveTo>
                    <a:pt x="0" y="0"/>
                  </a:moveTo>
                  <a:lnTo>
                    <a:pt x="15361920" y="0"/>
                  </a:lnTo>
                  <a:lnTo>
                    <a:pt x="15361920" y="1365504"/>
                  </a:lnTo>
                  <a:lnTo>
                    <a:pt x="0" y="1365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9206" b="-169206"/>
              </a:stretch>
            </a:blipFill>
          </p:spPr>
        </p:sp>
        <p:sp>
          <p:nvSpPr>
            <p:cNvPr id="46" name="TextBox 46"/>
            <p:cNvSpPr txBox="1"/>
            <p:nvPr/>
          </p:nvSpPr>
          <p:spPr>
            <a:xfrm>
              <a:off x="0" y="-57150"/>
              <a:ext cx="15361920" cy="142265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39"/>
                </a:lnSpc>
              </a:pPr>
              <a:r>
                <a:rPr lang="en-US" sz="2699">
                  <a:solidFill>
                    <a:srgbClr val="B0B0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10,000 labelled conversations spanning 4 context types and 6 manipulation techniques provide a robust training base.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629917" y="6756397"/>
            <a:ext cx="17028157" cy="1373629"/>
            <a:chOff x="0" y="0"/>
            <a:chExt cx="22704209" cy="1831505"/>
          </a:xfrm>
        </p:grpSpPr>
        <p:sp>
          <p:nvSpPr>
            <p:cNvPr id="48" name="Freeform 48"/>
            <p:cNvSpPr/>
            <p:nvPr/>
          </p:nvSpPr>
          <p:spPr>
            <a:xfrm>
              <a:off x="13589" y="13589"/>
              <a:ext cx="22677119" cy="1804416"/>
            </a:xfrm>
            <a:custGeom>
              <a:avLst/>
              <a:gdLst/>
              <a:ahLst/>
              <a:cxnLst/>
              <a:rect l="l" t="t" r="r" b="b"/>
              <a:pathLst>
                <a:path w="22677119" h="1804416">
                  <a:moveTo>
                    <a:pt x="0" y="0"/>
                  </a:moveTo>
                  <a:lnTo>
                    <a:pt x="22677119" y="0"/>
                  </a:lnTo>
                  <a:lnTo>
                    <a:pt x="22677119" y="1804416"/>
                  </a:lnTo>
                  <a:lnTo>
                    <a:pt x="0" y="1804416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id="49" name="Freeform 49"/>
            <p:cNvSpPr/>
            <p:nvPr/>
          </p:nvSpPr>
          <p:spPr>
            <a:xfrm>
              <a:off x="0" y="0"/>
              <a:ext cx="22704298" cy="1831594"/>
            </a:xfrm>
            <a:custGeom>
              <a:avLst/>
              <a:gdLst/>
              <a:ahLst/>
              <a:cxnLst/>
              <a:rect l="l" t="t" r="r" b="b"/>
              <a:pathLst>
                <a:path w="22704298" h="1831594">
                  <a:moveTo>
                    <a:pt x="13589" y="0"/>
                  </a:moveTo>
                  <a:lnTo>
                    <a:pt x="22690708" y="0"/>
                  </a:lnTo>
                  <a:cubicBezTo>
                    <a:pt x="22698202" y="0"/>
                    <a:pt x="22704298" y="6096"/>
                    <a:pt x="22704298" y="13589"/>
                  </a:cubicBezTo>
                  <a:lnTo>
                    <a:pt x="22704298" y="1818005"/>
                  </a:lnTo>
                  <a:cubicBezTo>
                    <a:pt x="22704298" y="1825498"/>
                    <a:pt x="22698202" y="1831594"/>
                    <a:pt x="22690708" y="1831594"/>
                  </a:cubicBezTo>
                  <a:lnTo>
                    <a:pt x="13589" y="1831594"/>
                  </a:lnTo>
                  <a:cubicBezTo>
                    <a:pt x="6096" y="1831594"/>
                    <a:pt x="0" y="1825498"/>
                    <a:pt x="0" y="1818005"/>
                  </a:cubicBezTo>
                  <a:lnTo>
                    <a:pt x="0" y="13589"/>
                  </a:lnTo>
                  <a:cubicBezTo>
                    <a:pt x="0" y="6096"/>
                    <a:pt x="6096" y="0"/>
                    <a:pt x="13589" y="0"/>
                  </a:cubicBezTo>
                  <a:moveTo>
                    <a:pt x="13589" y="27051"/>
                  </a:moveTo>
                  <a:lnTo>
                    <a:pt x="13589" y="13589"/>
                  </a:lnTo>
                  <a:lnTo>
                    <a:pt x="27051" y="13589"/>
                  </a:lnTo>
                  <a:lnTo>
                    <a:pt x="27051" y="1818005"/>
                  </a:lnTo>
                  <a:lnTo>
                    <a:pt x="13589" y="1818005"/>
                  </a:lnTo>
                  <a:lnTo>
                    <a:pt x="13589" y="1804416"/>
                  </a:lnTo>
                  <a:lnTo>
                    <a:pt x="22690708" y="1804416"/>
                  </a:lnTo>
                  <a:lnTo>
                    <a:pt x="22690708" y="1818005"/>
                  </a:lnTo>
                  <a:lnTo>
                    <a:pt x="22677120" y="1818005"/>
                  </a:lnTo>
                  <a:lnTo>
                    <a:pt x="22677120" y="13589"/>
                  </a:lnTo>
                  <a:lnTo>
                    <a:pt x="22690708" y="13589"/>
                  </a:lnTo>
                  <a:lnTo>
                    <a:pt x="22690708" y="27051"/>
                  </a:lnTo>
                  <a:lnTo>
                    <a:pt x="13589" y="27051"/>
                  </a:lnTo>
                  <a:close/>
                </a:path>
              </a:pathLst>
            </a:custGeom>
            <a:solidFill>
              <a:srgbClr val="2E2E2E"/>
            </a:solidFill>
          </p:spPr>
        </p:sp>
      </p:grpSp>
      <p:grpSp>
        <p:nvGrpSpPr>
          <p:cNvPr id="50" name="Group 50"/>
          <p:cNvGrpSpPr/>
          <p:nvPr/>
        </p:nvGrpSpPr>
        <p:grpSpPr>
          <a:xfrm>
            <a:off x="627383" y="6753863"/>
            <a:ext cx="153419" cy="1378715"/>
            <a:chOff x="0" y="0"/>
            <a:chExt cx="204559" cy="1838287"/>
          </a:xfrm>
        </p:grpSpPr>
        <p:sp>
          <p:nvSpPr>
            <p:cNvPr id="51" name="Freeform 51"/>
            <p:cNvSpPr/>
            <p:nvPr/>
          </p:nvSpPr>
          <p:spPr>
            <a:xfrm>
              <a:off x="16891" y="16891"/>
              <a:ext cx="170688" cy="1804416"/>
            </a:xfrm>
            <a:custGeom>
              <a:avLst/>
              <a:gdLst/>
              <a:ahLst/>
              <a:cxnLst/>
              <a:rect l="l" t="t" r="r" b="b"/>
              <a:pathLst>
                <a:path w="170688" h="1804416">
                  <a:moveTo>
                    <a:pt x="0" y="0"/>
                  </a:moveTo>
                  <a:lnTo>
                    <a:pt x="170688" y="0"/>
                  </a:lnTo>
                  <a:lnTo>
                    <a:pt x="170688" y="1804416"/>
                  </a:lnTo>
                  <a:lnTo>
                    <a:pt x="0" y="1804416"/>
                  </a:lnTo>
                  <a:close/>
                </a:path>
              </a:pathLst>
            </a:custGeom>
            <a:solidFill>
              <a:srgbClr val="C9A96E"/>
            </a:solidFill>
          </p:spPr>
        </p:sp>
        <p:sp>
          <p:nvSpPr>
            <p:cNvPr id="52" name="Freeform 52"/>
            <p:cNvSpPr/>
            <p:nvPr/>
          </p:nvSpPr>
          <p:spPr>
            <a:xfrm>
              <a:off x="0" y="0"/>
              <a:ext cx="204470" cy="1838198"/>
            </a:xfrm>
            <a:custGeom>
              <a:avLst/>
              <a:gdLst/>
              <a:ahLst/>
              <a:cxnLst/>
              <a:rect l="l" t="t" r="r" b="b"/>
              <a:pathLst>
                <a:path w="204470" h="1838198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1821307"/>
                  </a:lnTo>
                  <a:cubicBezTo>
                    <a:pt x="204470" y="1830705"/>
                    <a:pt x="196850" y="1838198"/>
                    <a:pt x="187579" y="1838198"/>
                  </a:cubicBezTo>
                  <a:lnTo>
                    <a:pt x="16891" y="1838198"/>
                  </a:lnTo>
                  <a:cubicBezTo>
                    <a:pt x="7493" y="1838198"/>
                    <a:pt x="0" y="1830578"/>
                    <a:pt x="0" y="182130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21307"/>
                  </a:lnTo>
                  <a:lnTo>
                    <a:pt x="16891" y="1821307"/>
                  </a:lnTo>
                  <a:lnTo>
                    <a:pt x="16891" y="1804416"/>
                  </a:lnTo>
                  <a:lnTo>
                    <a:pt x="187579" y="1804416"/>
                  </a:lnTo>
                  <a:lnTo>
                    <a:pt x="187579" y="1821307"/>
                  </a:lnTo>
                  <a:lnTo>
                    <a:pt x="170688" y="1821307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9A96E"/>
            </a:solidFill>
          </p:spPr>
        </p:sp>
      </p:grpSp>
      <p:grpSp>
        <p:nvGrpSpPr>
          <p:cNvPr id="53" name="Group 53"/>
          <p:cNvGrpSpPr/>
          <p:nvPr/>
        </p:nvGrpSpPr>
        <p:grpSpPr>
          <a:xfrm>
            <a:off x="1005840" y="6858000"/>
            <a:ext cx="4754880" cy="640080"/>
            <a:chOff x="0" y="0"/>
            <a:chExt cx="6339840" cy="85344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6339840" cy="853440"/>
            </a:xfrm>
            <a:custGeom>
              <a:avLst/>
              <a:gdLst/>
              <a:ahLst/>
              <a:cxnLst/>
              <a:rect l="l" t="t" r="r" b="b"/>
              <a:pathLst>
                <a:path w="6339840" h="853440">
                  <a:moveTo>
                    <a:pt x="0" y="0"/>
                  </a:moveTo>
                  <a:lnTo>
                    <a:pt x="6339840" y="0"/>
                  </a:lnTo>
                  <a:lnTo>
                    <a:pt x="63398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4745" b="-94745"/>
              </a:stretch>
            </a:blipFill>
          </p:spPr>
        </p:sp>
        <p:sp>
          <p:nvSpPr>
            <p:cNvPr id="55" name="TextBox 55"/>
            <p:cNvSpPr txBox="1"/>
            <p:nvPr/>
          </p:nvSpPr>
          <p:spPr>
            <a:xfrm>
              <a:off x="0" y="-57150"/>
              <a:ext cx="6339840" cy="9105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39"/>
                </a:lnSpc>
              </a:pPr>
              <a:r>
                <a:rPr lang="en-US" sz="2699" b="1">
                  <a:solidFill>
                    <a:srgbClr val="C9A96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💻  LIVE DEPLOYMENT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5852160" y="6912864"/>
            <a:ext cx="11521440" cy="1024128"/>
            <a:chOff x="0" y="0"/>
            <a:chExt cx="15361920" cy="1365504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15361920" cy="1365504"/>
            </a:xfrm>
            <a:custGeom>
              <a:avLst/>
              <a:gdLst/>
              <a:ahLst/>
              <a:cxnLst/>
              <a:rect l="l" t="t" r="r" b="b"/>
              <a:pathLst>
                <a:path w="15361920" h="1365504">
                  <a:moveTo>
                    <a:pt x="0" y="0"/>
                  </a:moveTo>
                  <a:lnTo>
                    <a:pt x="15361920" y="0"/>
                  </a:lnTo>
                  <a:lnTo>
                    <a:pt x="15361920" y="1365504"/>
                  </a:lnTo>
                  <a:lnTo>
                    <a:pt x="0" y="1365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9206" b="-169206"/>
              </a:stretch>
            </a:blipFill>
          </p:spPr>
        </p:sp>
        <p:sp>
          <p:nvSpPr>
            <p:cNvPr id="58" name="TextBox 58"/>
            <p:cNvSpPr txBox="1"/>
            <p:nvPr/>
          </p:nvSpPr>
          <p:spPr>
            <a:xfrm>
              <a:off x="0" y="-57150"/>
              <a:ext cx="15361920" cy="142265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39"/>
                </a:lnSpc>
              </a:pPr>
              <a:r>
                <a:rPr lang="en-US" sz="2699">
                  <a:solidFill>
                    <a:srgbClr val="B0B0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Gradio interface makes the model accessible without any coding knowledge — ready for real-time conversation analysis.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629917" y="8292589"/>
            <a:ext cx="17028157" cy="1373629"/>
            <a:chOff x="0" y="0"/>
            <a:chExt cx="22704209" cy="1831505"/>
          </a:xfrm>
        </p:grpSpPr>
        <p:sp>
          <p:nvSpPr>
            <p:cNvPr id="60" name="Freeform 60"/>
            <p:cNvSpPr/>
            <p:nvPr/>
          </p:nvSpPr>
          <p:spPr>
            <a:xfrm>
              <a:off x="13589" y="13589"/>
              <a:ext cx="22677119" cy="1804416"/>
            </a:xfrm>
            <a:custGeom>
              <a:avLst/>
              <a:gdLst/>
              <a:ahLst/>
              <a:cxnLst/>
              <a:rect l="l" t="t" r="r" b="b"/>
              <a:pathLst>
                <a:path w="22677119" h="1804416">
                  <a:moveTo>
                    <a:pt x="0" y="0"/>
                  </a:moveTo>
                  <a:lnTo>
                    <a:pt x="22677119" y="0"/>
                  </a:lnTo>
                  <a:lnTo>
                    <a:pt x="22677119" y="1804416"/>
                  </a:lnTo>
                  <a:lnTo>
                    <a:pt x="0" y="1804416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id="61" name="Freeform 61"/>
            <p:cNvSpPr/>
            <p:nvPr/>
          </p:nvSpPr>
          <p:spPr>
            <a:xfrm>
              <a:off x="0" y="0"/>
              <a:ext cx="22704298" cy="1831594"/>
            </a:xfrm>
            <a:custGeom>
              <a:avLst/>
              <a:gdLst/>
              <a:ahLst/>
              <a:cxnLst/>
              <a:rect l="l" t="t" r="r" b="b"/>
              <a:pathLst>
                <a:path w="22704298" h="1831594">
                  <a:moveTo>
                    <a:pt x="13589" y="0"/>
                  </a:moveTo>
                  <a:lnTo>
                    <a:pt x="22690708" y="0"/>
                  </a:lnTo>
                  <a:cubicBezTo>
                    <a:pt x="22698202" y="0"/>
                    <a:pt x="22704298" y="6096"/>
                    <a:pt x="22704298" y="13589"/>
                  </a:cubicBezTo>
                  <a:lnTo>
                    <a:pt x="22704298" y="1818005"/>
                  </a:lnTo>
                  <a:cubicBezTo>
                    <a:pt x="22704298" y="1825498"/>
                    <a:pt x="22698202" y="1831594"/>
                    <a:pt x="22690708" y="1831594"/>
                  </a:cubicBezTo>
                  <a:lnTo>
                    <a:pt x="13589" y="1831594"/>
                  </a:lnTo>
                  <a:cubicBezTo>
                    <a:pt x="6096" y="1831594"/>
                    <a:pt x="0" y="1825498"/>
                    <a:pt x="0" y="1818005"/>
                  </a:cubicBezTo>
                  <a:lnTo>
                    <a:pt x="0" y="13589"/>
                  </a:lnTo>
                  <a:cubicBezTo>
                    <a:pt x="0" y="6096"/>
                    <a:pt x="6096" y="0"/>
                    <a:pt x="13589" y="0"/>
                  </a:cubicBezTo>
                  <a:moveTo>
                    <a:pt x="13589" y="27051"/>
                  </a:moveTo>
                  <a:lnTo>
                    <a:pt x="13589" y="13589"/>
                  </a:lnTo>
                  <a:lnTo>
                    <a:pt x="27051" y="13589"/>
                  </a:lnTo>
                  <a:lnTo>
                    <a:pt x="27051" y="1818005"/>
                  </a:lnTo>
                  <a:lnTo>
                    <a:pt x="13589" y="1818005"/>
                  </a:lnTo>
                  <a:lnTo>
                    <a:pt x="13589" y="1804416"/>
                  </a:lnTo>
                  <a:lnTo>
                    <a:pt x="22690708" y="1804416"/>
                  </a:lnTo>
                  <a:lnTo>
                    <a:pt x="22690708" y="1818005"/>
                  </a:lnTo>
                  <a:lnTo>
                    <a:pt x="22677120" y="1818005"/>
                  </a:lnTo>
                  <a:lnTo>
                    <a:pt x="22677120" y="13589"/>
                  </a:lnTo>
                  <a:lnTo>
                    <a:pt x="22690708" y="13589"/>
                  </a:lnTo>
                  <a:lnTo>
                    <a:pt x="22690708" y="27051"/>
                  </a:lnTo>
                  <a:lnTo>
                    <a:pt x="13589" y="27051"/>
                  </a:lnTo>
                  <a:close/>
                </a:path>
              </a:pathLst>
            </a:custGeom>
            <a:solidFill>
              <a:srgbClr val="7B1C2E"/>
            </a:solidFill>
          </p:spPr>
        </p:sp>
      </p:grpSp>
      <p:grpSp>
        <p:nvGrpSpPr>
          <p:cNvPr id="62" name="Group 62"/>
          <p:cNvGrpSpPr/>
          <p:nvPr/>
        </p:nvGrpSpPr>
        <p:grpSpPr>
          <a:xfrm>
            <a:off x="627383" y="8290055"/>
            <a:ext cx="153419" cy="1378715"/>
            <a:chOff x="0" y="0"/>
            <a:chExt cx="204559" cy="1838287"/>
          </a:xfrm>
        </p:grpSpPr>
        <p:sp>
          <p:nvSpPr>
            <p:cNvPr id="63" name="Freeform 63"/>
            <p:cNvSpPr/>
            <p:nvPr/>
          </p:nvSpPr>
          <p:spPr>
            <a:xfrm>
              <a:off x="16891" y="16891"/>
              <a:ext cx="170688" cy="1804416"/>
            </a:xfrm>
            <a:custGeom>
              <a:avLst/>
              <a:gdLst/>
              <a:ahLst/>
              <a:cxnLst/>
              <a:rect l="l" t="t" r="r" b="b"/>
              <a:pathLst>
                <a:path w="170688" h="1804416">
                  <a:moveTo>
                    <a:pt x="0" y="0"/>
                  </a:moveTo>
                  <a:lnTo>
                    <a:pt x="170688" y="0"/>
                  </a:lnTo>
                  <a:lnTo>
                    <a:pt x="170688" y="1804416"/>
                  </a:lnTo>
                  <a:lnTo>
                    <a:pt x="0" y="1804416"/>
                  </a:lnTo>
                  <a:close/>
                </a:path>
              </a:pathLst>
            </a:custGeom>
            <a:solidFill>
              <a:srgbClr val="C9A96E"/>
            </a:solidFill>
          </p:spPr>
        </p:sp>
        <p:sp>
          <p:nvSpPr>
            <p:cNvPr id="64" name="Freeform 64"/>
            <p:cNvSpPr/>
            <p:nvPr/>
          </p:nvSpPr>
          <p:spPr>
            <a:xfrm>
              <a:off x="0" y="0"/>
              <a:ext cx="204470" cy="1838198"/>
            </a:xfrm>
            <a:custGeom>
              <a:avLst/>
              <a:gdLst/>
              <a:ahLst/>
              <a:cxnLst/>
              <a:rect l="l" t="t" r="r" b="b"/>
              <a:pathLst>
                <a:path w="204470" h="1838198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1821307"/>
                  </a:lnTo>
                  <a:cubicBezTo>
                    <a:pt x="204470" y="1830705"/>
                    <a:pt x="196850" y="1838198"/>
                    <a:pt x="187579" y="1838198"/>
                  </a:cubicBezTo>
                  <a:lnTo>
                    <a:pt x="16891" y="1838198"/>
                  </a:lnTo>
                  <a:cubicBezTo>
                    <a:pt x="7493" y="1838198"/>
                    <a:pt x="0" y="1830578"/>
                    <a:pt x="0" y="182130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21307"/>
                  </a:lnTo>
                  <a:lnTo>
                    <a:pt x="16891" y="1821307"/>
                  </a:lnTo>
                  <a:lnTo>
                    <a:pt x="16891" y="1804416"/>
                  </a:lnTo>
                  <a:lnTo>
                    <a:pt x="187579" y="1804416"/>
                  </a:lnTo>
                  <a:lnTo>
                    <a:pt x="187579" y="1821307"/>
                  </a:lnTo>
                  <a:lnTo>
                    <a:pt x="170688" y="1821307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9A96E"/>
            </a:solidFill>
          </p:spPr>
        </p:sp>
      </p:grpSp>
      <p:grpSp>
        <p:nvGrpSpPr>
          <p:cNvPr id="65" name="Group 65"/>
          <p:cNvGrpSpPr/>
          <p:nvPr/>
        </p:nvGrpSpPr>
        <p:grpSpPr>
          <a:xfrm>
            <a:off x="1005840" y="8394192"/>
            <a:ext cx="4754880" cy="640080"/>
            <a:chOff x="0" y="0"/>
            <a:chExt cx="6339840" cy="853440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6339840" cy="853440"/>
            </a:xfrm>
            <a:custGeom>
              <a:avLst/>
              <a:gdLst/>
              <a:ahLst/>
              <a:cxnLst/>
              <a:rect l="l" t="t" r="r" b="b"/>
              <a:pathLst>
                <a:path w="6339840" h="853440">
                  <a:moveTo>
                    <a:pt x="0" y="0"/>
                  </a:moveTo>
                  <a:lnTo>
                    <a:pt x="6339840" y="0"/>
                  </a:lnTo>
                  <a:lnTo>
                    <a:pt x="63398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4745" b="-94745"/>
              </a:stretch>
            </a:blipFill>
          </p:spPr>
        </p:sp>
        <p:sp>
          <p:nvSpPr>
            <p:cNvPr id="67" name="TextBox 67"/>
            <p:cNvSpPr txBox="1"/>
            <p:nvPr/>
          </p:nvSpPr>
          <p:spPr>
            <a:xfrm>
              <a:off x="0" y="-57150"/>
              <a:ext cx="6339840" cy="9105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39"/>
                </a:lnSpc>
              </a:pPr>
              <a:r>
                <a:rPr lang="en-US" sz="2699" b="1">
                  <a:solidFill>
                    <a:srgbClr val="C9A96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🚀  FUTURE SCOPE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5852160" y="8449056"/>
            <a:ext cx="11521440" cy="1024128"/>
            <a:chOff x="0" y="0"/>
            <a:chExt cx="15361920" cy="1365504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15361920" cy="1365504"/>
            </a:xfrm>
            <a:custGeom>
              <a:avLst/>
              <a:gdLst/>
              <a:ahLst/>
              <a:cxnLst/>
              <a:rect l="l" t="t" r="r" b="b"/>
              <a:pathLst>
                <a:path w="15361920" h="1365504">
                  <a:moveTo>
                    <a:pt x="0" y="0"/>
                  </a:moveTo>
                  <a:lnTo>
                    <a:pt x="15361920" y="0"/>
                  </a:lnTo>
                  <a:lnTo>
                    <a:pt x="15361920" y="1365504"/>
                  </a:lnTo>
                  <a:lnTo>
                    <a:pt x="0" y="1365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9206" b="-169206"/>
              </a:stretch>
            </a:blipFill>
          </p:spPr>
        </p:sp>
        <p:sp>
          <p:nvSpPr>
            <p:cNvPr id="70" name="TextBox 70"/>
            <p:cNvSpPr txBox="1"/>
            <p:nvPr/>
          </p:nvSpPr>
          <p:spPr>
            <a:xfrm>
              <a:off x="0" y="-57150"/>
              <a:ext cx="15361920" cy="142265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39"/>
                </a:lnSpc>
              </a:pPr>
              <a:r>
                <a:rPr lang="en-US" sz="2699" dirty="0" smtClean="0">
                  <a:solidFill>
                    <a:srgbClr val="B0B0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Using larger </a:t>
              </a:r>
              <a:r>
                <a:rPr lang="en-US" sz="2699" dirty="0">
                  <a:solidFill>
                    <a:srgbClr val="B0B0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datasets, multi-lingual support, and real-time API integration.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18313403" cy="1854203"/>
            <a:chOff x="0" y="0"/>
            <a:chExt cx="24417871" cy="2472271"/>
          </a:xfrm>
        </p:grpSpPr>
        <p:sp>
          <p:nvSpPr>
            <p:cNvPr id="3" name="Freeform 3"/>
            <p:cNvSpPr/>
            <p:nvPr/>
          </p:nvSpPr>
          <p:spPr>
            <a:xfrm>
              <a:off x="16891" y="16891"/>
              <a:ext cx="24383999" cy="2438400"/>
            </a:xfrm>
            <a:custGeom>
              <a:avLst/>
              <a:gdLst/>
              <a:ahLst/>
              <a:cxnLst/>
              <a:rect l="l" t="t" r="r" b="b"/>
              <a:pathLst>
                <a:path w="24383999" h="2438400">
                  <a:moveTo>
                    <a:pt x="0" y="0"/>
                  </a:moveTo>
                  <a:lnTo>
                    <a:pt x="24383999" y="0"/>
                  </a:lnTo>
                  <a:lnTo>
                    <a:pt x="24383999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5A0D1E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24417782" cy="2472182"/>
            </a:xfrm>
            <a:custGeom>
              <a:avLst/>
              <a:gdLst/>
              <a:ahLst/>
              <a:cxnLst/>
              <a:rect l="l" t="t" r="r" b="b"/>
              <a:pathLst>
                <a:path w="24417782" h="24721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455291"/>
                  </a:lnTo>
                  <a:cubicBezTo>
                    <a:pt x="24417782" y="2464689"/>
                    <a:pt x="24410163" y="2472182"/>
                    <a:pt x="24400890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24400890" y="2438400"/>
                  </a:lnTo>
                  <a:lnTo>
                    <a:pt x="24400890" y="2455291"/>
                  </a:lnTo>
                  <a:lnTo>
                    <a:pt x="24384000" y="245529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5A0D1E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731520" y="146304"/>
            <a:ext cx="16459200" cy="1190810"/>
            <a:chOff x="0" y="0"/>
            <a:chExt cx="21945600" cy="158774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945600" cy="1587747"/>
            </a:xfrm>
            <a:custGeom>
              <a:avLst/>
              <a:gdLst/>
              <a:ahLst/>
              <a:cxnLst/>
              <a:rect l="l" t="t" r="r" b="b"/>
              <a:pathLst>
                <a:path w="21945600" h="1587747">
                  <a:moveTo>
                    <a:pt x="0" y="0"/>
                  </a:moveTo>
                  <a:lnTo>
                    <a:pt x="21945600" y="0"/>
                  </a:lnTo>
                  <a:lnTo>
                    <a:pt x="21945600" y="1587747"/>
                  </a:lnTo>
                  <a:lnTo>
                    <a:pt x="0" y="158774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3246" b="-215392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21945600" cy="15972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559"/>
                </a:lnSpc>
              </a:pPr>
              <a:r>
                <a:rPr lang="en-US" sz="6299" b="1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References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6093440" y="146304"/>
            <a:ext cx="1463040" cy="1097280"/>
            <a:chOff x="0" y="0"/>
            <a:chExt cx="1950720" cy="14630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950720" cy="1463040"/>
            </a:xfrm>
            <a:custGeom>
              <a:avLst/>
              <a:gdLst/>
              <a:ahLst/>
              <a:cxnLst/>
              <a:rect l="l" t="t" r="r" b="b"/>
              <a:pathLst>
                <a:path w="1950720" h="1463040">
                  <a:moveTo>
                    <a:pt x="0" y="0"/>
                  </a:moveTo>
                  <a:lnTo>
                    <a:pt x="1950720" y="0"/>
                  </a:lnTo>
                  <a:lnTo>
                    <a:pt x="19507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r="-46227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1950720" cy="14820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4800"/>
                </a:lnSpc>
              </a:pPr>
              <a:r>
                <a:rPr lang="en-US" sz="4000" b="1">
                  <a:solidFill>
                    <a:srgbClr val="C9A96E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10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29917" y="2458717"/>
            <a:ext cx="17028157" cy="1446781"/>
            <a:chOff x="0" y="0"/>
            <a:chExt cx="22704209" cy="1929041"/>
          </a:xfrm>
        </p:grpSpPr>
        <p:sp>
          <p:nvSpPr>
            <p:cNvPr id="12" name="Freeform 12"/>
            <p:cNvSpPr/>
            <p:nvPr/>
          </p:nvSpPr>
          <p:spPr>
            <a:xfrm>
              <a:off x="13589" y="13589"/>
              <a:ext cx="22677119" cy="1901952"/>
            </a:xfrm>
            <a:custGeom>
              <a:avLst/>
              <a:gdLst/>
              <a:ahLst/>
              <a:cxnLst/>
              <a:rect l="l" t="t" r="r" b="b"/>
              <a:pathLst>
                <a:path w="22677119" h="1901952">
                  <a:moveTo>
                    <a:pt x="0" y="0"/>
                  </a:moveTo>
                  <a:lnTo>
                    <a:pt x="22677119" y="0"/>
                  </a:lnTo>
                  <a:lnTo>
                    <a:pt x="22677119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0" y="0"/>
              <a:ext cx="22704298" cy="1929130"/>
            </a:xfrm>
            <a:custGeom>
              <a:avLst/>
              <a:gdLst/>
              <a:ahLst/>
              <a:cxnLst/>
              <a:rect l="l" t="t" r="r" b="b"/>
              <a:pathLst>
                <a:path w="22704298" h="1929130">
                  <a:moveTo>
                    <a:pt x="13589" y="0"/>
                  </a:moveTo>
                  <a:lnTo>
                    <a:pt x="22690708" y="0"/>
                  </a:lnTo>
                  <a:cubicBezTo>
                    <a:pt x="22698202" y="0"/>
                    <a:pt x="22704298" y="6096"/>
                    <a:pt x="22704298" y="13589"/>
                  </a:cubicBezTo>
                  <a:lnTo>
                    <a:pt x="22704298" y="1915541"/>
                  </a:lnTo>
                  <a:cubicBezTo>
                    <a:pt x="22704298" y="1923034"/>
                    <a:pt x="22698202" y="1929130"/>
                    <a:pt x="22690708" y="1929130"/>
                  </a:cubicBezTo>
                  <a:lnTo>
                    <a:pt x="13589" y="1929130"/>
                  </a:lnTo>
                  <a:cubicBezTo>
                    <a:pt x="6096" y="1929130"/>
                    <a:pt x="0" y="1923034"/>
                    <a:pt x="0" y="1915541"/>
                  </a:cubicBezTo>
                  <a:lnTo>
                    <a:pt x="0" y="13589"/>
                  </a:lnTo>
                  <a:cubicBezTo>
                    <a:pt x="0" y="6096"/>
                    <a:pt x="6096" y="0"/>
                    <a:pt x="13589" y="0"/>
                  </a:cubicBezTo>
                  <a:moveTo>
                    <a:pt x="13589" y="27051"/>
                  </a:moveTo>
                  <a:lnTo>
                    <a:pt x="13589" y="13589"/>
                  </a:lnTo>
                  <a:lnTo>
                    <a:pt x="27051" y="13589"/>
                  </a:lnTo>
                  <a:lnTo>
                    <a:pt x="27051" y="1915541"/>
                  </a:lnTo>
                  <a:lnTo>
                    <a:pt x="13589" y="1915541"/>
                  </a:lnTo>
                  <a:lnTo>
                    <a:pt x="13589" y="1901952"/>
                  </a:lnTo>
                  <a:lnTo>
                    <a:pt x="22690708" y="1901952"/>
                  </a:lnTo>
                  <a:lnTo>
                    <a:pt x="22690708" y="1915541"/>
                  </a:lnTo>
                  <a:lnTo>
                    <a:pt x="22677120" y="1915541"/>
                  </a:lnTo>
                  <a:lnTo>
                    <a:pt x="22677120" y="13589"/>
                  </a:lnTo>
                  <a:lnTo>
                    <a:pt x="22690708" y="13589"/>
                  </a:lnTo>
                  <a:lnTo>
                    <a:pt x="22690708" y="27051"/>
                  </a:lnTo>
                  <a:lnTo>
                    <a:pt x="13589" y="27051"/>
                  </a:lnTo>
                  <a:close/>
                </a:path>
              </a:pathLst>
            </a:custGeom>
            <a:solidFill>
              <a:srgbClr val="7B1C2E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627383" y="2456183"/>
            <a:ext cx="153419" cy="1451867"/>
            <a:chOff x="0" y="0"/>
            <a:chExt cx="204559" cy="1935823"/>
          </a:xfrm>
        </p:grpSpPr>
        <p:sp>
          <p:nvSpPr>
            <p:cNvPr id="15" name="Freeform 15"/>
            <p:cNvSpPr/>
            <p:nvPr/>
          </p:nvSpPr>
          <p:spPr>
            <a:xfrm>
              <a:off x="16891" y="16891"/>
              <a:ext cx="170688" cy="1901952"/>
            </a:xfrm>
            <a:custGeom>
              <a:avLst/>
              <a:gdLst/>
              <a:ahLst/>
              <a:cxnLst/>
              <a:rect l="l" t="t" r="r" b="b"/>
              <a:pathLst>
                <a:path w="170688" h="1901952">
                  <a:moveTo>
                    <a:pt x="0" y="0"/>
                  </a:moveTo>
                  <a:lnTo>
                    <a:pt x="170688" y="0"/>
                  </a:lnTo>
                  <a:lnTo>
                    <a:pt x="170688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C9A96E"/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0" y="0"/>
              <a:ext cx="204470" cy="1935734"/>
            </a:xfrm>
            <a:custGeom>
              <a:avLst/>
              <a:gdLst/>
              <a:ahLst/>
              <a:cxnLst/>
              <a:rect l="l" t="t" r="r" b="b"/>
              <a:pathLst>
                <a:path w="204470" h="1935734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1918843"/>
                  </a:lnTo>
                  <a:cubicBezTo>
                    <a:pt x="204470" y="1928241"/>
                    <a:pt x="196850" y="1935734"/>
                    <a:pt x="187579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187579" y="1901952"/>
                  </a:lnTo>
                  <a:lnTo>
                    <a:pt x="187579" y="1918843"/>
                  </a:lnTo>
                  <a:lnTo>
                    <a:pt x="170688" y="1918843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9A96E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1005840" y="2798064"/>
            <a:ext cx="16459200" cy="768096"/>
            <a:chOff x="0" y="0"/>
            <a:chExt cx="21945600" cy="102412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1945600" cy="1024128"/>
            </a:xfrm>
            <a:custGeom>
              <a:avLst/>
              <a:gdLst/>
              <a:ahLst/>
              <a:cxnLst/>
              <a:rect l="l" t="t" r="r" b="b"/>
              <a:pathLst>
                <a:path w="21945600" h="1024128">
                  <a:moveTo>
                    <a:pt x="0" y="0"/>
                  </a:moveTo>
                  <a:lnTo>
                    <a:pt x="21945600" y="0"/>
                  </a:lnTo>
                  <a:lnTo>
                    <a:pt x="219456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67536" b="-367536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57150"/>
              <a:ext cx="21945600" cy="108127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39"/>
                </a:lnSpc>
              </a:pPr>
              <a:r>
                <a:rPr lang="en-US" sz="2699">
                  <a:solidFill>
                    <a:srgbClr val="B0B0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[1]  Hochreiter, S. &amp; Schmidhuber, J. (1997). Long Short-Term Memory. Neural Computation, 9(8), 1735–1780.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29917" y="4196077"/>
            <a:ext cx="17028157" cy="1446781"/>
            <a:chOff x="0" y="0"/>
            <a:chExt cx="22704209" cy="1929041"/>
          </a:xfrm>
        </p:grpSpPr>
        <p:sp>
          <p:nvSpPr>
            <p:cNvPr id="21" name="Freeform 21"/>
            <p:cNvSpPr/>
            <p:nvPr/>
          </p:nvSpPr>
          <p:spPr>
            <a:xfrm>
              <a:off x="13589" y="13589"/>
              <a:ext cx="22677119" cy="1901952"/>
            </a:xfrm>
            <a:custGeom>
              <a:avLst/>
              <a:gdLst/>
              <a:ahLst/>
              <a:cxnLst/>
              <a:rect l="l" t="t" r="r" b="b"/>
              <a:pathLst>
                <a:path w="22677119" h="1901952">
                  <a:moveTo>
                    <a:pt x="0" y="0"/>
                  </a:moveTo>
                  <a:lnTo>
                    <a:pt x="22677119" y="0"/>
                  </a:lnTo>
                  <a:lnTo>
                    <a:pt x="22677119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22" name="Freeform 22"/>
            <p:cNvSpPr/>
            <p:nvPr/>
          </p:nvSpPr>
          <p:spPr>
            <a:xfrm>
              <a:off x="0" y="0"/>
              <a:ext cx="22704298" cy="1929130"/>
            </a:xfrm>
            <a:custGeom>
              <a:avLst/>
              <a:gdLst/>
              <a:ahLst/>
              <a:cxnLst/>
              <a:rect l="l" t="t" r="r" b="b"/>
              <a:pathLst>
                <a:path w="22704298" h="1929130">
                  <a:moveTo>
                    <a:pt x="13589" y="0"/>
                  </a:moveTo>
                  <a:lnTo>
                    <a:pt x="22690708" y="0"/>
                  </a:lnTo>
                  <a:cubicBezTo>
                    <a:pt x="22698202" y="0"/>
                    <a:pt x="22704298" y="6096"/>
                    <a:pt x="22704298" y="13589"/>
                  </a:cubicBezTo>
                  <a:lnTo>
                    <a:pt x="22704298" y="1915541"/>
                  </a:lnTo>
                  <a:cubicBezTo>
                    <a:pt x="22704298" y="1923034"/>
                    <a:pt x="22698202" y="1929130"/>
                    <a:pt x="22690708" y="1929130"/>
                  </a:cubicBezTo>
                  <a:lnTo>
                    <a:pt x="13589" y="1929130"/>
                  </a:lnTo>
                  <a:cubicBezTo>
                    <a:pt x="6096" y="1929130"/>
                    <a:pt x="0" y="1923034"/>
                    <a:pt x="0" y="1915541"/>
                  </a:cubicBezTo>
                  <a:lnTo>
                    <a:pt x="0" y="13589"/>
                  </a:lnTo>
                  <a:cubicBezTo>
                    <a:pt x="0" y="6096"/>
                    <a:pt x="6096" y="0"/>
                    <a:pt x="13589" y="0"/>
                  </a:cubicBezTo>
                  <a:moveTo>
                    <a:pt x="13589" y="27051"/>
                  </a:moveTo>
                  <a:lnTo>
                    <a:pt x="13589" y="13589"/>
                  </a:lnTo>
                  <a:lnTo>
                    <a:pt x="27051" y="13589"/>
                  </a:lnTo>
                  <a:lnTo>
                    <a:pt x="27051" y="1915541"/>
                  </a:lnTo>
                  <a:lnTo>
                    <a:pt x="13589" y="1915541"/>
                  </a:lnTo>
                  <a:lnTo>
                    <a:pt x="13589" y="1901952"/>
                  </a:lnTo>
                  <a:lnTo>
                    <a:pt x="22690708" y="1901952"/>
                  </a:lnTo>
                  <a:lnTo>
                    <a:pt x="22690708" y="1915541"/>
                  </a:lnTo>
                  <a:lnTo>
                    <a:pt x="22677120" y="1915541"/>
                  </a:lnTo>
                  <a:lnTo>
                    <a:pt x="22677120" y="13589"/>
                  </a:lnTo>
                  <a:lnTo>
                    <a:pt x="22690708" y="13589"/>
                  </a:lnTo>
                  <a:lnTo>
                    <a:pt x="22690708" y="27051"/>
                  </a:lnTo>
                  <a:lnTo>
                    <a:pt x="13589" y="27051"/>
                  </a:lnTo>
                  <a:close/>
                </a:path>
              </a:pathLst>
            </a:custGeom>
            <a:solidFill>
              <a:srgbClr val="7B1C2E"/>
            </a:solidFill>
          </p:spPr>
        </p:sp>
      </p:grpSp>
      <p:grpSp>
        <p:nvGrpSpPr>
          <p:cNvPr id="23" name="Group 23"/>
          <p:cNvGrpSpPr/>
          <p:nvPr/>
        </p:nvGrpSpPr>
        <p:grpSpPr>
          <a:xfrm>
            <a:off x="627383" y="4193543"/>
            <a:ext cx="153419" cy="1451867"/>
            <a:chOff x="0" y="0"/>
            <a:chExt cx="204559" cy="1935823"/>
          </a:xfrm>
        </p:grpSpPr>
        <p:sp>
          <p:nvSpPr>
            <p:cNvPr id="24" name="Freeform 24"/>
            <p:cNvSpPr/>
            <p:nvPr/>
          </p:nvSpPr>
          <p:spPr>
            <a:xfrm>
              <a:off x="16891" y="16891"/>
              <a:ext cx="170688" cy="1901952"/>
            </a:xfrm>
            <a:custGeom>
              <a:avLst/>
              <a:gdLst/>
              <a:ahLst/>
              <a:cxnLst/>
              <a:rect l="l" t="t" r="r" b="b"/>
              <a:pathLst>
                <a:path w="170688" h="1901952">
                  <a:moveTo>
                    <a:pt x="0" y="0"/>
                  </a:moveTo>
                  <a:lnTo>
                    <a:pt x="170688" y="0"/>
                  </a:lnTo>
                  <a:lnTo>
                    <a:pt x="170688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C9A96E"/>
            </a:solidFill>
          </p:spPr>
        </p:sp>
        <p:sp>
          <p:nvSpPr>
            <p:cNvPr id="25" name="Freeform 25"/>
            <p:cNvSpPr/>
            <p:nvPr/>
          </p:nvSpPr>
          <p:spPr>
            <a:xfrm>
              <a:off x="0" y="0"/>
              <a:ext cx="204470" cy="1935734"/>
            </a:xfrm>
            <a:custGeom>
              <a:avLst/>
              <a:gdLst/>
              <a:ahLst/>
              <a:cxnLst/>
              <a:rect l="l" t="t" r="r" b="b"/>
              <a:pathLst>
                <a:path w="204470" h="1935734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1918843"/>
                  </a:lnTo>
                  <a:cubicBezTo>
                    <a:pt x="204470" y="1928241"/>
                    <a:pt x="196850" y="1935734"/>
                    <a:pt x="187579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187579" y="1901952"/>
                  </a:lnTo>
                  <a:lnTo>
                    <a:pt x="187579" y="1918843"/>
                  </a:lnTo>
                  <a:lnTo>
                    <a:pt x="170688" y="1918843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9A96E"/>
            </a:solidFill>
          </p:spPr>
        </p:sp>
      </p:grpSp>
      <p:grpSp>
        <p:nvGrpSpPr>
          <p:cNvPr id="26" name="Group 26"/>
          <p:cNvGrpSpPr/>
          <p:nvPr/>
        </p:nvGrpSpPr>
        <p:grpSpPr>
          <a:xfrm>
            <a:off x="1005840" y="4535424"/>
            <a:ext cx="16459200" cy="768096"/>
            <a:chOff x="0" y="0"/>
            <a:chExt cx="21945600" cy="1024128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21945600" cy="1024128"/>
            </a:xfrm>
            <a:custGeom>
              <a:avLst/>
              <a:gdLst/>
              <a:ahLst/>
              <a:cxnLst/>
              <a:rect l="l" t="t" r="r" b="b"/>
              <a:pathLst>
                <a:path w="21945600" h="1024128">
                  <a:moveTo>
                    <a:pt x="0" y="0"/>
                  </a:moveTo>
                  <a:lnTo>
                    <a:pt x="21945600" y="0"/>
                  </a:lnTo>
                  <a:lnTo>
                    <a:pt x="219456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67536" b="-367536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-57150"/>
              <a:ext cx="21945600" cy="108127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39"/>
                </a:lnSpc>
              </a:pPr>
              <a:r>
                <a:rPr lang="en-US" sz="2699">
                  <a:solidFill>
                    <a:srgbClr val="B0B0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[2]  Abreu, A. (2023). Psychological Manipulation Detection Dataset. Kaggle. https://www.kaggle.com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29917" y="5933437"/>
            <a:ext cx="17028157" cy="1446781"/>
            <a:chOff x="0" y="0"/>
            <a:chExt cx="22704209" cy="1929041"/>
          </a:xfrm>
        </p:grpSpPr>
        <p:sp>
          <p:nvSpPr>
            <p:cNvPr id="30" name="Freeform 30"/>
            <p:cNvSpPr/>
            <p:nvPr/>
          </p:nvSpPr>
          <p:spPr>
            <a:xfrm>
              <a:off x="13589" y="13589"/>
              <a:ext cx="22677119" cy="1901952"/>
            </a:xfrm>
            <a:custGeom>
              <a:avLst/>
              <a:gdLst/>
              <a:ahLst/>
              <a:cxnLst/>
              <a:rect l="l" t="t" r="r" b="b"/>
              <a:pathLst>
                <a:path w="22677119" h="1901952">
                  <a:moveTo>
                    <a:pt x="0" y="0"/>
                  </a:moveTo>
                  <a:lnTo>
                    <a:pt x="22677119" y="0"/>
                  </a:lnTo>
                  <a:lnTo>
                    <a:pt x="22677119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id="31" name="Freeform 31"/>
            <p:cNvSpPr/>
            <p:nvPr/>
          </p:nvSpPr>
          <p:spPr>
            <a:xfrm>
              <a:off x="0" y="0"/>
              <a:ext cx="22704298" cy="1929130"/>
            </a:xfrm>
            <a:custGeom>
              <a:avLst/>
              <a:gdLst/>
              <a:ahLst/>
              <a:cxnLst/>
              <a:rect l="l" t="t" r="r" b="b"/>
              <a:pathLst>
                <a:path w="22704298" h="1929130">
                  <a:moveTo>
                    <a:pt x="13589" y="0"/>
                  </a:moveTo>
                  <a:lnTo>
                    <a:pt x="22690708" y="0"/>
                  </a:lnTo>
                  <a:cubicBezTo>
                    <a:pt x="22698202" y="0"/>
                    <a:pt x="22704298" y="6096"/>
                    <a:pt x="22704298" y="13589"/>
                  </a:cubicBezTo>
                  <a:lnTo>
                    <a:pt x="22704298" y="1915541"/>
                  </a:lnTo>
                  <a:cubicBezTo>
                    <a:pt x="22704298" y="1923034"/>
                    <a:pt x="22698202" y="1929130"/>
                    <a:pt x="22690708" y="1929130"/>
                  </a:cubicBezTo>
                  <a:lnTo>
                    <a:pt x="13589" y="1929130"/>
                  </a:lnTo>
                  <a:cubicBezTo>
                    <a:pt x="6096" y="1929130"/>
                    <a:pt x="0" y="1923034"/>
                    <a:pt x="0" y="1915541"/>
                  </a:cubicBezTo>
                  <a:lnTo>
                    <a:pt x="0" y="13589"/>
                  </a:lnTo>
                  <a:cubicBezTo>
                    <a:pt x="0" y="6096"/>
                    <a:pt x="6096" y="0"/>
                    <a:pt x="13589" y="0"/>
                  </a:cubicBezTo>
                  <a:moveTo>
                    <a:pt x="13589" y="27051"/>
                  </a:moveTo>
                  <a:lnTo>
                    <a:pt x="13589" y="13589"/>
                  </a:lnTo>
                  <a:lnTo>
                    <a:pt x="27051" y="13589"/>
                  </a:lnTo>
                  <a:lnTo>
                    <a:pt x="27051" y="1915541"/>
                  </a:lnTo>
                  <a:lnTo>
                    <a:pt x="13589" y="1915541"/>
                  </a:lnTo>
                  <a:lnTo>
                    <a:pt x="13589" y="1901952"/>
                  </a:lnTo>
                  <a:lnTo>
                    <a:pt x="22690708" y="1901952"/>
                  </a:lnTo>
                  <a:lnTo>
                    <a:pt x="22690708" y="1915541"/>
                  </a:lnTo>
                  <a:lnTo>
                    <a:pt x="22677120" y="1915541"/>
                  </a:lnTo>
                  <a:lnTo>
                    <a:pt x="22677120" y="13589"/>
                  </a:lnTo>
                  <a:lnTo>
                    <a:pt x="22690708" y="13589"/>
                  </a:lnTo>
                  <a:lnTo>
                    <a:pt x="22690708" y="27051"/>
                  </a:lnTo>
                  <a:lnTo>
                    <a:pt x="13589" y="27051"/>
                  </a:lnTo>
                  <a:close/>
                </a:path>
              </a:pathLst>
            </a:custGeom>
            <a:solidFill>
              <a:srgbClr val="7B1C2E"/>
            </a:solidFill>
          </p:spPr>
        </p:sp>
      </p:grpSp>
      <p:grpSp>
        <p:nvGrpSpPr>
          <p:cNvPr id="32" name="Group 32"/>
          <p:cNvGrpSpPr/>
          <p:nvPr/>
        </p:nvGrpSpPr>
        <p:grpSpPr>
          <a:xfrm>
            <a:off x="627383" y="5930903"/>
            <a:ext cx="153419" cy="1451867"/>
            <a:chOff x="0" y="0"/>
            <a:chExt cx="204559" cy="1935823"/>
          </a:xfrm>
        </p:grpSpPr>
        <p:sp>
          <p:nvSpPr>
            <p:cNvPr id="33" name="Freeform 33"/>
            <p:cNvSpPr/>
            <p:nvPr/>
          </p:nvSpPr>
          <p:spPr>
            <a:xfrm>
              <a:off x="16891" y="16891"/>
              <a:ext cx="170688" cy="1901952"/>
            </a:xfrm>
            <a:custGeom>
              <a:avLst/>
              <a:gdLst/>
              <a:ahLst/>
              <a:cxnLst/>
              <a:rect l="l" t="t" r="r" b="b"/>
              <a:pathLst>
                <a:path w="170688" h="1901952">
                  <a:moveTo>
                    <a:pt x="0" y="0"/>
                  </a:moveTo>
                  <a:lnTo>
                    <a:pt x="170688" y="0"/>
                  </a:lnTo>
                  <a:lnTo>
                    <a:pt x="170688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C9A96E"/>
            </a:solidFill>
          </p:spPr>
        </p:sp>
        <p:sp>
          <p:nvSpPr>
            <p:cNvPr id="34" name="Freeform 34"/>
            <p:cNvSpPr/>
            <p:nvPr/>
          </p:nvSpPr>
          <p:spPr>
            <a:xfrm>
              <a:off x="0" y="0"/>
              <a:ext cx="204470" cy="1935734"/>
            </a:xfrm>
            <a:custGeom>
              <a:avLst/>
              <a:gdLst/>
              <a:ahLst/>
              <a:cxnLst/>
              <a:rect l="l" t="t" r="r" b="b"/>
              <a:pathLst>
                <a:path w="204470" h="1935734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1918843"/>
                  </a:lnTo>
                  <a:cubicBezTo>
                    <a:pt x="204470" y="1928241"/>
                    <a:pt x="196850" y="1935734"/>
                    <a:pt x="187579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187579" y="1901952"/>
                  </a:lnTo>
                  <a:lnTo>
                    <a:pt x="187579" y="1918843"/>
                  </a:lnTo>
                  <a:lnTo>
                    <a:pt x="170688" y="1918843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9A96E"/>
            </a:solidFill>
          </p:spPr>
        </p:sp>
      </p:grpSp>
      <p:grpSp>
        <p:nvGrpSpPr>
          <p:cNvPr id="35" name="Group 35"/>
          <p:cNvGrpSpPr/>
          <p:nvPr/>
        </p:nvGrpSpPr>
        <p:grpSpPr>
          <a:xfrm>
            <a:off x="1005840" y="6272784"/>
            <a:ext cx="16459200" cy="768096"/>
            <a:chOff x="0" y="0"/>
            <a:chExt cx="21945600" cy="1024128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21945600" cy="1024128"/>
            </a:xfrm>
            <a:custGeom>
              <a:avLst/>
              <a:gdLst/>
              <a:ahLst/>
              <a:cxnLst/>
              <a:rect l="l" t="t" r="r" b="b"/>
              <a:pathLst>
                <a:path w="21945600" h="1024128">
                  <a:moveTo>
                    <a:pt x="0" y="0"/>
                  </a:moveTo>
                  <a:lnTo>
                    <a:pt x="21945600" y="0"/>
                  </a:lnTo>
                  <a:lnTo>
                    <a:pt x="219456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67536" b="-367536"/>
              </a:stretch>
            </a:blipFill>
          </p:spPr>
        </p:sp>
        <p:sp>
          <p:nvSpPr>
            <p:cNvPr id="37" name="TextBox 37"/>
            <p:cNvSpPr txBox="1"/>
            <p:nvPr/>
          </p:nvSpPr>
          <p:spPr>
            <a:xfrm>
              <a:off x="0" y="-57150"/>
              <a:ext cx="21945600" cy="108127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39"/>
                </a:lnSpc>
              </a:pPr>
              <a:r>
                <a:rPr lang="en-US" sz="2699">
                  <a:solidFill>
                    <a:srgbClr val="B0B0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[3]  Chollet, F. (2015). Keras: Deep Learning for humans. https://keras.io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29917" y="7670797"/>
            <a:ext cx="17028157" cy="1446781"/>
            <a:chOff x="0" y="0"/>
            <a:chExt cx="22704209" cy="1929041"/>
          </a:xfrm>
        </p:grpSpPr>
        <p:sp>
          <p:nvSpPr>
            <p:cNvPr id="39" name="Freeform 39"/>
            <p:cNvSpPr/>
            <p:nvPr/>
          </p:nvSpPr>
          <p:spPr>
            <a:xfrm>
              <a:off x="13589" y="13589"/>
              <a:ext cx="22677119" cy="1901952"/>
            </a:xfrm>
            <a:custGeom>
              <a:avLst/>
              <a:gdLst/>
              <a:ahLst/>
              <a:cxnLst/>
              <a:rect l="l" t="t" r="r" b="b"/>
              <a:pathLst>
                <a:path w="22677119" h="1901952">
                  <a:moveTo>
                    <a:pt x="0" y="0"/>
                  </a:moveTo>
                  <a:lnTo>
                    <a:pt x="22677119" y="0"/>
                  </a:lnTo>
                  <a:lnTo>
                    <a:pt x="22677119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40" name="Freeform 40"/>
            <p:cNvSpPr/>
            <p:nvPr/>
          </p:nvSpPr>
          <p:spPr>
            <a:xfrm>
              <a:off x="0" y="0"/>
              <a:ext cx="22704298" cy="1929130"/>
            </a:xfrm>
            <a:custGeom>
              <a:avLst/>
              <a:gdLst/>
              <a:ahLst/>
              <a:cxnLst/>
              <a:rect l="l" t="t" r="r" b="b"/>
              <a:pathLst>
                <a:path w="22704298" h="1929130">
                  <a:moveTo>
                    <a:pt x="13589" y="0"/>
                  </a:moveTo>
                  <a:lnTo>
                    <a:pt x="22690708" y="0"/>
                  </a:lnTo>
                  <a:cubicBezTo>
                    <a:pt x="22698202" y="0"/>
                    <a:pt x="22704298" y="6096"/>
                    <a:pt x="22704298" y="13589"/>
                  </a:cubicBezTo>
                  <a:lnTo>
                    <a:pt x="22704298" y="1915541"/>
                  </a:lnTo>
                  <a:cubicBezTo>
                    <a:pt x="22704298" y="1923034"/>
                    <a:pt x="22698202" y="1929130"/>
                    <a:pt x="22690708" y="1929130"/>
                  </a:cubicBezTo>
                  <a:lnTo>
                    <a:pt x="13589" y="1929130"/>
                  </a:lnTo>
                  <a:cubicBezTo>
                    <a:pt x="6096" y="1929130"/>
                    <a:pt x="0" y="1923034"/>
                    <a:pt x="0" y="1915541"/>
                  </a:cubicBezTo>
                  <a:lnTo>
                    <a:pt x="0" y="13589"/>
                  </a:lnTo>
                  <a:cubicBezTo>
                    <a:pt x="0" y="6096"/>
                    <a:pt x="6096" y="0"/>
                    <a:pt x="13589" y="0"/>
                  </a:cubicBezTo>
                  <a:moveTo>
                    <a:pt x="13589" y="27051"/>
                  </a:moveTo>
                  <a:lnTo>
                    <a:pt x="13589" y="13589"/>
                  </a:lnTo>
                  <a:lnTo>
                    <a:pt x="27051" y="13589"/>
                  </a:lnTo>
                  <a:lnTo>
                    <a:pt x="27051" y="1915541"/>
                  </a:lnTo>
                  <a:lnTo>
                    <a:pt x="13589" y="1915541"/>
                  </a:lnTo>
                  <a:lnTo>
                    <a:pt x="13589" y="1901952"/>
                  </a:lnTo>
                  <a:lnTo>
                    <a:pt x="22690708" y="1901952"/>
                  </a:lnTo>
                  <a:lnTo>
                    <a:pt x="22690708" y="1915541"/>
                  </a:lnTo>
                  <a:lnTo>
                    <a:pt x="22677120" y="1915541"/>
                  </a:lnTo>
                  <a:lnTo>
                    <a:pt x="22677120" y="13589"/>
                  </a:lnTo>
                  <a:lnTo>
                    <a:pt x="22690708" y="13589"/>
                  </a:lnTo>
                  <a:lnTo>
                    <a:pt x="22690708" y="27051"/>
                  </a:lnTo>
                  <a:lnTo>
                    <a:pt x="13589" y="27051"/>
                  </a:lnTo>
                  <a:close/>
                </a:path>
              </a:pathLst>
            </a:custGeom>
            <a:solidFill>
              <a:srgbClr val="7B1C2E"/>
            </a:solidFill>
          </p:spPr>
        </p:sp>
      </p:grpSp>
      <p:grpSp>
        <p:nvGrpSpPr>
          <p:cNvPr id="41" name="Group 41"/>
          <p:cNvGrpSpPr/>
          <p:nvPr/>
        </p:nvGrpSpPr>
        <p:grpSpPr>
          <a:xfrm>
            <a:off x="627383" y="7668263"/>
            <a:ext cx="153419" cy="1451867"/>
            <a:chOff x="0" y="0"/>
            <a:chExt cx="204559" cy="1935823"/>
          </a:xfrm>
        </p:grpSpPr>
        <p:sp>
          <p:nvSpPr>
            <p:cNvPr id="42" name="Freeform 42"/>
            <p:cNvSpPr/>
            <p:nvPr/>
          </p:nvSpPr>
          <p:spPr>
            <a:xfrm>
              <a:off x="16891" y="16891"/>
              <a:ext cx="170688" cy="1901952"/>
            </a:xfrm>
            <a:custGeom>
              <a:avLst/>
              <a:gdLst/>
              <a:ahLst/>
              <a:cxnLst/>
              <a:rect l="l" t="t" r="r" b="b"/>
              <a:pathLst>
                <a:path w="170688" h="1901952">
                  <a:moveTo>
                    <a:pt x="0" y="0"/>
                  </a:moveTo>
                  <a:lnTo>
                    <a:pt x="170688" y="0"/>
                  </a:lnTo>
                  <a:lnTo>
                    <a:pt x="170688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C9A96E"/>
            </a:solidFill>
          </p:spPr>
        </p:sp>
        <p:sp>
          <p:nvSpPr>
            <p:cNvPr id="43" name="Freeform 43"/>
            <p:cNvSpPr/>
            <p:nvPr/>
          </p:nvSpPr>
          <p:spPr>
            <a:xfrm>
              <a:off x="0" y="0"/>
              <a:ext cx="204470" cy="1935734"/>
            </a:xfrm>
            <a:custGeom>
              <a:avLst/>
              <a:gdLst/>
              <a:ahLst/>
              <a:cxnLst/>
              <a:rect l="l" t="t" r="r" b="b"/>
              <a:pathLst>
                <a:path w="204470" h="1935734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1918843"/>
                  </a:lnTo>
                  <a:cubicBezTo>
                    <a:pt x="204470" y="1928241"/>
                    <a:pt x="196850" y="1935734"/>
                    <a:pt x="187579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187579" y="1901952"/>
                  </a:lnTo>
                  <a:lnTo>
                    <a:pt x="187579" y="1918843"/>
                  </a:lnTo>
                  <a:lnTo>
                    <a:pt x="170688" y="1918843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9A96E"/>
            </a:solidFill>
          </p:spPr>
        </p:sp>
      </p:grpSp>
      <p:grpSp>
        <p:nvGrpSpPr>
          <p:cNvPr id="44" name="Group 44"/>
          <p:cNvGrpSpPr/>
          <p:nvPr/>
        </p:nvGrpSpPr>
        <p:grpSpPr>
          <a:xfrm>
            <a:off x="1005840" y="8010144"/>
            <a:ext cx="16459200" cy="768096"/>
            <a:chOff x="0" y="0"/>
            <a:chExt cx="21945600" cy="1024128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21945600" cy="1024128"/>
            </a:xfrm>
            <a:custGeom>
              <a:avLst/>
              <a:gdLst/>
              <a:ahLst/>
              <a:cxnLst/>
              <a:rect l="l" t="t" r="r" b="b"/>
              <a:pathLst>
                <a:path w="21945600" h="1024128">
                  <a:moveTo>
                    <a:pt x="0" y="0"/>
                  </a:moveTo>
                  <a:lnTo>
                    <a:pt x="21945600" y="0"/>
                  </a:lnTo>
                  <a:lnTo>
                    <a:pt x="219456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67536" b="-367536"/>
              </a:stretch>
            </a:blipFill>
          </p:spPr>
        </p:sp>
        <p:sp>
          <p:nvSpPr>
            <p:cNvPr id="46" name="TextBox 46"/>
            <p:cNvSpPr txBox="1"/>
            <p:nvPr/>
          </p:nvSpPr>
          <p:spPr>
            <a:xfrm>
              <a:off x="0" y="-57150"/>
              <a:ext cx="21945600" cy="108127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39"/>
                </a:lnSpc>
              </a:pPr>
              <a:r>
                <a:rPr lang="en-US" sz="2699">
                  <a:solidFill>
                    <a:srgbClr val="B0B0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[4]  Gradio Team (2023). Gradio: Build &amp; Share Delightful Machine Learning Apps. https://gradio.app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640080" y="9656064"/>
            <a:ext cx="17007840" cy="548640"/>
            <a:chOff x="0" y="0"/>
            <a:chExt cx="22677120" cy="73152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22677120" cy="731520"/>
            </a:xfrm>
            <a:custGeom>
              <a:avLst/>
              <a:gdLst/>
              <a:ahLst/>
              <a:cxnLst/>
              <a:rect l="l" t="t" r="r" b="b"/>
              <a:pathLst>
                <a:path w="22677120" h="731520">
                  <a:moveTo>
                    <a:pt x="0" y="0"/>
                  </a:moveTo>
                  <a:lnTo>
                    <a:pt x="22677120" y="0"/>
                  </a:lnTo>
                  <a:lnTo>
                    <a:pt x="22677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54036" b="-554036"/>
              </a:stretch>
            </a:blipFill>
          </p:spPr>
        </p:sp>
        <p:sp>
          <p:nvSpPr>
            <p:cNvPr id="49" name="TextBox 49"/>
            <p:cNvSpPr txBox="1"/>
            <p:nvPr/>
          </p:nvSpPr>
          <p:spPr>
            <a:xfrm>
              <a:off x="0" y="-28575"/>
              <a:ext cx="22677120" cy="7600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20"/>
                </a:lnSpc>
              </a:pPr>
              <a:r>
                <a:rPr lang="en-US" sz="1600" i="1">
                  <a:solidFill>
                    <a:srgbClr val="C9A96E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Reshma S Nath  |  Deep Learning + NLP Project  |  Detection of Manipulative Behavior in Text-Based Conversations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874503" y="-2207257"/>
            <a:ext cx="10998203" cy="10998203"/>
            <a:chOff x="0" y="0"/>
            <a:chExt cx="14664271" cy="14664271"/>
          </a:xfrm>
        </p:grpSpPr>
        <p:sp>
          <p:nvSpPr>
            <p:cNvPr id="3" name="Freeform 3"/>
            <p:cNvSpPr/>
            <p:nvPr/>
          </p:nvSpPr>
          <p:spPr>
            <a:xfrm>
              <a:off x="16891" y="16891"/>
              <a:ext cx="14630399" cy="14630401"/>
            </a:xfrm>
            <a:custGeom>
              <a:avLst/>
              <a:gdLst/>
              <a:ahLst/>
              <a:cxnLst/>
              <a:rect l="l" t="t" r="r" b="b"/>
              <a:pathLst>
                <a:path w="14630399" h="14630401">
                  <a:moveTo>
                    <a:pt x="0" y="7315200"/>
                  </a:moveTo>
                  <a:cubicBezTo>
                    <a:pt x="0" y="3275076"/>
                    <a:pt x="3275076" y="0"/>
                    <a:pt x="7315200" y="0"/>
                  </a:cubicBezTo>
                  <a:cubicBezTo>
                    <a:pt x="11355324" y="0"/>
                    <a:pt x="14630399" y="3275076"/>
                    <a:pt x="14630399" y="7315200"/>
                  </a:cubicBezTo>
                  <a:cubicBezTo>
                    <a:pt x="14630399" y="11355324"/>
                    <a:pt x="11355324" y="14630401"/>
                    <a:pt x="7315200" y="14630401"/>
                  </a:cubicBezTo>
                  <a:cubicBezTo>
                    <a:pt x="3275076" y="14630401"/>
                    <a:pt x="0" y="11355324"/>
                    <a:pt x="0" y="7315200"/>
                  </a:cubicBezTo>
                  <a:close/>
                </a:path>
              </a:pathLst>
            </a:custGeom>
            <a:solidFill>
              <a:srgbClr val="FF6666">
                <a:alpha val="5882"/>
              </a:srgbClr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14664182" cy="14664182"/>
            </a:xfrm>
            <a:custGeom>
              <a:avLst/>
              <a:gdLst/>
              <a:ahLst/>
              <a:cxnLst/>
              <a:rect l="l" t="t" r="r" b="b"/>
              <a:pathLst>
                <a:path w="14664182" h="14664182">
                  <a:moveTo>
                    <a:pt x="0" y="7332091"/>
                  </a:moveTo>
                  <a:cubicBezTo>
                    <a:pt x="0" y="3282696"/>
                    <a:pt x="3282696" y="0"/>
                    <a:pt x="7332091" y="0"/>
                  </a:cubicBezTo>
                  <a:lnTo>
                    <a:pt x="7332091" y="16891"/>
                  </a:lnTo>
                  <a:lnTo>
                    <a:pt x="7332091" y="0"/>
                  </a:lnTo>
                  <a:cubicBezTo>
                    <a:pt x="11381487" y="0"/>
                    <a:pt x="14664182" y="3282696"/>
                    <a:pt x="14664182" y="7332091"/>
                  </a:cubicBezTo>
                  <a:lnTo>
                    <a:pt x="14647292" y="7332091"/>
                  </a:lnTo>
                  <a:lnTo>
                    <a:pt x="14664182" y="7332091"/>
                  </a:lnTo>
                  <a:cubicBezTo>
                    <a:pt x="14664182" y="11381487"/>
                    <a:pt x="11381487" y="14664182"/>
                    <a:pt x="7332091" y="14664182"/>
                  </a:cubicBezTo>
                  <a:lnTo>
                    <a:pt x="7332091" y="14647292"/>
                  </a:lnTo>
                  <a:lnTo>
                    <a:pt x="7332091" y="14664182"/>
                  </a:lnTo>
                  <a:cubicBezTo>
                    <a:pt x="3282696" y="14664310"/>
                    <a:pt x="0" y="11381613"/>
                    <a:pt x="0" y="7332091"/>
                  </a:cubicBezTo>
                  <a:lnTo>
                    <a:pt x="16891" y="7332091"/>
                  </a:lnTo>
                  <a:lnTo>
                    <a:pt x="31115" y="7341235"/>
                  </a:lnTo>
                  <a:cubicBezTo>
                    <a:pt x="27051" y="7347585"/>
                    <a:pt x="19304" y="7350379"/>
                    <a:pt x="12065" y="7348348"/>
                  </a:cubicBezTo>
                  <a:cubicBezTo>
                    <a:pt x="4826" y="7346315"/>
                    <a:pt x="0" y="7339584"/>
                    <a:pt x="0" y="7332091"/>
                  </a:cubicBezTo>
                  <a:moveTo>
                    <a:pt x="33909" y="7332091"/>
                  </a:moveTo>
                  <a:lnTo>
                    <a:pt x="16891" y="7332091"/>
                  </a:lnTo>
                  <a:lnTo>
                    <a:pt x="2667" y="7322948"/>
                  </a:lnTo>
                  <a:cubicBezTo>
                    <a:pt x="6731" y="7316598"/>
                    <a:pt x="14478" y="7313803"/>
                    <a:pt x="21717" y="7315835"/>
                  </a:cubicBezTo>
                  <a:cubicBezTo>
                    <a:pt x="28956" y="7317867"/>
                    <a:pt x="33909" y="7324598"/>
                    <a:pt x="33909" y="7332091"/>
                  </a:cubicBezTo>
                  <a:cubicBezTo>
                    <a:pt x="33909" y="11362817"/>
                    <a:pt x="3301365" y="14630400"/>
                    <a:pt x="7332091" y="14630400"/>
                  </a:cubicBezTo>
                  <a:cubicBezTo>
                    <a:pt x="11362817" y="14630400"/>
                    <a:pt x="14630400" y="11362817"/>
                    <a:pt x="14630400" y="7332091"/>
                  </a:cubicBezTo>
                  <a:cubicBezTo>
                    <a:pt x="14630400" y="3301365"/>
                    <a:pt x="11362817" y="33909"/>
                    <a:pt x="7332091" y="33909"/>
                  </a:cubicBezTo>
                  <a:lnTo>
                    <a:pt x="7332091" y="16891"/>
                  </a:lnTo>
                  <a:lnTo>
                    <a:pt x="7332091" y="33909"/>
                  </a:lnTo>
                  <a:cubicBezTo>
                    <a:pt x="3301365" y="33909"/>
                    <a:pt x="33909" y="3301365"/>
                    <a:pt x="33909" y="7332091"/>
                  </a:cubicBezTo>
                  <a:close/>
                </a:path>
              </a:pathLst>
            </a:custGeom>
            <a:solidFill>
              <a:srgbClr val="5A0D1E">
                <a:alpha val="5882"/>
              </a:srgbClr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-2755897" y="5473703"/>
            <a:ext cx="7340603" cy="7340603"/>
            <a:chOff x="0" y="0"/>
            <a:chExt cx="9787471" cy="9787471"/>
          </a:xfrm>
        </p:grpSpPr>
        <p:sp>
          <p:nvSpPr>
            <p:cNvPr id="6" name="Freeform 6"/>
            <p:cNvSpPr/>
            <p:nvPr/>
          </p:nvSpPr>
          <p:spPr>
            <a:xfrm>
              <a:off x="16891" y="16891"/>
              <a:ext cx="9753600" cy="9753600"/>
            </a:xfrm>
            <a:custGeom>
              <a:avLst/>
              <a:gdLst/>
              <a:ahLst/>
              <a:cxnLst/>
              <a:rect l="l" t="t" r="r" b="b"/>
              <a:pathLst>
                <a:path w="9753600" h="9753600">
                  <a:moveTo>
                    <a:pt x="0" y="4876800"/>
                  </a:moveTo>
                  <a:cubicBezTo>
                    <a:pt x="0" y="2183384"/>
                    <a:pt x="2183384" y="0"/>
                    <a:pt x="4876800" y="0"/>
                  </a:cubicBezTo>
                  <a:cubicBezTo>
                    <a:pt x="7570216" y="0"/>
                    <a:pt x="9753600" y="2183384"/>
                    <a:pt x="9753600" y="4876800"/>
                  </a:cubicBezTo>
                  <a:cubicBezTo>
                    <a:pt x="9753600" y="7570216"/>
                    <a:pt x="7570216" y="9753600"/>
                    <a:pt x="4876800" y="9753600"/>
                  </a:cubicBezTo>
                  <a:cubicBezTo>
                    <a:pt x="2183384" y="9753600"/>
                    <a:pt x="0" y="7570216"/>
                    <a:pt x="0" y="4876800"/>
                  </a:cubicBezTo>
                  <a:close/>
                </a:path>
              </a:pathLst>
            </a:custGeom>
            <a:solidFill>
              <a:srgbClr val="FF6666">
                <a:alpha val="3922"/>
              </a:srgbClr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9787509" cy="9787382"/>
            </a:xfrm>
            <a:custGeom>
              <a:avLst/>
              <a:gdLst/>
              <a:ahLst/>
              <a:cxnLst/>
              <a:rect l="l" t="t" r="r" b="b"/>
              <a:pathLst>
                <a:path w="9787509" h="9787382">
                  <a:moveTo>
                    <a:pt x="0" y="4893691"/>
                  </a:moveTo>
                  <a:cubicBezTo>
                    <a:pt x="0" y="2191004"/>
                    <a:pt x="2191004" y="0"/>
                    <a:pt x="4893691" y="0"/>
                  </a:cubicBezTo>
                  <a:lnTo>
                    <a:pt x="4893691" y="16891"/>
                  </a:lnTo>
                  <a:lnTo>
                    <a:pt x="4893691" y="0"/>
                  </a:lnTo>
                  <a:cubicBezTo>
                    <a:pt x="7596505" y="0"/>
                    <a:pt x="9787509" y="2191004"/>
                    <a:pt x="9787509" y="4893691"/>
                  </a:cubicBezTo>
                  <a:lnTo>
                    <a:pt x="9770618" y="4893691"/>
                  </a:lnTo>
                  <a:lnTo>
                    <a:pt x="9787509" y="4893691"/>
                  </a:lnTo>
                  <a:cubicBezTo>
                    <a:pt x="9787509" y="7596378"/>
                    <a:pt x="7596505" y="9787382"/>
                    <a:pt x="4893818" y="9787382"/>
                  </a:cubicBezTo>
                  <a:lnTo>
                    <a:pt x="4893818" y="9770490"/>
                  </a:lnTo>
                  <a:lnTo>
                    <a:pt x="4893818" y="9787382"/>
                  </a:lnTo>
                  <a:cubicBezTo>
                    <a:pt x="2191004" y="9787509"/>
                    <a:pt x="0" y="7596505"/>
                    <a:pt x="0" y="4893691"/>
                  </a:cubicBezTo>
                  <a:lnTo>
                    <a:pt x="16891" y="4893691"/>
                  </a:lnTo>
                  <a:lnTo>
                    <a:pt x="33909" y="4893691"/>
                  </a:lnTo>
                  <a:lnTo>
                    <a:pt x="16891" y="4893691"/>
                  </a:lnTo>
                  <a:lnTo>
                    <a:pt x="0" y="4893691"/>
                  </a:lnTo>
                  <a:moveTo>
                    <a:pt x="33909" y="4893691"/>
                  </a:moveTo>
                  <a:cubicBezTo>
                    <a:pt x="33909" y="4903089"/>
                    <a:pt x="26289" y="4910582"/>
                    <a:pt x="17018" y="4910582"/>
                  </a:cubicBezTo>
                  <a:cubicBezTo>
                    <a:pt x="7747" y="4910582"/>
                    <a:pt x="0" y="4903089"/>
                    <a:pt x="0" y="4893691"/>
                  </a:cubicBezTo>
                  <a:cubicBezTo>
                    <a:pt x="0" y="4884293"/>
                    <a:pt x="7620" y="4876800"/>
                    <a:pt x="16891" y="4876800"/>
                  </a:cubicBezTo>
                  <a:cubicBezTo>
                    <a:pt x="26162" y="4876800"/>
                    <a:pt x="33782" y="4884420"/>
                    <a:pt x="33782" y="4893691"/>
                  </a:cubicBezTo>
                  <a:cubicBezTo>
                    <a:pt x="33909" y="7577709"/>
                    <a:pt x="2209673" y="9753600"/>
                    <a:pt x="4893691" y="9753600"/>
                  </a:cubicBezTo>
                  <a:cubicBezTo>
                    <a:pt x="7577709" y="9753600"/>
                    <a:pt x="9753600" y="7577709"/>
                    <a:pt x="9753600" y="4893691"/>
                  </a:cubicBezTo>
                  <a:cubicBezTo>
                    <a:pt x="9753600" y="2209673"/>
                    <a:pt x="7577709" y="33909"/>
                    <a:pt x="4893691" y="33909"/>
                  </a:cubicBezTo>
                  <a:lnTo>
                    <a:pt x="4893691" y="16891"/>
                  </a:lnTo>
                  <a:lnTo>
                    <a:pt x="4893691" y="33909"/>
                  </a:lnTo>
                  <a:cubicBezTo>
                    <a:pt x="2209673" y="33909"/>
                    <a:pt x="33909" y="2209673"/>
                    <a:pt x="33909" y="4893691"/>
                  </a:cubicBezTo>
                  <a:close/>
                </a:path>
              </a:pathLst>
            </a:custGeom>
            <a:solidFill>
              <a:srgbClr val="7B1C2E">
                <a:alpha val="3922"/>
              </a:srgbClr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2263140" y="2923207"/>
            <a:ext cx="14996160" cy="4440585"/>
            <a:chOff x="0" y="0"/>
            <a:chExt cx="19994880" cy="592078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9994880" cy="5920780"/>
            </a:xfrm>
            <a:custGeom>
              <a:avLst/>
              <a:gdLst/>
              <a:ahLst/>
              <a:cxnLst/>
              <a:rect l="l" t="t" r="r" b="b"/>
              <a:pathLst>
                <a:path w="19994880" h="5920780">
                  <a:moveTo>
                    <a:pt x="0" y="0"/>
                  </a:moveTo>
                  <a:lnTo>
                    <a:pt x="19994880" y="0"/>
                  </a:lnTo>
                  <a:lnTo>
                    <a:pt x="19994880" y="5920780"/>
                  </a:lnTo>
                  <a:lnTo>
                    <a:pt x="0" y="59207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322" b="-17282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0"/>
              <a:ext cx="19994880" cy="63017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605"/>
                </a:lnSpc>
              </a:pPr>
              <a:r>
                <a:rPr lang="en-US" sz="15697">
                  <a:solidFill>
                    <a:srgbClr val="FFFFFF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Thank You.</a:t>
              </a:r>
            </a:p>
            <a:p>
              <a:pPr algn="l">
                <a:lnSpc>
                  <a:spcPts val="8640"/>
                </a:lnSpc>
              </a:pPr>
              <a:endParaRPr lang="en-US" sz="15697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14405" y="9528096"/>
            <a:ext cx="17007840" cy="758904"/>
            <a:chOff x="0" y="0"/>
            <a:chExt cx="22677120" cy="101187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2677120" cy="1011871"/>
            </a:xfrm>
            <a:custGeom>
              <a:avLst/>
              <a:gdLst/>
              <a:ahLst/>
              <a:cxnLst/>
              <a:rect l="l" t="t" r="r" b="b"/>
              <a:pathLst>
                <a:path w="22677120" h="1011871">
                  <a:moveTo>
                    <a:pt x="0" y="0"/>
                  </a:moveTo>
                  <a:lnTo>
                    <a:pt x="22677120" y="0"/>
                  </a:lnTo>
                  <a:lnTo>
                    <a:pt x="22677120" y="1011871"/>
                  </a:lnTo>
                  <a:lnTo>
                    <a:pt x="0" y="101187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00533" b="-372827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22677120" cy="106902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39"/>
                </a:lnSpc>
              </a:pPr>
              <a:r>
                <a:rPr lang="en-US" sz="2699" i="1">
                  <a:solidFill>
                    <a:srgbClr val="C9A96E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Reshma S Nath  |  Deep Learning + NLP Project  |  Detection of Manipulative Behavior in Text-Based Conversations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841</Words>
  <Application>Microsoft Office PowerPoint</Application>
  <PresentationFormat>Custom</PresentationFormat>
  <Paragraphs>211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Arial</vt:lpstr>
      <vt:lpstr>Calibri</vt:lpstr>
      <vt:lpstr>Calibri (MS) Italics</vt:lpstr>
      <vt:lpstr>Archivo Black</vt:lpstr>
      <vt:lpstr>Calibri (MS)</vt:lpstr>
      <vt:lpstr>League Spartan</vt:lpstr>
      <vt:lpstr>Calibri (MS) Bold</vt:lpstr>
      <vt:lpstr>Georgia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Manipulation_Detection_Presentation.pptx</dc:title>
  <cp:lastModifiedBy>admin</cp:lastModifiedBy>
  <cp:revision>2</cp:revision>
  <dcterms:created xsi:type="dcterms:W3CDTF">2006-08-16T00:00:00Z</dcterms:created>
  <dcterms:modified xsi:type="dcterms:W3CDTF">2026-05-11T02:37:12Z</dcterms:modified>
  <dc:identifier>DAHIS4tC2PQ</dc:identifier>
</cp:coreProperties>
</file>